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6" r:id="rId10"/>
  </p:sldMasterIdLst>
  <p:notesMasterIdLst>
    <p:notesMasterId r:id="rId43"/>
  </p:notesMasterIdLst>
  <p:sldIdLst>
    <p:sldId id="257" r:id="rId11"/>
    <p:sldId id="534" r:id="rId12"/>
    <p:sldId id="407" r:id="rId13"/>
    <p:sldId id="408" r:id="rId14"/>
    <p:sldId id="409" r:id="rId15"/>
    <p:sldId id="412" r:id="rId16"/>
    <p:sldId id="413" r:id="rId17"/>
    <p:sldId id="416" r:id="rId18"/>
    <p:sldId id="417" r:id="rId19"/>
    <p:sldId id="418" r:id="rId20"/>
    <p:sldId id="421" r:id="rId21"/>
    <p:sldId id="443" r:id="rId22"/>
    <p:sldId id="414" r:id="rId23"/>
    <p:sldId id="449" r:id="rId24"/>
    <p:sldId id="444" r:id="rId25"/>
    <p:sldId id="447" r:id="rId26"/>
    <p:sldId id="448" r:id="rId27"/>
    <p:sldId id="442" r:id="rId28"/>
    <p:sldId id="453" r:id="rId29"/>
    <p:sldId id="454" r:id="rId30"/>
    <p:sldId id="455" r:id="rId31"/>
    <p:sldId id="456" r:id="rId32"/>
    <p:sldId id="457" r:id="rId33"/>
    <p:sldId id="458" r:id="rId34"/>
    <p:sldId id="459" r:id="rId35"/>
    <p:sldId id="446" r:id="rId36"/>
    <p:sldId id="460" r:id="rId37"/>
    <p:sldId id="461" r:id="rId38"/>
    <p:sldId id="462" r:id="rId39"/>
    <p:sldId id="463" r:id="rId40"/>
    <p:sldId id="535" r:id="rId41"/>
    <p:sldId id="26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2B5E89A7-CCBB-487A-9E8E-3C9099F4BB0D}">
          <p14:sldIdLst>
            <p14:sldId id="257"/>
            <p14:sldId id="534"/>
          </p14:sldIdLst>
        </p14:section>
        <p14:section name="Classes" id="{1AFBE412-0674-4A96-80F4-BDD6FB270D74}">
          <p14:sldIdLst>
            <p14:sldId id="407"/>
            <p14:sldId id="408"/>
            <p14:sldId id="409"/>
          </p14:sldIdLst>
        </p14:section>
        <p14:section name="Class Basics" id="{E8C12980-18B4-49C7-ADF9-31A12E990DFA}">
          <p14:sldIdLst>
            <p14:sldId id="412"/>
            <p14:sldId id="413"/>
            <p14:sldId id="416"/>
            <p14:sldId id="417"/>
            <p14:sldId id="418"/>
          </p14:sldIdLst>
        </p14:section>
        <p14:section name="Doing More With Methods" id="{5A575A21-C9EA-447B-AD02-F5431FB30406}">
          <p14:sldIdLst>
            <p14:sldId id="421"/>
            <p14:sldId id="443"/>
            <p14:sldId id="414"/>
            <p14:sldId id="449"/>
            <p14:sldId id="444"/>
            <p14:sldId id="447"/>
            <p14:sldId id="448"/>
            <p14:sldId id="442"/>
          </p14:sldIdLst>
        </p14:section>
        <p14:section name="Advanced Object Features" id="{CF677C78-7C2A-4C40-9C39-4DD4A055EA4B}">
          <p14:sldIdLst>
            <p14:sldId id="453"/>
            <p14:sldId id="454"/>
            <p14:sldId id="455"/>
            <p14:sldId id="456"/>
            <p14:sldId id="457"/>
            <p14:sldId id="458"/>
            <p14:sldId id="459"/>
            <p14:sldId id="446"/>
            <p14:sldId id="460"/>
            <p14:sldId id="461"/>
            <p14:sldId id="462"/>
            <p14:sldId id="463"/>
          </p14:sldIdLst>
        </p14:section>
        <p14:section name="Lab: PowerShell Classes" id="{E05A267F-1A9C-4535-9C2D-C7974B08254F}">
          <p14:sldIdLst>
            <p14:sldId id="535"/>
            <p14:sldId id="26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54B51B-B11F-3A38-BE84-966141B38A11}" name="Daniele De Angelis" initials="DA" userId="S::dadea@microsoft.com::923242f7-b5ee-4cfe-bd76-24f60a508424" providerId="AD"/>
  <p188:author id="{65BD7E4F-8142-13A4-5C07-CEF6D3C8332B}" name="Kory Thacher" initials="KT" userId="Kory Thacher" providerId="None"/>
  <p188:author id="{B2A16661-BB4D-38BB-A088-E7635767FF92}" name="Daniele De Angelis" initials="DA" userId="S::dadea@microsoft.com::923242f7-b5ee-4cfe-bd76-24f60a508424" providerId="AD"/>
  <p188:author id="{B90878A0-E119-45D8-39EF-FB2F174120B9}" name="Kory Thacher" initials="KT" userId="S::korythac@microsoft.com::995eb0f2-f21c-467c-a947-4f8fc26d0f2e" providerId="AD"/>
  <p188:author id="{46C7FBC5-482C-F474-A907-5575C63F128C}" name="Serge Zuidinga" initials="SZ" userId="S::sezuidin@microsoft.com::b4dd8c83-77ae-48be-82e5-cc505e9b872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aniele De Angelis" initials="DA" lastIdx="13" clrIdx="0">
    <p:extLst>
      <p:ext uri="{19B8F6BF-5375-455C-9EA6-DF929625EA0E}">
        <p15:presenceInfo xmlns:p15="http://schemas.microsoft.com/office/powerpoint/2012/main" userId="S::dadea@microsoft.com::923242f7-b5ee-4cfe-bd76-24f60a508424" providerId="AD"/>
      </p:ext>
    </p:extLst>
  </p:cmAuthor>
  <p:cmAuthor id="2" name="Kory Thacher" initials="KT" lastIdx="19" clrIdx="1">
    <p:extLst>
      <p:ext uri="{19B8F6BF-5375-455C-9EA6-DF929625EA0E}">
        <p15:presenceInfo xmlns:p15="http://schemas.microsoft.com/office/powerpoint/2012/main" userId="Kory Thacher" providerId="None"/>
      </p:ext>
    </p:extLst>
  </p:cmAuthor>
  <p:cmAuthor id="3" name="Serge Zuidinga" initials="SZ" lastIdx="4" clrIdx="2">
    <p:extLst>
      <p:ext uri="{19B8F6BF-5375-455C-9EA6-DF929625EA0E}">
        <p15:presenceInfo xmlns:p15="http://schemas.microsoft.com/office/powerpoint/2012/main" userId="S::sezuidin@microsoft.com::b4dd8c83-77ae-48be-82e5-cc505e9b87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142" autoAdjust="0"/>
  </p:normalViewPr>
  <p:slideViewPr>
    <p:cSldViewPr>
      <p:cViewPr varScale="1">
        <p:scale>
          <a:sx n="69" d="100"/>
          <a:sy n="69" d="100"/>
        </p:scale>
        <p:origin x="2148" y="2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microsoft.com/office/2018/10/relationships/authors" Target="authors.xml"/><Relationship Id="rId10" Type="http://schemas.openxmlformats.org/officeDocument/2006/relationships/slideMaster" Target="slideMasters/slideMaster1.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viewProps" Target="viewProps.xml"/><Relationship Id="rId20" Type="http://schemas.openxmlformats.org/officeDocument/2006/relationships/slide" Target="slides/slide10.xml"/><Relationship Id="rId41" Type="http://schemas.openxmlformats.org/officeDocument/2006/relationships/slide" Target="slides/slide31.xml"/><Relationship Id="rId1" Type="http://schemas.openxmlformats.org/officeDocument/2006/relationships/customXml" Target="../customXml/item1.xml"/><Relationship Id="rId6" Type="http://schemas.openxmlformats.org/officeDocument/2006/relationships/customXml" Target="../customXml/item6.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47BF26-CD3C-4979-ABC7-C48AE7A1B820}" type="doc">
      <dgm:prSet loTypeId="urn:microsoft.com/office/officeart/2018/2/layout/IconCircleList" loCatId="icon" qsTypeId="urn:microsoft.com/office/officeart/2005/8/quickstyle/simple1" qsCatId="simple" csTypeId="urn:microsoft.com/office/officeart/2005/8/colors/accent2_2" csCatId="accent2" phldr="1"/>
      <dgm:spPr/>
      <dgm:t>
        <a:bodyPr/>
        <a:lstStyle/>
        <a:p>
          <a:endParaRPr lang="en-US"/>
        </a:p>
      </dgm:t>
    </dgm:pt>
    <dgm:pt modelId="{422B2876-1416-4D33-BD76-130B55C30636}">
      <dgm:prSet/>
      <dgm:spPr/>
      <dgm:t>
        <a:bodyPr/>
        <a:lstStyle/>
        <a:p>
          <a:r>
            <a:rPr lang="en-US"/>
            <a:t>Variable used in classes to interact with its’ own members</a:t>
          </a:r>
        </a:p>
      </dgm:t>
    </dgm:pt>
    <dgm:pt modelId="{3A38502A-FEE4-45F0-923B-4C09D28ED431}" type="parTrans" cxnId="{78F78568-CD60-43A4-AED7-CDB667369973}">
      <dgm:prSet/>
      <dgm:spPr/>
      <dgm:t>
        <a:bodyPr/>
        <a:lstStyle/>
        <a:p>
          <a:endParaRPr lang="en-US"/>
        </a:p>
      </dgm:t>
    </dgm:pt>
    <dgm:pt modelId="{3F1B61F8-BE3E-4AEC-9301-3588FEDA8642}" type="sibTrans" cxnId="{78F78568-CD60-43A4-AED7-CDB667369973}">
      <dgm:prSet/>
      <dgm:spPr/>
      <dgm:t>
        <a:bodyPr/>
        <a:lstStyle/>
        <a:p>
          <a:endParaRPr lang="en-US"/>
        </a:p>
      </dgm:t>
    </dgm:pt>
    <dgm:pt modelId="{BEEC72E9-3B21-4C65-8494-840685A561AD}">
      <dgm:prSet/>
      <dgm:spPr/>
      <dgm:t>
        <a:bodyPr/>
        <a:lstStyle/>
        <a:p>
          <a:r>
            <a:rPr lang="en-US"/>
            <a:t>Variable that contains the whole object</a:t>
          </a:r>
        </a:p>
      </dgm:t>
    </dgm:pt>
    <dgm:pt modelId="{A94840FB-A81A-4BC0-9B17-3F3EED49C4AB}" type="parTrans" cxnId="{DD475D20-BCFA-4D1B-97C6-0BFACC2DDFF0}">
      <dgm:prSet/>
      <dgm:spPr/>
      <dgm:t>
        <a:bodyPr/>
        <a:lstStyle/>
        <a:p>
          <a:endParaRPr lang="en-US"/>
        </a:p>
      </dgm:t>
    </dgm:pt>
    <dgm:pt modelId="{1A969744-7AFD-496D-8E2B-17638746613A}" type="sibTrans" cxnId="{DD475D20-BCFA-4D1B-97C6-0BFACC2DDFF0}">
      <dgm:prSet/>
      <dgm:spPr/>
      <dgm:t>
        <a:bodyPr/>
        <a:lstStyle/>
        <a:p>
          <a:endParaRPr lang="en-US"/>
        </a:p>
      </dgm:t>
    </dgm:pt>
    <dgm:pt modelId="{3576FD59-46E3-432D-B7D1-BB34B46D2D41}">
      <dgm:prSet/>
      <dgm:spPr/>
      <dgm:t>
        <a:bodyPr/>
        <a:lstStyle/>
        <a:p>
          <a:r>
            <a:rPr lang="en-US"/>
            <a:t>One major use: prevent duplicate code in method overloads</a:t>
          </a:r>
        </a:p>
      </dgm:t>
    </dgm:pt>
    <dgm:pt modelId="{D13E4E0A-F44C-42A8-A36C-09373CB02033}" type="parTrans" cxnId="{884C3A92-BE5A-48CD-BE54-7E756C58B095}">
      <dgm:prSet/>
      <dgm:spPr/>
      <dgm:t>
        <a:bodyPr/>
        <a:lstStyle/>
        <a:p>
          <a:endParaRPr lang="en-US"/>
        </a:p>
      </dgm:t>
    </dgm:pt>
    <dgm:pt modelId="{99B75092-3971-479B-B75B-BF00EA2F6612}" type="sibTrans" cxnId="{884C3A92-BE5A-48CD-BE54-7E756C58B095}">
      <dgm:prSet/>
      <dgm:spPr/>
      <dgm:t>
        <a:bodyPr/>
        <a:lstStyle/>
        <a:p>
          <a:endParaRPr lang="en-US"/>
        </a:p>
      </dgm:t>
    </dgm:pt>
    <dgm:pt modelId="{AD623E2A-AD9E-4739-97B6-9480AFA352B8}">
      <dgm:prSet/>
      <dgm:spPr/>
      <dgm:t>
        <a:bodyPr/>
        <a:lstStyle/>
        <a:p>
          <a:r>
            <a:rPr lang="en-US"/>
            <a:t>Used to leverage current data in methods, or change properties from a method</a:t>
          </a:r>
        </a:p>
      </dgm:t>
    </dgm:pt>
    <dgm:pt modelId="{59DDA2B5-697F-419C-AB96-E20FC1C8F714}" type="parTrans" cxnId="{3358BB1B-EF8A-4684-A9B5-23F7727D4266}">
      <dgm:prSet/>
      <dgm:spPr/>
      <dgm:t>
        <a:bodyPr/>
        <a:lstStyle/>
        <a:p>
          <a:endParaRPr lang="en-US"/>
        </a:p>
      </dgm:t>
    </dgm:pt>
    <dgm:pt modelId="{18476F24-9CB4-4E1E-A993-313229262239}" type="sibTrans" cxnId="{3358BB1B-EF8A-4684-A9B5-23F7727D4266}">
      <dgm:prSet/>
      <dgm:spPr/>
      <dgm:t>
        <a:bodyPr/>
        <a:lstStyle/>
        <a:p>
          <a:endParaRPr lang="en-US"/>
        </a:p>
      </dgm:t>
    </dgm:pt>
    <dgm:pt modelId="{CA89F808-7F8E-49D3-A98C-AC277787F47B}" type="pres">
      <dgm:prSet presAssocID="{7A47BF26-CD3C-4979-ABC7-C48AE7A1B820}" presName="root" presStyleCnt="0">
        <dgm:presLayoutVars>
          <dgm:dir/>
          <dgm:resizeHandles val="exact"/>
        </dgm:presLayoutVars>
      </dgm:prSet>
      <dgm:spPr/>
    </dgm:pt>
    <dgm:pt modelId="{BF0DF91E-48C2-4661-B2FF-958DC8B70DCF}" type="pres">
      <dgm:prSet presAssocID="{7A47BF26-CD3C-4979-ABC7-C48AE7A1B820}" presName="container" presStyleCnt="0">
        <dgm:presLayoutVars>
          <dgm:dir/>
          <dgm:resizeHandles val="exact"/>
        </dgm:presLayoutVars>
      </dgm:prSet>
      <dgm:spPr/>
    </dgm:pt>
    <dgm:pt modelId="{A686F6F9-281A-48BB-932F-A6846A450E04}" type="pres">
      <dgm:prSet presAssocID="{422B2876-1416-4D33-BD76-130B55C30636}" presName="compNode" presStyleCnt="0"/>
      <dgm:spPr/>
    </dgm:pt>
    <dgm:pt modelId="{23B1984D-0A19-4FB4-A6C9-426703B20262}" type="pres">
      <dgm:prSet presAssocID="{422B2876-1416-4D33-BD76-130B55C30636}" presName="iconBgRect" presStyleLbl="bgShp" presStyleIdx="0" presStyleCnt="4"/>
      <dgm:spPr/>
    </dgm:pt>
    <dgm:pt modelId="{8B42CECE-904E-4447-8175-B43A2DC9F85B}" type="pres">
      <dgm:prSet presAssocID="{422B2876-1416-4D33-BD76-130B55C3063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599B0788-72FD-41E0-AC82-06707C4D7BDE}" type="pres">
      <dgm:prSet presAssocID="{422B2876-1416-4D33-BD76-130B55C30636}" presName="spaceRect" presStyleCnt="0"/>
      <dgm:spPr/>
    </dgm:pt>
    <dgm:pt modelId="{D88F55BE-2CE1-4B7E-A660-347E7B09E637}" type="pres">
      <dgm:prSet presAssocID="{422B2876-1416-4D33-BD76-130B55C30636}" presName="textRect" presStyleLbl="revTx" presStyleIdx="0" presStyleCnt="4">
        <dgm:presLayoutVars>
          <dgm:chMax val="1"/>
          <dgm:chPref val="1"/>
        </dgm:presLayoutVars>
      </dgm:prSet>
      <dgm:spPr/>
    </dgm:pt>
    <dgm:pt modelId="{135E4E93-E786-49AB-8123-776D9AD147AF}" type="pres">
      <dgm:prSet presAssocID="{3F1B61F8-BE3E-4AEC-9301-3588FEDA8642}" presName="sibTrans" presStyleLbl="sibTrans2D1" presStyleIdx="0" presStyleCnt="0"/>
      <dgm:spPr/>
    </dgm:pt>
    <dgm:pt modelId="{F38FBD44-5C22-4474-BF5D-0778015E5BBA}" type="pres">
      <dgm:prSet presAssocID="{BEEC72E9-3B21-4C65-8494-840685A561AD}" presName="compNode" presStyleCnt="0"/>
      <dgm:spPr/>
    </dgm:pt>
    <dgm:pt modelId="{148953EC-27D2-4A29-A9D6-0F0D073B0F10}" type="pres">
      <dgm:prSet presAssocID="{BEEC72E9-3B21-4C65-8494-840685A561AD}" presName="iconBgRect" presStyleLbl="bgShp" presStyleIdx="1" presStyleCnt="4"/>
      <dgm:spPr/>
    </dgm:pt>
    <dgm:pt modelId="{8DA7D271-773D-4FD8-BF8C-E32A829D3C30}" type="pres">
      <dgm:prSet presAssocID="{BEEC72E9-3B21-4C65-8494-840685A561A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uzzle"/>
        </a:ext>
      </dgm:extLst>
    </dgm:pt>
    <dgm:pt modelId="{B5C1E8BA-C84F-4768-8A0F-FDA3FBE322DD}" type="pres">
      <dgm:prSet presAssocID="{BEEC72E9-3B21-4C65-8494-840685A561AD}" presName="spaceRect" presStyleCnt="0"/>
      <dgm:spPr/>
    </dgm:pt>
    <dgm:pt modelId="{17EC263F-C381-4555-A71F-BCDCF7C89667}" type="pres">
      <dgm:prSet presAssocID="{BEEC72E9-3B21-4C65-8494-840685A561AD}" presName="textRect" presStyleLbl="revTx" presStyleIdx="1" presStyleCnt="4">
        <dgm:presLayoutVars>
          <dgm:chMax val="1"/>
          <dgm:chPref val="1"/>
        </dgm:presLayoutVars>
      </dgm:prSet>
      <dgm:spPr/>
    </dgm:pt>
    <dgm:pt modelId="{42185630-1555-4789-A946-D8AFF67F9E9A}" type="pres">
      <dgm:prSet presAssocID="{1A969744-7AFD-496D-8E2B-17638746613A}" presName="sibTrans" presStyleLbl="sibTrans2D1" presStyleIdx="0" presStyleCnt="0"/>
      <dgm:spPr/>
    </dgm:pt>
    <dgm:pt modelId="{77DA2422-F2EE-4696-A0B2-D3E358EF0B3D}" type="pres">
      <dgm:prSet presAssocID="{3576FD59-46E3-432D-B7D1-BB34B46D2D41}" presName="compNode" presStyleCnt="0"/>
      <dgm:spPr/>
    </dgm:pt>
    <dgm:pt modelId="{0C929B2E-0CAB-4DE1-8E4A-8E8F590F1C90}" type="pres">
      <dgm:prSet presAssocID="{3576FD59-46E3-432D-B7D1-BB34B46D2D41}" presName="iconBgRect" presStyleLbl="bgShp" presStyleIdx="2" presStyleCnt="4"/>
      <dgm:spPr/>
    </dgm:pt>
    <dgm:pt modelId="{7B8C008A-41E5-429C-BB3F-0904F579D1B1}" type="pres">
      <dgm:prSet presAssocID="{3576FD59-46E3-432D-B7D1-BB34B46D2D4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Irritant"/>
        </a:ext>
      </dgm:extLst>
    </dgm:pt>
    <dgm:pt modelId="{76C5AEE8-F8E2-43A0-9FF9-9B3CC65EEC94}" type="pres">
      <dgm:prSet presAssocID="{3576FD59-46E3-432D-B7D1-BB34B46D2D41}" presName="spaceRect" presStyleCnt="0"/>
      <dgm:spPr/>
    </dgm:pt>
    <dgm:pt modelId="{A9A5B8E0-AAEB-4E06-9B39-E5F254B2A466}" type="pres">
      <dgm:prSet presAssocID="{3576FD59-46E3-432D-B7D1-BB34B46D2D41}" presName="textRect" presStyleLbl="revTx" presStyleIdx="2" presStyleCnt="4">
        <dgm:presLayoutVars>
          <dgm:chMax val="1"/>
          <dgm:chPref val="1"/>
        </dgm:presLayoutVars>
      </dgm:prSet>
      <dgm:spPr/>
    </dgm:pt>
    <dgm:pt modelId="{378E29C7-89F3-44E5-B53A-E8064D4107B8}" type="pres">
      <dgm:prSet presAssocID="{99B75092-3971-479B-B75B-BF00EA2F6612}" presName="sibTrans" presStyleLbl="sibTrans2D1" presStyleIdx="0" presStyleCnt="0"/>
      <dgm:spPr/>
    </dgm:pt>
    <dgm:pt modelId="{2250FB20-F409-461E-AEFD-A7C3E1A54F75}" type="pres">
      <dgm:prSet presAssocID="{AD623E2A-AD9E-4739-97B6-9480AFA352B8}" presName="compNode" presStyleCnt="0"/>
      <dgm:spPr/>
    </dgm:pt>
    <dgm:pt modelId="{CFB11705-A10A-4607-9BC7-9D1BC688604E}" type="pres">
      <dgm:prSet presAssocID="{AD623E2A-AD9E-4739-97B6-9480AFA352B8}" presName="iconBgRect" presStyleLbl="bgShp" presStyleIdx="3" presStyleCnt="4"/>
      <dgm:spPr/>
    </dgm:pt>
    <dgm:pt modelId="{B87D8031-9C68-490A-B385-4C1D95E0A404}" type="pres">
      <dgm:prSet presAssocID="{AD623E2A-AD9E-4739-97B6-9480AFA352B8}"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cientist"/>
        </a:ext>
      </dgm:extLst>
    </dgm:pt>
    <dgm:pt modelId="{4CB84A12-8266-4754-81D6-82B7A64B6638}" type="pres">
      <dgm:prSet presAssocID="{AD623E2A-AD9E-4739-97B6-9480AFA352B8}" presName="spaceRect" presStyleCnt="0"/>
      <dgm:spPr/>
    </dgm:pt>
    <dgm:pt modelId="{1876DB70-4EF5-404B-BF3F-E76EFDC33610}" type="pres">
      <dgm:prSet presAssocID="{AD623E2A-AD9E-4739-97B6-9480AFA352B8}" presName="textRect" presStyleLbl="revTx" presStyleIdx="3" presStyleCnt="4">
        <dgm:presLayoutVars>
          <dgm:chMax val="1"/>
          <dgm:chPref val="1"/>
        </dgm:presLayoutVars>
      </dgm:prSet>
      <dgm:spPr/>
    </dgm:pt>
  </dgm:ptLst>
  <dgm:cxnLst>
    <dgm:cxn modelId="{A46EE90C-DA91-49B0-A2A4-77AA5F39A420}" type="presOf" srcId="{7A47BF26-CD3C-4979-ABC7-C48AE7A1B820}" destId="{CA89F808-7F8E-49D3-A98C-AC277787F47B}" srcOrd="0" destOrd="0" presId="urn:microsoft.com/office/officeart/2018/2/layout/IconCircleList"/>
    <dgm:cxn modelId="{3358BB1B-EF8A-4684-A9B5-23F7727D4266}" srcId="{7A47BF26-CD3C-4979-ABC7-C48AE7A1B820}" destId="{AD623E2A-AD9E-4739-97B6-9480AFA352B8}" srcOrd="3" destOrd="0" parTransId="{59DDA2B5-697F-419C-AB96-E20FC1C8F714}" sibTransId="{18476F24-9CB4-4E1E-A993-313229262239}"/>
    <dgm:cxn modelId="{DD475D20-BCFA-4D1B-97C6-0BFACC2DDFF0}" srcId="{7A47BF26-CD3C-4979-ABC7-C48AE7A1B820}" destId="{BEEC72E9-3B21-4C65-8494-840685A561AD}" srcOrd="1" destOrd="0" parTransId="{A94840FB-A81A-4BC0-9B17-3F3EED49C4AB}" sibTransId="{1A969744-7AFD-496D-8E2B-17638746613A}"/>
    <dgm:cxn modelId="{49105328-03E0-41D2-814B-83409B747A15}" type="presOf" srcId="{99B75092-3971-479B-B75B-BF00EA2F6612}" destId="{378E29C7-89F3-44E5-B53A-E8064D4107B8}" srcOrd="0" destOrd="0" presId="urn:microsoft.com/office/officeart/2018/2/layout/IconCircleList"/>
    <dgm:cxn modelId="{365B0A2C-E3C8-48AD-8C5B-8C6FC52C2E71}" type="presOf" srcId="{BEEC72E9-3B21-4C65-8494-840685A561AD}" destId="{17EC263F-C381-4555-A71F-BCDCF7C89667}" srcOrd="0" destOrd="0" presId="urn:microsoft.com/office/officeart/2018/2/layout/IconCircleList"/>
    <dgm:cxn modelId="{78F78568-CD60-43A4-AED7-CDB667369973}" srcId="{7A47BF26-CD3C-4979-ABC7-C48AE7A1B820}" destId="{422B2876-1416-4D33-BD76-130B55C30636}" srcOrd="0" destOrd="0" parTransId="{3A38502A-FEE4-45F0-923B-4C09D28ED431}" sibTransId="{3F1B61F8-BE3E-4AEC-9301-3588FEDA8642}"/>
    <dgm:cxn modelId="{884C3A92-BE5A-48CD-BE54-7E756C58B095}" srcId="{7A47BF26-CD3C-4979-ABC7-C48AE7A1B820}" destId="{3576FD59-46E3-432D-B7D1-BB34B46D2D41}" srcOrd="2" destOrd="0" parTransId="{D13E4E0A-F44C-42A8-A36C-09373CB02033}" sibTransId="{99B75092-3971-479B-B75B-BF00EA2F6612}"/>
    <dgm:cxn modelId="{C75C59AC-52CC-4E85-AFBA-B6469542434E}" type="presOf" srcId="{1A969744-7AFD-496D-8E2B-17638746613A}" destId="{42185630-1555-4789-A946-D8AFF67F9E9A}" srcOrd="0" destOrd="0" presId="urn:microsoft.com/office/officeart/2018/2/layout/IconCircleList"/>
    <dgm:cxn modelId="{43E0E6B6-CB93-437E-AD87-ECF7389CB31A}" type="presOf" srcId="{3F1B61F8-BE3E-4AEC-9301-3588FEDA8642}" destId="{135E4E93-E786-49AB-8123-776D9AD147AF}" srcOrd="0" destOrd="0" presId="urn:microsoft.com/office/officeart/2018/2/layout/IconCircleList"/>
    <dgm:cxn modelId="{EDB445D6-F05A-4FB7-B6A1-BB9F004261C1}" type="presOf" srcId="{422B2876-1416-4D33-BD76-130B55C30636}" destId="{D88F55BE-2CE1-4B7E-A660-347E7B09E637}" srcOrd="0" destOrd="0" presId="urn:microsoft.com/office/officeart/2018/2/layout/IconCircleList"/>
    <dgm:cxn modelId="{A12465DC-1648-4197-9DEB-59B2B42FD0D5}" type="presOf" srcId="{3576FD59-46E3-432D-B7D1-BB34B46D2D41}" destId="{A9A5B8E0-AAEB-4E06-9B39-E5F254B2A466}" srcOrd="0" destOrd="0" presId="urn:microsoft.com/office/officeart/2018/2/layout/IconCircleList"/>
    <dgm:cxn modelId="{F791C7F3-55C3-4A72-B0F2-5E3FB2CB8679}" type="presOf" srcId="{AD623E2A-AD9E-4739-97B6-9480AFA352B8}" destId="{1876DB70-4EF5-404B-BF3F-E76EFDC33610}" srcOrd="0" destOrd="0" presId="urn:microsoft.com/office/officeart/2018/2/layout/IconCircleList"/>
    <dgm:cxn modelId="{6984E04F-DE57-4C09-A618-6CDDBF9F9918}" type="presParOf" srcId="{CA89F808-7F8E-49D3-A98C-AC277787F47B}" destId="{BF0DF91E-48C2-4661-B2FF-958DC8B70DCF}" srcOrd="0" destOrd="0" presId="urn:microsoft.com/office/officeart/2018/2/layout/IconCircleList"/>
    <dgm:cxn modelId="{161284D4-DF00-4C62-A1F2-59A62DB44B2F}" type="presParOf" srcId="{BF0DF91E-48C2-4661-B2FF-958DC8B70DCF}" destId="{A686F6F9-281A-48BB-932F-A6846A450E04}" srcOrd="0" destOrd="0" presId="urn:microsoft.com/office/officeart/2018/2/layout/IconCircleList"/>
    <dgm:cxn modelId="{730844A5-B60E-487A-A4E9-401C0D469799}" type="presParOf" srcId="{A686F6F9-281A-48BB-932F-A6846A450E04}" destId="{23B1984D-0A19-4FB4-A6C9-426703B20262}" srcOrd="0" destOrd="0" presId="urn:microsoft.com/office/officeart/2018/2/layout/IconCircleList"/>
    <dgm:cxn modelId="{EBCE2A0A-1545-40B2-A8FF-9366406F92F6}" type="presParOf" srcId="{A686F6F9-281A-48BB-932F-A6846A450E04}" destId="{8B42CECE-904E-4447-8175-B43A2DC9F85B}" srcOrd="1" destOrd="0" presId="urn:microsoft.com/office/officeart/2018/2/layout/IconCircleList"/>
    <dgm:cxn modelId="{E20E72AE-902A-4DD0-A361-E8D9BA6B24E9}" type="presParOf" srcId="{A686F6F9-281A-48BB-932F-A6846A450E04}" destId="{599B0788-72FD-41E0-AC82-06707C4D7BDE}" srcOrd="2" destOrd="0" presId="urn:microsoft.com/office/officeart/2018/2/layout/IconCircleList"/>
    <dgm:cxn modelId="{9BF47D95-0E80-4820-ADFB-16E48079F55D}" type="presParOf" srcId="{A686F6F9-281A-48BB-932F-A6846A450E04}" destId="{D88F55BE-2CE1-4B7E-A660-347E7B09E637}" srcOrd="3" destOrd="0" presId="urn:microsoft.com/office/officeart/2018/2/layout/IconCircleList"/>
    <dgm:cxn modelId="{18797B21-B107-407C-9111-335D848EC483}" type="presParOf" srcId="{BF0DF91E-48C2-4661-B2FF-958DC8B70DCF}" destId="{135E4E93-E786-49AB-8123-776D9AD147AF}" srcOrd="1" destOrd="0" presId="urn:microsoft.com/office/officeart/2018/2/layout/IconCircleList"/>
    <dgm:cxn modelId="{24F9340A-0C66-4438-A152-996563697C0A}" type="presParOf" srcId="{BF0DF91E-48C2-4661-B2FF-958DC8B70DCF}" destId="{F38FBD44-5C22-4474-BF5D-0778015E5BBA}" srcOrd="2" destOrd="0" presId="urn:microsoft.com/office/officeart/2018/2/layout/IconCircleList"/>
    <dgm:cxn modelId="{69A7B661-F42A-400F-B569-231F309ACF27}" type="presParOf" srcId="{F38FBD44-5C22-4474-BF5D-0778015E5BBA}" destId="{148953EC-27D2-4A29-A9D6-0F0D073B0F10}" srcOrd="0" destOrd="0" presId="urn:microsoft.com/office/officeart/2018/2/layout/IconCircleList"/>
    <dgm:cxn modelId="{9D489A51-1E26-4130-B41C-98A3996406D6}" type="presParOf" srcId="{F38FBD44-5C22-4474-BF5D-0778015E5BBA}" destId="{8DA7D271-773D-4FD8-BF8C-E32A829D3C30}" srcOrd="1" destOrd="0" presId="urn:microsoft.com/office/officeart/2018/2/layout/IconCircleList"/>
    <dgm:cxn modelId="{104D143F-AB92-4107-8938-0A085DE4090C}" type="presParOf" srcId="{F38FBD44-5C22-4474-BF5D-0778015E5BBA}" destId="{B5C1E8BA-C84F-4768-8A0F-FDA3FBE322DD}" srcOrd="2" destOrd="0" presId="urn:microsoft.com/office/officeart/2018/2/layout/IconCircleList"/>
    <dgm:cxn modelId="{1C4110B5-4DF3-4852-9CD5-6ACDEE403668}" type="presParOf" srcId="{F38FBD44-5C22-4474-BF5D-0778015E5BBA}" destId="{17EC263F-C381-4555-A71F-BCDCF7C89667}" srcOrd="3" destOrd="0" presId="urn:microsoft.com/office/officeart/2018/2/layout/IconCircleList"/>
    <dgm:cxn modelId="{396A1169-226D-4905-8269-1FB808E0E2EC}" type="presParOf" srcId="{BF0DF91E-48C2-4661-B2FF-958DC8B70DCF}" destId="{42185630-1555-4789-A946-D8AFF67F9E9A}" srcOrd="3" destOrd="0" presId="urn:microsoft.com/office/officeart/2018/2/layout/IconCircleList"/>
    <dgm:cxn modelId="{5F7AF874-DF6D-484C-94BE-F9E7A632D3C8}" type="presParOf" srcId="{BF0DF91E-48C2-4661-B2FF-958DC8B70DCF}" destId="{77DA2422-F2EE-4696-A0B2-D3E358EF0B3D}" srcOrd="4" destOrd="0" presId="urn:microsoft.com/office/officeart/2018/2/layout/IconCircleList"/>
    <dgm:cxn modelId="{0FA39D00-CB83-4872-AE24-6481E2AC66DD}" type="presParOf" srcId="{77DA2422-F2EE-4696-A0B2-D3E358EF0B3D}" destId="{0C929B2E-0CAB-4DE1-8E4A-8E8F590F1C90}" srcOrd="0" destOrd="0" presId="urn:microsoft.com/office/officeart/2018/2/layout/IconCircleList"/>
    <dgm:cxn modelId="{9C1752E5-105C-45E4-BA39-C611454C7752}" type="presParOf" srcId="{77DA2422-F2EE-4696-A0B2-D3E358EF0B3D}" destId="{7B8C008A-41E5-429C-BB3F-0904F579D1B1}" srcOrd="1" destOrd="0" presId="urn:microsoft.com/office/officeart/2018/2/layout/IconCircleList"/>
    <dgm:cxn modelId="{B3025F89-5768-4464-A0A0-4FEE70B68A14}" type="presParOf" srcId="{77DA2422-F2EE-4696-A0B2-D3E358EF0B3D}" destId="{76C5AEE8-F8E2-43A0-9FF9-9B3CC65EEC94}" srcOrd="2" destOrd="0" presId="urn:microsoft.com/office/officeart/2018/2/layout/IconCircleList"/>
    <dgm:cxn modelId="{59D43158-6B0F-42FA-B1FB-CBA34B0BB67D}" type="presParOf" srcId="{77DA2422-F2EE-4696-A0B2-D3E358EF0B3D}" destId="{A9A5B8E0-AAEB-4E06-9B39-E5F254B2A466}" srcOrd="3" destOrd="0" presId="urn:microsoft.com/office/officeart/2018/2/layout/IconCircleList"/>
    <dgm:cxn modelId="{1F1CC4EB-413C-4C44-993A-C2C48C0BF91A}" type="presParOf" srcId="{BF0DF91E-48C2-4661-B2FF-958DC8B70DCF}" destId="{378E29C7-89F3-44E5-B53A-E8064D4107B8}" srcOrd="5" destOrd="0" presId="urn:microsoft.com/office/officeart/2018/2/layout/IconCircleList"/>
    <dgm:cxn modelId="{1745F040-2349-4611-B05A-0444C0905F8C}" type="presParOf" srcId="{BF0DF91E-48C2-4661-B2FF-958DC8B70DCF}" destId="{2250FB20-F409-461E-AEFD-A7C3E1A54F75}" srcOrd="6" destOrd="0" presId="urn:microsoft.com/office/officeart/2018/2/layout/IconCircleList"/>
    <dgm:cxn modelId="{16A05734-50AC-4455-9F7B-F99122C75E8D}" type="presParOf" srcId="{2250FB20-F409-461E-AEFD-A7C3E1A54F75}" destId="{CFB11705-A10A-4607-9BC7-9D1BC688604E}" srcOrd="0" destOrd="0" presId="urn:microsoft.com/office/officeart/2018/2/layout/IconCircleList"/>
    <dgm:cxn modelId="{3B00DEE6-F7C9-42F5-9C98-39B9CD34D78E}" type="presParOf" srcId="{2250FB20-F409-461E-AEFD-A7C3E1A54F75}" destId="{B87D8031-9C68-490A-B385-4C1D95E0A404}" srcOrd="1" destOrd="0" presId="urn:microsoft.com/office/officeart/2018/2/layout/IconCircleList"/>
    <dgm:cxn modelId="{0B8A382D-7723-4769-BBC3-10F1EECABE0F}" type="presParOf" srcId="{2250FB20-F409-461E-AEFD-A7C3E1A54F75}" destId="{4CB84A12-8266-4754-81D6-82B7A64B6638}" srcOrd="2" destOrd="0" presId="urn:microsoft.com/office/officeart/2018/2/layout/IconCircleList"/>
    <dgm:cxn modelId="{1542F5D0-4CA4-41DE-9CDB-41A6B9A67545}" type="presParOf" srcId="{2250FB20-F409-461E-AEFD-A7C3E1A54F75}" destId="{1876DB70-4EF5-404B-BF3F-E76EFDC33610}"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B1984D-0A19-4FB4-A6C9-426703B20262}">
      <dsp:nvSpPr>
        <dsp:cNvPr id="0" name=""/>
        <dsp:cNvSpPr/>
      </dsp:nvSpPr>
      <dsp:spPr>
        <a:xfrm>
          <a:off x="274235" y="632291"/>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42CECE-904E-4447-8175-B43A2DC9F85B}">
      <dsp:nvSpPr>
        <dsp:cNvPr id="0" name=""/>
        <dsp:cNvSpPr/>
      </dsp:nvSpPr>
      <dsp:spPr>
        <a:xfrm>
          <a:off x="561486" y="919542"/>
          <a:ext cx="793360" cy="7933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8F55BE-2CE1-4B7E-A660-347E7B09E637}">
      <dsp:nvSpPr>
        <dsp:cNvPr id="0" name=""/>
        <dsp:cNvSpPr/>
      </dsp:nvSpPr>
      <dsp:spPr>
        <a:xfrm>
          <a:off x="1935212" y="632291"/>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Variable used in classes to interact with its’ own members</a:t>
          </a:r>
        </a:p>
      </dsp:txBody>
      <dsp:txXfrm>
        <a:off x="1935212" y="632291"/>
        <a:ext cx="3224249" cy="1367863"/>
      </dsp:txXfrm>
    </dsp:sp>
    <dsp:sp modelId="{148953EC-27D2-4A29-A9D6-0F0D073B0F10}">
      <dsp:nvSpPr>
        <dsp:cNvPr id="0" name=""/>
        <dsp:cNvSpPr/>
      </dsp:nvSpPr>
      <dsp:spPr>
        <a:xfrm>
          <a:off x="5721263" y="632291"/>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A7D271-773D-4FD8-BF8C-E32A829D3C30}">
      <dsp:nvSpPr>
        <dsp:cNvPr id="0" name=""/>
        <dsp:cNvSpPr/>
      </dsp:nvSpPr>
      <dsp:spPr>
        <a:xfrm>
          <a:off x="6008514" y="919542"/>
          <a:ext cx="793360" cy="7933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EC263F-C381-4555-A71F-BCDCF7C89667}">
      <dsp:nvSpPr>
        <dsp:cNvPr id="0" name=""/>
        <dsp:cNvSpPr/>
      </dsp:nvSpPr>
      <dsp:spPr>
        <a:xfrm>
          <a:off x="7382240" y="632291"/>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Variable that contains the whole object</a:t>
          </a:r>
        </a:p>
      </dsp:txBody>
      <dsp:txXfrm>
        <a:off x="7382240" y="632291"/>
        <a:ext cx="3224249" cy="1367863"/>
      </dsp:txXfrm>
    </dsp:sp>
    <dsp:sp modelId="{0C929B2E-0CAB-4DE1-8E4A-8E8F590F1C90}">
      <dsp:nvSpPr>
        <dsp:cNvPr id="0" name=""/>
        <dsp:cNvSpPr/>
      </dsp:nvSpPr>
      <dsp:spPr>
        <a:xfrm>
          <a:off x="274235" y="2819495"/>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8C008A-41E5-429C-BB3F-0904F579D1B1}">
      <dsp:nvSpPr>
        <dsp:cNvPr id="0" name=""/>
        <dsp:cNvSpPr/>
      </dsp:nvSpPr>
      <dsp:spPr>
        <a:xfrm>
          <a:off x="561486" y="3106746"/>
          <a:ext cx="793360" cy="7933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A5B8E0-AAEB-4E06-9B39-E5F254B2A466}">
      <dsp:nvSpPr>
        <dsp:cNvPr id="0" name=""/>
        <dsp:cNvSpPr/>
      </dsp:nvSpPr>
      <dsp:spPr>
        <a:xfrm>
          <a:off x="1935212" y="2819495"/>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One major use: prevent duplicate code in method overloads</a:t>
          </a:r>
        </a:p>
      </dsp:txBody>
      <dsp:txXfrm>
        <a:off x="1935212" y="2819495"/>
        <a:ext cx="3224249" cy="1367863"/>
      </dsp:txXfrm>
    </dsp:sp>
    <dsp:sp modelId="{CFB11705-A10A-4607-9BC7-9D1BC688604E}">
      <dsp:nvSpPr>
        <dsp:cNvPr id="0" name=""/>
        <dsp:cNvSpPr/>
      </dsp:nvSpPr>
      <dsp:spPr>
        <a:xfrm>
          <a:off x="5721263" y="2819495"/>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7D8031-9C68-490A-B385-4C1D95E0A404}">
      <dsp:nvSpPr>
        <dsp:cNvPr id="0" name=""/>
        <dsp:cNvSpPr/>
      </dsp:nvSpPr>
      <dsp:spPr>
        <a:xfrm>
          <a:off x="6008514" y="3106746"/>
          <a:ext cx="793360" cy="7933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76DB70-4EF5-404B-BF3F-E76EFDC33610}">
      <dsp:nvSpPr>
        <dsp:cNvPr id="0" name=""/>
        <dsp:cNvSpPr/>
      </dsp:nvSpPr>
      <dsp:spPr>
        <a:xfrm>
          <a:off x="7382240" y="2819495"/>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a:t>Used to leverage current data in methods, or change properties from a method</a:t>
          </a:r>
        </a:p>
      </dsp:txBody>
      <dsp:txXfrm>
        <a:off x="7382240" y="2819495"/>
        <a:ext cx="3224249" cy="1367863"/>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30DF8C-E478-4EFD-B2AB-4FD153ECCF07}" type="datetimeFigureOut">
              <a:rPr lang="en-US"/>
              <a:t>7/5/2025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FE465A-C774-477D-8A77-53E77771FF1A}" type="slidenum">
              <a:rPr lang="en-US"/>
              <a:t>‹#›</a:t>
            </a:fld>
            <a:endParaRPr lang="en-US"/>
          </a:p>
        </p:txBody>
      </p:sp>
    </p:spTree>
    <p:extLst>
      <p:ext uri="{BB962C8B-B14F-4D97-AF65-F5344CB8AC3E}">
        <p14:creationId xmlns:p14="http://schemas.microsoft.com/office/powerpoint/2010/main" val="2352805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dirty="0"/>
          </a:p>
        </p:txBody>
      </p:sp>
      <p:sp>
        <p:nvSpPr>
          <p:cNvPr id="3" name="Date Placeholder 2">
            <a:extLst>
              <a:ext uri="{FF2B5EF4-FFF2-40B4-BE49-F238E27FC236}">
                <a16:creationId xmlns:a16="http://schemas.microsoft.com/office/drawing/2014/main" id="{C7C19F77-53A8-4FB6-AC8D-EB465917D2AF}"/>
              </a:ext>
            </a:extLst>
          </p:cNvPr>
          <p:cNvSpPr>
            <a:spLocks noGrp="1"/>
          </p:cNvSpPr>
          <p:nvPr>
            <p:ph type="dt" idx="15"/>
          </p:nvPr>
        </p:nvSpPr>
        <p:spPr/>
        <p:txBody>
          <a:bodyPr/>
          <a:lstStyle/>
          <a:p>
            <a:fld id="{8AC84295-5BF3-4C0D-B900-059CC5DD0EBB}" type="datetime1">
              <a:rPr lang="en-US"/>
              <a:t>7/5/2025</a:t>
            </a:fld>
            <a:endParaRPr lang="en-US" dirty="0"/>
          </a:p>
        </p:txBody>
      </p:sp>
      <p:sp>
        <p:nvSpPr>
          <p:cNvPr id="8" name="Slide Image Placeholder 7">
            <a:extLst>
              <a:ext uri="{FF2B5EF4-FFF2-40B4-BE49-F238E27FC236}">
                <a16:creationId xmlns:a16="http://schemas.microsoft.com/office/drawing/2014/main" id="{7734A72D-49FF-42A5-863D-B6D217905E7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63C66B90-D656-4E49-9C08-763AD9938646}"/>
              </a:ext>
            </a:extLst>
          </p:cNvPr>
          <p:cNvSpPr>
            <a:spLocks noGrp="1"/>
          </p:cNvSpPr>
          <p:nvPr>
            <p:ph type="body" idx="1"/>
          </p:nvPr>
        </p:nvSpPr>
        <p:spPr>
          <a:xfrm>
            <a:off x="685800" y="4400550"/>
            <a:ext cx="5486400" cy="3600450"/>
          </a:xfrm>
          <a:prstGeom prst="rect">
            <a:avLst/>
          </a:prstGeom>
        </p:spPr>
        <p:txBody>
          <a:bodyPr/>
          <a:lstStyle/>
          <a:p>
            <a:r>
              <a:rPr lang="en-US" dirty="0"/>
              <a:t>Version: 12/09/2019 17:55:23</a:t>
            </a:r>
          </a:p>
        </p:txBody>
      </p:sp>
      <p:sp>
        <p:nvSpPr>
          <p:cNvPr id="4" name="Header Placeholder 3">
            <a:extLst>
              <a:ext uri="{FF2B5EF4-FFF2-40B4-BE49-F238E27FC236}">
                <a16:creationId xmlns:a16="http://schemas.microsoft.com/office/drawing/2014/main" id="{380E7524-C736-4DF6-AE9E-280A6C63AA6D}"/>
              </a:ext>
            </a:extLst>
          </p:cNvPr>
          <p:cNvSpPr>
            <a:spLocks noGrp="1"/>
          </p:cNvSpPr>
          <p:nvPr>
            <p:ph type="hdr" sz="quarter" idx="16"/>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051185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a:pPr lvl="0"/>
              <a:t>2</a:t>
            </a:fld>
            <a:endParaRPr lang="en-US" noProof="0" dirty="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a:t>7/5/2025</a:t>
            </a:fld>
            <a:endParaRPr lang="en-US" dirty="0"/>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619816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Another good analogy “</a:t>
            </a:r>
            <a:r>
              <a:rPr lang="en-US" sz="1200" b="0" i="0" kern="1200" dirty="0">
                <a:solidFill>
                  <a:schemeClr val="tx1"/>
                </a:solidFill>
                <a:effectLst/>
                <a:latin typeface="+mn-lt"/>
                <a:ea typeface="+mn-ea"/>
                <a:cs typeface="+mn-cs"/>
              </a:rPr>
              <a:t>A class becomes a template for an object.”</a:t>
            </a:r>
          </a:p>
          <a:p>
            <a:pPr marL="171450" indent="-171450">
              <a:buFont typeface="Arial" panose="020B0604020202020204" pitchFamily="34" charset="0"/>
              <a:buChar char="•"/>
            </a:pPr>
            <a:endParaRPr lang="en-US" dirty="0"/>
          </a:p>
          <a:p>
            <a:pPr marL="0" lvl="0" indent="0">
              <a:buFont typeface="Arial" panose="020B0604020202020204" pitchFamily="34" charset="0"/>
              <a:buNone/>
            </a:pPr>
            <a:endParaRPr lang="en-US" dirty="0"/>
          </a:p>
          <a:p>
            <a:pPr marL="0" lvl="0" indent="0">
              <a:buFont typeface="Arial" panose="020B0604020202020204" pitchFamily="34" charset="0"/>
              <a:buNone/>
            </a:pPr>
            <a:endParaRPr lang="en-US" dirty="0"/>
          </a:p>
        </p:txBody>
      </p:sp>
    </p:spTree>
    <p:extLst>
      <p:ext uri="{BB962C8B-B14F-4D97-AF65-F5344CB8AC3E}">
        <p14:creationId xmlns:p14="http://schemas.microsoft.com/office/powerpoint/2010/main" val="4228640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a:p>
            <a:pPr marL="0" marR="0" lvl="0" indent="0" algn="l" defTabSz="914460" rtl="0" eaLnBrk="1" fontAlgn="auto" latinLnBrk="0" hangingPunct="1">
              <a:lnSpc>
                <a:spcPct val="90000"/>
              </a:lnSpc>
              <a:spcBef>
                <a:spcPts val="0"/>
              </a:spcBef>
              <a:spcAft>
                <a:spcPts val="333"/>
              </a:spcAft>
              <a:buClrTx/>
              <a:buSzTx/>
              <a:buFont typeface="Arial" panose="020B0604020202020204" pitchFamily="34" charset="0"/>
              <a:buNone/>
              <a:tabLst/>
              <a:defRPr/>
            </a:pPr>
            <a:r>
              <a:rPr lang="en-US" dirty="0"/>
              <a:t>Another good analogy “</a:t>
            </a:r>
            <a:r>
              <a:rPr lang="en-US" sz="900" b="0" i="0" kern="1200" dirty="0">
                <a:solidFill>
                  <a:schemeClr val="tx1"/>
                </a:solidFill>
                <a:effectLst/>
                <a:latin typeface="Segoe UI Light" pitchFamily="34" charset="0"/>
                <a:ea typeface="+mn-ea"/>
                <a:cs typeface="+mn-cs"/>
              </a:rPr>
              <a:t>A class becomes a template for an object.”</a:t>
            </a:r>
          </a:p>
          <a:p>
            <a:pPr marL="0" indent="0">
              <a:buFont typeface="Arial" panose="020B0604020202020204" pitchFamily="34" charset="0"/>
              <a:buNone/>
            </a:pPr>
            <a:endParaRPr lang="en-US" dirty="0"/>
          </a:p>
          <a:p>
            <a:pPr marL="0" lvl="0" indent="0">
              <a:buFont typeface="Arial" panose="020B0604020202020204" pitchFamily="34" charset="0"/>
              <a:buNone/>
            </a:pPr>
            <a:endParaRPr lang="en-US" dirty="0"/>
          </a:p>
          <a:p>
            <a:pPr marL="0" lvl="0" indent="0">
              <a:buFont typeface="Arial" panose="020B0604020202020204" pitchFamily="34" charset="0"/>
              <a:buNone/>
            </a:pPr>
            <a:endParaRPr lang="en-US" dirty="0"/>
          </a:p>
        </p:txBody>
      </p:sp>
    </p:spTree>
    <p:extLst>
      <p:ext uri="{BB962C8B-B14F-4D97-AF65-F5344CB8AC3E}">
        <p14:creationId xmlns:p14="http://schemas.microsoft.com/office/powerpoint/2010/main" val="2472739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Another good analogy “</a:t>
            </a:r>
            <a:r>
              <a:rPr lang="en-US" sz="1200" b="0" i="0" kern="1200" dirty="0">
                <a:solidFill>
                  <a:schemeClr val="tx1"/>
                </a:solidFill>
                <a:effectLst/>
                <a:latin typeface="+mn-lt"/>
                <a:ea typeface="+mn-ea"/>
                <a:cs typeface="+mn-cs"/>
              </a:rPr>
              <a:t>A class becomes a template for an object.”</a:t>
            </a:r>
          </a:p>
          <a:p>
            <a:pPr marL="171450" indent="-171450">
              <a:buFont typeface="Arial" panose="020B0604020202020204" pitchFamily="34" charset="0"/>
              <a:buChar char="•"/>
            </a:pPr>
            <a:endParaRPr lang="en-US" dirty="0"/>
          </a:p>
          <a:p>
            <a:pPr marL="0" lvl="0" indent="0">
              <a:buFont typeface="Arial" panose="020B0604020202020204" pitchFamily="34" charset="0"/>
              <a:buNone/>
            </a:pPr>
            <a:endParaRPr lang="en-US" dirty="0"/>
          </a:p>
          <a:p>
            <a:pPr marL="0" lvl="0" indent="0">
              <a:buFont typeface="Arial" panose="020B0604020202020204" pitchFamily="34" charset="0"/>
              <a:buNone/>
            </a:pPr>
            <a:endParaRPr lang="en-US" dirty="0"/>
          </a:p>
        </p:txBody>
      </p:sp>
    </p:spTree>
    <p:extLst>
      <p:ext uri="{BB962C8B-B14F-4D97-AF65-F5344CB8AC3E}">
        <p14:creationId xmlns:p14="http://schemas.microsoft.com/office/powerpoint/2010/main" val="2048925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6</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581024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1731898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8</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6:01 PM</a:t>
            </a:fld>
            <a:endParaRPr lang="en-US" dirty="0"/>
          </a:p>
        </p:txBody>
      </p:sp>
    </p:spTree>
    <p:extLst>
      <p:ext uri="{BB962C8B-B14F-4D97-AF65-F5344CB8AC3E}">
        <p14:creationId xmlns:p14="http://schemas.microsoft.com/office/powerpoint/2010/main" val="3385036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9</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6:01 PM</a:t>
            </a:fld>
            <a:endParaRPr lang="en-US" dirty="0"/>
          </a:p>
        </p:txBody>
      </p:sp>
    </p:spTree>
    <p:extLst>
      <p:ext uri="{BB962C8B-B14F-4D97-AF65-F5344CB8AC3E}">
        <p14:creationId xmlns:p14="http://schemas.microsoft.com/office/powerpoint/2010/main" val="25859219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2624120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11</a:t>
            </a:fld>
            <a:endParaRPr lang="en-US"/>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546644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a:p>
        </p:txBody>
      </p:sp>
    </p:spTree>
    <p:extLst>
      <p:ext uri="{BB962C8B-B14F-4D97-AF65-F5344CB8AC3E}">
        <p14:creationId xmlns:p14="http://schemas.microsoft.com/office/powerpoint/2010/main" val="42355061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a:p>
        </p:txBody>
      </p:sp>
    </p:spTree>
    <p:extLst>
      <p:ext uri="{BB962C8B-B14F-4D97-AF65-F5344CB8AC3E}">
        <p14:creationId xmlns:p14="http://schemas.microsoft.com/office/powerpoint/2010/main" val="764024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5"/>
          </p:nvPr>
        </p:nvSpPr>
        <p:spPr/>
        <p:txBody>
          <a:bodyPr/>
          <a:lstStyle/>
          <a:p>
            <a:fld id="{B4008EB6-D09E-4580-8CD6-DDB14511944F}" type="slidenum">
              <a:rPr lang="en-US"/>
              <a:pPr/>
              <a:t>15</a:t>
            </a:fld>
            <a:endParaRPr lang="en-US"/>
          </a:p>
        </p:txBody>
      </p:sp>
      <p:sp>
        <p:nvSpPr>
          <p:cNvPr id="5" name="Date Placeholder 4"/>
          <p:cNvSpPr>
            <a:spLocks noGrp="1"/>
          </p:cNvSpPr>
          <p:nvPr>
            <p:ph type="dt" idx="1"/>
          </p:nvPr>
        </p:nvSpPr>
        <p:spPr/>
        <p:txBody>
          <a:bodyPr/>
          <a:lstStyle/>
          <a:p>
            <a:fld id="{B63683C5-D28F-4EF7-868C-6B282EBD67F9}" type="datetime8">
              <a:rPr lang="en-US"/>
              <a:t>7/5/2025 6:01 PM</a:t>
            </a:fld>
            <a:endParaRPr lang="en-US"/>
          </a:p>
        </p:txBody>
      </p:sp>
    </p:spTree>
    <p:extLst>
      <p:ext uri="{BB962C8B-B14F-4D97-AF65-F5344CB8AC3E}">
        <p14:creationId xmlns:p14="http://schemas.microsoft.com/office/powerpoint/2010/main" val="3316164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794498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79310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a:p>
        </p:txBody>
      </p:sp>
    </p:spTree>
    <p:extLst>
      <p:ext uri="{BB962C8B-B14F-4D97-AF65-F5344CB8AC3E}">
        <p14:creationId xmlns:p14="http://schemas.microsoft.com/office/powerpoint/2010/main" val="1684693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19</a:t>
            </a:fld>
            <a:endParaRPr lang="en-US" dirty="0"/>
          </a:p>
        </p:txBody>
      </p:sp>
      <p:sp>
        <p:nvSpPr>
          <p:cNvPr id="3" name="Date Placeholder 2">
            <a:extLst>
              <a:ext uri="{FF2B5EF4-FFF2-40B4-BE49-F238E27FC236}">
                <a16:creationId xmlns:a16="http://schemas.microsoft.com/office/drawing/2014/main" id="{1A0B76F9-3F92-4745-AA72-2039D73104F8}"/>
              </a:ext>
            </a:extLst>
          </p:cNvPr>
          <p:cNvSpPr>
            <a:spLocks noGrp="1"/>
          </p:cNvSpPr>
          <p:nvPr>
            <p:ph type="dt" idx="12"/>
          </p:nvPr>
        </p:nvSpPr>
        <p:spPr/>
        <p:txBody>
          <a:bodyPr/>
          <a:lstStyle/>
          <a:p>
            <a:fld id="{98343A3E-C65B-474B-B284-72A2415C99C0}" type="datetime1">
              <a:rPr lang="en-US"/>
              <a:t>7/5/2025</a:t>
            </a:fld>
            <a:endParaRPr lang="en-US" dirty="0"/>
          </a:p>
        </p:txBody>
      </p:sp>
      <p:sp>
        <p:nvSpPr>
          <p:cNvPr id="10" name="Slide Image Placeholder 9">
            <a:extLst>
              <a:ext uri="{FF2B5EF4-FFF2-40B4-BE49-F238E27FC236}">
                <a16:creationId xmlns:a16="http://schemas.microsoft.com/office/drawing/2014/main" id="{B080087F-9B63-4FCC-87C0-CC79C9FF5FED}"/>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79EF5BC6-BB55-444F-AE42-1679207E5163}"/>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29186FA5-7D91-4142-B389-05BC0ADD7EE6}"/>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027708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20</a:t>
            </a:fld>
            <a:endParaRPr lang="en-US" dirty="0"/>
          </a:p>
        </p:txBody>
      </p:sp>
      <p:sp>
        <p:nvSpPr>
          <p:cNvPr id="5" name="Date Placeholder 4"/>
          <p:cNvSpPr>
            <a:spLocks noGrp="1"/>
          </p:cNvSpPr>
          <p:nvPr>
            <p:ph type="dt" idx="1"/>
          </p:nvPr>
        </p:nvSpPr>
        <p:spPr/>
        <p:txBody>
          <a:bodyPr/>
          <a:lstStyle/>
          <a:p>
            <a:fld id="{B63683C5-D28F-4EF7-868C-6B282EBD67F9}" type="datetime8">
              <a:rPr lang="en-US"/>
              <a:t>7/5/2025 6:01 PM</a:t>
            </a:fld>
            <a:endParaRPr lang="en-US" dirty="0"/>
          </a:p>
        </p:txBody>
      </p:sp>
    </p:spTree>
    <p:extLst>
      <p:ext uri="{BB962C8B-B14F-4D97-AF65-F5344CB8AC3E}">
        <p14:creationId xmlns:p14="http://schemas.microsoft.com/office/powerpoint/2010/main" val="30672305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534879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dirty="0"/>
          </a:p>
        </p:txBody>
      </p:sp>
    </p:spTree>
    <p:extLst>
      <p:ext uri="{BB962C8B-B14F-4D97-AF65-F5344CB8AC3E}">
        <p14:creationId xmlns:p14="http://schemas.microsoft.com/office/powerpoint/2010/main" val="3427004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US" dirty="0"/>
              <a:t>Properties that don’t change – would be if you made an object like a bicycle and wanted to the number of wheels. It will always be 2 otherwise it’s a unicycle or tricycle. This matters if you create like 1,000 of them because you can use 1 piece of memory instead of 1,000+</a:t>
            </a:r>
          </a:p>
          <a:p>
            <a:pPr marL="171450" lvl="0" indent="-171450">
              <a:buFont typeface="Arial" panose="020B0604020202020204" pitchFamily="34" charset="0"/>
              <a:buChar char="•"/>
            </a:pPr>
            <a:r>
              <a:rPr lang="en-US" dirty="0"/>
              <a:t>We can’t leverage $this, because it isn’t part of an instance it is actually just a single, unchanging piece of memory for quick access and efficiency.</a:t>
            </a:r>
          </a:p>
          <a:p>
            <a:pPr marL="171450" marR="0" lvl="0" indent="-171450" algn="l" defTabSz="914460"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dirty="0"/>
              <a:t>Useful for creating a static toolbox like [math], such as [math]::Pi or [Math]::Round()</a:t>
            </a:r>
          </a:p>
          <a:p>
            <a:pPr>
              <a:defRPr/>
            </a:pPr>
            <a:endParaRPr lang="en-US" sz="850" dirty="0">
              <a:cs typeface="Segoe UI Light"/>
            </a:endParaRPr>
          </a:p>
          <a:p>
            <a:pPr>
              <a:defRPr/>
            </a:pPr>
            <a:r>
              <a:rPr lang="en-US" dirty="0"/>
              <a:t>Get-member:</a:t>
            </a:r>
          </a:p>
          <a:p>
            <a:pPr>
              <a:defRPr/>
            </a:pPr>
            <a:r>
              <a:rPr lang="en-US" sz="850" dirty="0">
                <a:latin typeface="Segoe UI Light"/>
                <a:cs typeface="Segoe UI Light"/>
              </a:rPr>
              <a:t>[person] | gm -static</a:t>
            </a:r>
          </a:p>
          <a:p>
            <a:pPr>
              <a:buFont typeface="Arial" panose="020B0604020202020204" pitchFamily="34" charset="0"/>
              <a:defRPr/>
            </a:pPr>
            <a:endParaRPr lang="en-US" sz="850" dirty="0">
              <a:cs typeface="Segoe UI Light"/>
            </a:endParaRPr>
          </a:p>
        </p:txBody>
      </p:sp>
    </p:spTree>
    <p:extLst>
      <p:ext uri="{BB962C8B-B14F-4D97-AF65-F5344CB8AC3E}">
        <p14:creationId xmlns:p14="http://schemas.microsoft.com/office/powerpoint/2010/main" val="22353545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dirty="0"/>
          </a:p>
          <a:p>
            <a:pPr marL="0" lvl="0" indent="0">
              <a:buFont typeface="Arial" panose="020B0604020202020204" pitchFamily="34" charset="0"/>
              <a:buNone/>
            </a:pPr>
            <a:r>
              <a:rPr lang="en-US" dirty="0"/>
              <a:t>Useful to hide a bunch of excess members that you don’t think people will need often or that you only usually use internally with methods and such</a:t>
            </a:r>
          </a:p>
        </p:txBody>
      </p:sp>
    </p:spTree>
    <p:extLst>
      <p:ext uri="{BB962C8B-B14F-4D97-AF65-F5344CB8AC3E}">
        <p14:creationId xmlns:p14="http://schemas.microsoft.com/office/powerpoint/2010/main" val="1763086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9489114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dirty="0"/>
          </a:p>
        </p:txBody>
      </p:sp>
    </p:spTree>
    <p:extLst>
      <p:ext uri="{BB962C8B-B14F-4D97-AF65-F5344CB8AC3E}">
        <p14:creationId xmlns:p14="http://schemas.microsoft.com/office/powerpoint/2010/main" val="3912718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endParaRPr lang="en-US" sz="900" dirty="0">
              <a:solidFill>
                <a:srgbClr val="8FBC8F"/>
              </a:solidFill>
              <a:latin typeface="Lucida Console" panose="020B0609040504020204" pitchFamily="49" charset="0"/>
            </a:endParaRPr>
          </a:p>
          <a:p>
            <a:pPr marL="0" lvl="0" indent="0" rtl="0">
              <a:buFont typeface="Arial" panose="020B0604020202020204" pitchFamily="34" charset="0"/>
              <a:buNone/>
            </a:pPr>
            <a:r>
              <a:rPr lang="en-US" sz="900" dirty="0">
                <a:solidFill>
                  <a:srgbClr val="8FBC8F"/>
                </a:solidFill>
                <a:latin typeface="Lucida Console" panose="020B0609040504020204" pitchFamily="49" charset="0"/>
              </a:rPr>
              <a:t>Cronenberg Is a reference to a horror movie film maker, which is also used as an alien species in cartoons such as Rick and Morty</a:t>
            </a:r>
            <a:endParaRPr lang="en-US" dirty="0"/>
          </a:p>
        </p:txBody>
      </p:sp>
    </p:spTree>
    <p:extLst>
      <p:ext uri="{BB962C8B-B14F-4D97-AF65-F5344CB8AC3E}">
        <p14:creationId xmlns:p14="http://schemas.microsoft.com/office/powerpoint/2010/main" val="8389615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dirty="0"/>
              <a:t>Take a look at the ENUM example to show using the </a:t>
            </a:r>
            <a:r>
              <a:rPr lang="en-US" dirty="0" err="1"/>
              <a:t>enums</a:t>
            </a:r>
            <a:r>
              <a:rPr lang="en-US" dirty="0"/>
              <a:t> as strong types and errors</a:t>
            </a:r>
          </a:p>
        </p:txBody>
      </p:sp>
    </p:spTree>
    <p:extLst>
      <p:ext uri="{BB962C8B-B14F-4D97-AF65-F5344CB8AC3E}">
        <p14:creationId xmlns:p14="http://schemas.microsoft.com/office/powerpoint/2010/main" val="20586747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dirty="0"/>
              <a:t>Take a look at the ENUM example to show using the </a:t>
            </a:r>
            <a:r>
              <a:rPr lang="en-US" dirty="0" err="1"/>
              <a:t>enums</a:t>
            </a:r>
            <a:r>
              <a:rPr lang="en-US" dirty="0"/>
              <a:t> as strong types and errors</a:t>
            </a:r>
          </a:p>
        </p:txBody>
      </p:sp>
    </p:spTree>
    <p:extLst>
      <p:ext uri="{BB962C8B-B14F-4D97-AF65-F5344CB8AC3E}">
        <p14:creationId xmlns:p14="http://schemas.microsoft.com/office/powerpoint/2010/main" val="4590492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dirty="0"/>
              <a:t>This is the same as best practice for function toolboxes should be (or make a module!)</a:t>
            </a:r>
          </a:p>
        </p:txBody>
      </p:sp>
    </p:spTree>
    <p:extLst>
      <p:ext uri="{BB962C8B-B14F-4D97-AF65-F5344CB8AC3E}">
        <p14:creationId xmlns:p14="http://schemas.microsoft.com/office/powerpoint/2010/main" val="15807738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31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5455893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EC87E0CF-87F6-4B58-B8B8-DCAB2DAAF3CA}" type="slidenum">
              <a:rPr lang="en-US"/>
              <a:pPr/>
              <a:t>32</a:t>
            </a:fld>
            <a:endParaRPr lang="en-US"/>
          </a:p>
        </p:txBody>
      </p:sp>
      <p:sp>
        <p:nvSpPr>
          <p:cNvPr id="3" name="Date Placeholder 2">
            <a:extLst>
              <a:ext uri="{FF2B5EF4-FFF2-40B4-BE49-F238E27FC236}">
                <a16:creationId xmlns:a16="http://schemas.microsoft.com/office/drawing/2014/main" id="{1215B0C0-E5D8-4E46-A54E-EA968C86FB78}"/>
              </a:ext>
            </a:extLst>
          </p:cNvPr>
          <p:cNvSpPr>
            <a:spLocks noGrp="1"/>
          </p:cNvSpPr>
          <p:nvPr>
            <p:ph type="dt" idx="15"/>
          </p:nvPr>
        </p:nvSpPr>
        <p:spPr/>
        <p:txBody>
          <a:bodyPr/>
          <a:lstStyle/>
          <a:p>
            <a:fld id="{6D50A064-0189-4F17-A351-AA3748785BA8}" type="datetime1">
              <a:rPr lang="en-US"/>
              <a:t>7/5/2025</a:t>
            </a:fld>
            <a:endParaRPr lang="en-US"/>
          </a:p>
        </p:txBody>
      </p:sp>
      <p:sp>
        <p:nvSpPr>
          <p:cNvPr id="8" name="Slide Image Placeholder 7">
            <a:extLst>
              <a:ext uri="{FF2B5EF4-FFF2-40B4-BE49-F238E27FC236}">
                <a16:creationId xmlns:a16="http://schemas.microsoft.com/office/drawing/2014/main" id="{EE4402E8-2EA7-4193-9D00-7E2272B203D4}"/>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FA351A47-ABCB-4338-85BD-CB2EA0A493E3}"/>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2A98CFE3-9F8B-4B50-8CC9-ECDE547B8B73}"/>
              </a:ext>
            </a:extLst>
          </p:cNvPr>
          <p:cNvSpPr>
            <a:spLocks noGrp="1"/>
          </p:cNvSpPr>
          <p:nvPr>
            <p:ph type="hdr" sz="quarter" idx="16"/>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250765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32645248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3656191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1012099441"/>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817956869"/>
      </p:ext>
    </p:extLst>
  </p:cSld>
  <p:clrMapOvr>
    <a:masterClrMapping/>
  </p:clrMapOvr>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319573653"/>
      </p:ext>
    </p:extLst>
  </p:cSld>
  <p:clrMapOvr>
    <a:masterClrMapping/>
  </p:clrMapOvr>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154625675"/>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1289395709"/>
      </p:ext>
    </p:extLst>
  </p:cSld>
  <p:clrMapOvr>
    <a:masterClrMapping/>
  </p:clrMapOvr>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79617666"/>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034529398"/>
      </p:ext>
    </p:extLst>
  </p:cSld>
  <p:clrMapOvr>
    <a:masterClrMapping/>
  </p:clrMapOvr>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912429759"/>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23161606"/>
      </p:ext>
    </p:extLst>
  </p:cSld>
  <p:clrMapOvr>
    <a:masterClrMapping/>
  </p:clrMapOvr>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37792640"/>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80026157"/>
      </p:ext>
    </p:extLst>
  </p:cSld>
  <p:clrMapOvr>
    <a:masterClrMapping/>
  </p:clrMapOvr>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684389631"/>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505808988"/>
      </p:ext>
    </p:extLst>
  </p:cSld>
  <p:clrMapOvr>
    <a:masterClrMapping/>
  </p:clrMapOvr>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248017010"/>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682759985"/>
      </p:ext>
    </p:extLst>
  </p:cSld>
  <p:clrMapOvr>
    <a:masterClrMapping/>
  </p:clrMapOvr>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050280046"/>
      </p:ext>
    </p:extLst>
  </p:cSld>
  <p:clrMapOvr>
    <a:masterClrMapping/>
  </p:clrMapOvr>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596884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153109496"/>
      </p:ext>
    </p:extLst>
  </p:cSld>
  <p:clrMapOvr>
    <a:masterClrMapping/>
  </p:clrMapOvr>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680061085"/>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131514972"/>
      </p:ext>
    </p:extLst>
  </p:cSld>
  <p:clrMapOvr>
    <a:masterClrMapping/>
  </p:clrMapOvr>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64611071"/>
      </p:ext>
    </p:extLst>
  </p:cSld>
  <p:clrMapOvr>
    <a:masterClrMapping/>
  </p:clrMapOvr>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617900227"/>
      </p:ext>
    </p:extLst>
  </p:cSld>
  <p:clrMapOvr>
    <a:masterClrMapping/>
  </p:clrMapOvr>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208808615"/>
      </p:ext>
    </p:extLst>
  </p:cSld>
  <p:clrMapOvr>
    <a:masterClrMapping/>
  </p:clrMapOvr>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826694184"/>
      </p:ext>
    </p:extLst>
  </p:cSld>
  <p:clrMapOvr>
    <a:masterClrMapping/>
  </p:clrMapOvr>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969514015"/>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684314017"/>
      </p:ext>
    </p:extLst>
  </p:cSld>
  <p:clrMapOvr>
    <a:masterClrMapping/>
  </p:clrMapOvr>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276078478"/>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617847013"/>
      </p:ext>
    </p:extLst>
  </p:cSld>
  <p:clrMapOvr>
    <a:masterClrMapping/>
  </p:clrMapOvr>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550141987"/>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410468010"/>
      </p:ext>
    </p:extLst>
  </p:cSld>
  <p:clrMapOvr>
    <a:masterClrMapping/>
  </p:clrMapOvr>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61050676"/>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24294365"/>
      </p:ext>
    </p:extLst>
  </p:cSld>
  <p:clrMapOvr>
    <a:masterClrMapping/>
  </p:clrMapOvr>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0691140"/>
      </p:ext>
    </p:extLst>
  </p:cSld>
  <p:clrMapOvr>
    <a:masterClrMapping/>
  </p:clrMapOvr>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98186870"/>
      </p:ext>
    </p:extLst>
  </p:cSld>
  <p:clrMapOvr>
    <a:masterClrMapping/>
  </p:clrMapOvr>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2348609"/>
      </p:ext>
    </p:extLst>
  </p:cSld>
  <p:clrMapOvr>
    <a:masterClrMapping/>
  </p:clrMapOvr>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9230616"/>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872090"/>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971602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6807641"/>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186689498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41257228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25662836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975575933"/>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Lst>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customXml" Target="../../customXml/item2.xml"/></Relationships>
</file>

<file path=ppt/slides/_rels/slide2.xml.rels><?xml version="1.0" encoding="UTF-8" standalone="yes"?>
<Relationships xmlns="http://schemas.openxmlformats.org/package/2006/relationships"><Relationship Id="rId3" Type="http://schemas.openxmlformats.org/officeDocument/2006/relationships/customXml" Target="../../customXml/item9.xml"/><Relationship Id="rId7" Type="http://schemas.openxmlformats.org/officeDocument/2006/relationships/image" Target="../media/image4.png"/><Relationship Id="rId2" Type="http://schemas.openxmlformats.org/officeDocument/2006/relationships/customXml" Target="../../customXml/item7.xml"/><Relationship Id="rId1" Type="http://schemas.openxmlformats.org/officeDocument/2006/relationships/tags" Target="../tags/tag5.xml"/><Relationship Id="rId6" Type="http://schemas.openxmlformats.org/officeDocument/2006/relationships/notesSlide" Target="../notesSlides/notesSlide2.xml"/><Relationship Id="rId5" Type="http://schemas.openxmlformats.org/officeDocument/2006/relationships/slideLayout" Target="../slideLayouts/slideLayout9.xml"/><Relationship Id="rId4" Type="http://schemas.openxmlformats.org/officeDocument/2006/relationships/tags" Target="../tags/tag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customXml" Target="../../customXml/item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customXml" Target="../../customXml/item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7.xml"/><Relationship Id="rId1" Type="http://schemas.openxmlformats.org/officeDocument/2006/relationships/customXml" Target="../../customXml/item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17.png"/><Relationship Id="rId4"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p:cSld name="HIDDEN - Slide2">
    <p:spTree>
      <p:nvGrpSpPr>
        <p:cNvPr id="1" name=""/>
        <p:cNvGrpSpPr/>
        <p:nvPr/>
      </p:nvGrpSpPr>
      <p:grpSpPr>
        <a:xfrm>
          <a:off x="0" y="0"/>
          <a:ext cx="0" cy="0"/>
          <a:chOff x="0" y="0"/>
          <a:chExt cx="0" cy="0"/>
        </a:xfrm>
      </p:grpSpPr>
      <p:sp>
        <p:nvSpPr>
          <p:cNvPr id="6" name="Title 1"/>
          <p:cNvSpPr>
            <a:spLocks noGrp="1"/>
          </p:cNvSpPr>
          <p:nvPr>
            <p:ph type="title"/>
            <p:custDataLst>
              <p:custData r:id="rId1"/>
            </p:custDataLst>
          </p:nvPr>
        </p:nvSpPr>
        <p:spPr/>
        <p:txBody>
          <a:bodyPr lIns="0" tIns="0" rIns="0" bIns="45720" anchor="b"/>
          <a:lstStyle/>
          <a:p>
            <a:r>
              <a:rPr lang="en-US" dirty="0">
                <a:latin typeface="Segoe UI Semibold" panose="020B0702040204020203" pitchFamily="34" charset="0"/>
              </a:rPr>
              <a:t>Classes</a:t>
            </a:r>
          </a:p>
        </p:txBody>
      </p:sp>
      <p:sp>
        <p:nvSpPr>
          <p:cNvPr id="4" name="Subtitle 3">
            <a:extLst>
              <a:ext uri="{FF2B5EF4-FFF2-40B4-BE49-F238E27FC236}">
                <a16:creationId xmlns:a16="http://schemas.microsoft.com/office/drawing/2014/main" id="{6CA76C5A-FE1D-4165-8B96-C696ADF70BD7}"/>
              </a:ext>
            </a:extLst>
          </p:cNvPr>
          <p:cNvSpPr>
            <a:spLocks noGrp="1"/>
          </p:cNvSpPr>
          <p:nvPr>
            <p:ph type="subTitle" idx="1"/>
          </p:nvPr>
        </p:nvSpPr>
        <p:spPr/>
        <p:txBody>
          <a:bodyPr>
            <a:normAutofit lnSpcReduction="10000"/>
          </a:bodyPr>
          <a:lstStyle/>
          <a:p>
            <a:r>
              <a:rPr lang="en-US" dirty="0"/>
              <a:t>Module 4</a:t>
            </a:r>
          </a:p>
        </p:txBody>
      </p:sp>
    </p:spTree>
    <p:extLst>
      <p:ext uri="{BB962C8B-B14F-4D97-AF65-F5344CB8AC3E}">
        <p14:creationId xmlns:p14="http://schemas.microsoft.com/office/powerpoint/2010/main" val="2802465554"/>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dirty="0"/>
              <a:t>Objectives</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subTitle" idx="1"/>
            <p:custDataLst>
              <p:custData r:id="rId2"/>
            </p:custDataLst>
          </p:nvPr>
        </p:nvSpPr>
        <p:spPr/>
        <p:txBody>
          <a:bodyPr/>
          <a:lstStyle/>
          <a:p>
            <a:r>
              <a:rPr lang="en-US" dirty="0"/>
              <a:t>After completing this learning, you will be able to:</a:t>
            </a:r>
          </a:p>
        </p:txBody>
      </p:sp>
      <p:sp>
        <p:nvSpPr>
          <p:cNvPr id="5" name="Text Placeholder 4">
            <a:extLst>
              <a:ext uri="{FF2B5EF4-FFF2-40B4-BE49-F238E27FC236}">
                <a16:creationId xmlns:a16="http://schemas.microsoft.com/office/drawing/2014/main" id="{55182462-DFDF-4D48-A92C-42FD52821C4E}"/>
              </a:ext>
            </a:extLst>
          </p:cNvPr>
          <p:cNvSpPr>
            <a:spLocks noGrp="1"/>
          </p:cNvSpPr>
          <p:nvPr>
            <p:ph sz="quarter" idx="13"/>
            <p:custDataLst>
              <p:custData r:id="rId3"/>
            </p:custDataLst>
          </p:nvPr>
        </p:nvSpPr>
        <p:spPr/>
        <p:txBody>
          <a:bodyPr/>
          <a:lstStyle/>
          <a:p>
            <a:r>
              <a:rPr lang="en-US" dirty="0"/>
              <a:t>Understand what a Class is</a:t>
            </a:r>
          </a:p>
          <a:p>
            <a:r>
              <a:rPr lang="en-US" dirty="0"/>
              <a:t>Work With Methods</a:t>
            </a:r>
          </a:p>
          <a:p>
            <a:r>
              <a:rPr lang="en-US" dirty="0"/>
              <a:t>Work with Advanced Object Features</a:t>
            </a:r>
          </a:p>
          <a:p>
            <a:pPr marL="0" indent="0">
              <a:buNone/>
            </a:pPr>
            <a:endParaRPr lang="en-US" dirty="0"/>
          </a:p>
          <a:p>
            <a:endParaRPr lang="en-US" dirty="0"/>
          </a:p>
        </p:txBody>
      </p:sp>
      <p:pic>
        <p:nvPicPr>
          <p:cNvPr id="33" name="Business (13)">
            <a:extLst>
              <a:ext uri="{FF2B5EF4-FFF2-40B4-BE49-F238E27FC236}">
                <a16:creationId xmlns:a16="http://schemas.microsoft.com/office/drawing/2014/main" id="{BC22353F-89C7-45EE-831B-77CDADFC2251}"/>
              </a:ext>
              <a:ext uri="{C183D7F6-B498-43B3-948B-1728B52AA6E4}">
                <adec:decorative xmlns:adec="http://schemas.microsoft.com/office/drawing/2017/decorative" val="1"/>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9701308" y="3857249"/>
            <a:ext cx="1835055" cy="2371550"/>
          </a:xfrm>
          <a:prstGeom prst="rect">
            <a:avLst/>
          </a:prstGeom>
        </p:spPr>
      </p:pic>
    </p:spTree>
    <p:custDataLst>
      <p:tags r:id="rId1"/>
    </p:custDataLst>
    <p:extLst>
      <p:ext uri="{BB962C8B-B14F-4D97-AF65-F5344CB8AC3E}">
        <p14:creationId xmlns:p14="http://schemas.microsoft.com/office/powerpoint/2010/main" val="3759673630"/>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Classes Overview</a:t>
            </a:r>
          </a:p>
        </p:txBody>
      </p:sp>
      <p:sp>
        <p:nvSpPr>
          <p:cNvPr id="3" name="Content Placeholder 2"/>
          <p:cNvSpPr>
            <a:spLocks noGrp="1"/>
          </p:cNvSpPr>
          <p:nvPr>
            <p:ph sz="quarter" idx="13"/>
          </p:nvPr>
        </p:nvSpPr>
        <p:spPr/>
        <p:txBody>
          <a:bodyPr>
            <a:normAutofit fontScale="92500" lnSpcReduction="20000"/>
          </a:bodyPr>
          <a:lstStyle/>
          <a:p>
            <a:r>
              <a:rPr lang="en-AU" b="1" dirty="0"/>
              <a:t>What are classes</a:t>
            </a:r>
          </a:p>
          <a:p>
            <a:pPr marL="342900" indent="-342900">
              <a:buFont typeface="Arial" panose="020B0604020202020204" pitchFamily="34" charset="0"/>
              <a:buChar char="•"/>
            </a:pPr>
            <a:r>
              <a:rPr lang="en-AU" dirty="0"/>
              <a:t>Custom data types can be created with sets of unique properties and methods</a:t>
            </a:r>
          </a:p>
          <a:p>
            <a:pPr marL="653796" lvl="1" indent="-342900">
              <a:buFont typeface="Arial" panose="020B0604020202020204" pitchFamily="34" charset="0"/>
              <a:buChar char="•"/>
            </a:pPr>
            <a:r>
              <a:rPr lang="en-AU" dirty="0"/>
              <a:t>Requires PowerShell v5+</a:t>
            </a:r>
          </a:p>
          <a:p>
            <a:pPr marL="342900" indent="-342900">
              <a:buFont typeface="Arial" panose="020B0604020202020204" pitchFamily="34" charset="0"/>
              <a:buChar char="•"/>
            </a:pPr>
            <a:r>
              <a:rPr lang="en-AU" dirty="0"/>
              <a:t>Create </a:t>
            </a:r>
            <a:r>
              <a:rPr lang="en-AU" u="sng" dirty="0"/>
              <a:t>instances</a:t>
            </a:r>
            <a:r>
              <a:rPr lang="en-AU" dirty="0"/>
              <a:t> of </a:t>
            </a:r>
            <a:r>
              <a:rPr lang="en-AU" u="sng" dirty="0"/>
              <a:t>unique class</a:t>
            </a:r>
            <a:r>
              <a:rPr lang="en-AU" dirty="0"/>
              <a:t> just like any other data type</a:t>
            </a:r>
          </a:p>
          <a:p>
            <a:pPr marL="653796" lvl="1" indent="-342900">
              <a:buFont typeface="Arial" panose="020B0604020202020204" pitchFamily="34" charset="0"/>
              <a:buChar char="•"/>
            </a:pPr>
            <a:r>
              <a:rPr lang="en-AU" dirty="0"/>
              <a:t>Supports static members as well</a:t>
            </a:r>
          </a:p>
          <a:p>
            <a:endParaRPr lang="en-AU" dirty="0"/>
          </a:p>
          <a:p>
            <a:r>
              <a:rPr lang="en-AU" b="1" dirty="0"/>
              <a:t>What do they help with</a:t>
            </a:r>
          </a:p>
          <a:p>
            <a:pPr marL="342900" indent="-342900">
              <a:buFont typeface="Arial" panose="020B0604020202020204" pitchFamily="34" charset="0"/>
              <a:buChar char="•"/>
            </a:pPr>
            <a:r>
              <a:rPr lang="en-US" dirty="0"/>
              <a:t>Packaging up output in a more </a:t>
            </a:r>
            <a:r>
              <a:rPr lang="en-US" b="1" dirty="0"/>
              <a:t>professional</a:t>
            </a:r>
            <a:r>
              <a:rPr lang="en-US" dirty="0"/>
              <a:t> way than normal </a:t>
            </a:r>
            <a:r>
              <a:rPr lang="en-AU" sz="2200" dirty="0">
                <a:solidFill>
                  <a:srgbClr val="696969"/>
                </a:solidFill>
                <a:latin typeface="Lucida Console" panose="020B0609040504020204" pitchFamily="49" charset="0"/>
              </a:rPr>
              <a:t>[</a:t>
            </a:r>
            <a:r>
              <a:rPr lang="en-US" sz="2200" dirty="0" err="1">
                <a:solidFill>
                  <a:srgbClr val="008272"/>
                </a:solidFill>
                <a:latin typeface="Lucida Console" panose="020B0609040504020204" pitchFamily="49" charset="0"/>
              </a:rPr>
              <a:t>PSCustomObject</a:t>
            </a:r>
            <a:r>
              <a:rPr lang="en-AU" sz="2200" dirty="0">
                <a:solidFill>
                  <a:srgbClr val="696969"/>
                </a:solidFill>
                <a:latin typeface="Lucida Console" panose="020B0609040504020204" pitchFamily="49" charset="0"/>
              </a:rPr>
              <a:t>]</a:t>
            </a:r>
            <a:r>
              <a:rPr lang="en-US" sz="2200" dirty="0">
                <a:solidFill>
                  <a:srgbClr val="696969"/>
                </a:solidFill>
                <a:latin typeface="Lucida Console" panose="020B0609040504020204" pitchFamily="49" charset="0"/>
              </a:rPr>
              <a:t> </a:t>
            </a:r>
            <a:r>
              <a:rPr lang="en-US" dirty="0"/>
              <a:t>data</a:t>
            </a:r>
          </a:p>
          <a:p>
            <a:pPr marL="342900" indent="-342900">
              <a:buFont typeface="Arial" panose="020B0604020202020204" pitchFamily="34" charset="0"/>
              <a:buChar char="•"/>
            </a:pPr>
            <a:r>
              <a:rPr lang="en-US" dirty="0"/>
              <a:t>Making it </a:t>
            </a:r>
            <a:r>
              <a:rPr lang="en-US" b="1" dirty="0"/>
              <a:t>easier</a:t>
            </a:r>
            <a:r>
              <a:rPr lang="en-US" dirty="0"/>
              <a:t> and </a:t>
            </a:r>
            <a:r>
              <a:rPr lang="en-US" b="1" dirty="0"/>
              <a:t>faster</a:t>
            </a:r>
            <a:r>
              <a:rPr lang="en-US" dirty="0"/>
              <a:t> to create multiple copies of custom objects</a:t>
            </a:r>
          </a:p>
          <a:p>
            <a:pPr marL="342900" indent="-342900">
              <a:buFont typeface="Arial" panose="020B0604020202020204" pitchFamily="34" charset="0"/>
              <a:buChar char="•"/>
            </a:pPr>
            <a:r>
              <a:rPr lang="en-US" dirty="0"/>
              <a:t>Enabling creation of a suite of tools by </a:t>
            </a:r>
            <a:r>
              <a:rPr lang="en-US" b="1" dirty="0"/>
              <a:t>standardizing output/input</a:t>
            </a:r>
          </a:p>
          <a:p>
            <a:pPr marL="653796" lvl="1" indent="-342900">
              <a:buFont typeface="Arial" panose="020B0604020202020204" pitchFamily="34" charset="0"/>
              <a:buChar char="•"/>
            </a:pPr>
            <a:r>
              <a:rPr lang="en-US" dirty="0"/>
              <a:t>Ex. *-Service all support returning or receiving </a:t>
            </a:r>
            <a:r>
              <a:rPr lang="en-AU" sz="2200" dirty="0">
                <a:solidFill>
                  <a:srgbClr val="696969"/>
                </a:solidFill>
                <a:latin typeface="Lucida Console" panose="020B0609040504020204" pitchFamily="49" charset="0"/>
                <a:cs typeface="Segoe UI" panose="020B0502040204020203" pitchFamily="34" charset="0"/>
              </a:rPr>
              <a:t>[</a:t>
            </a:r>
            <a:r>
              <a:rPr lang="en-US" sz="2200" dirty="0" err="1">
                <a:solidFill>
                  <a:srgbClr val="008272"/>
                </a:solidFill>
                <a:latin typeface="Lucida Console" panose="020B0609040504020204" pitchFamily="49" charset="0"/>
                <a:cs typeface="Segoe UI" panose="020B0502040204020203" pitchFamily="34" charset="0"/>
              </a:rPr>
              <a:t>ServiceController</a:t>
            </a:r>
            <a:r>
              <a:rPr lang="en-AU" sz="2200" dirty="0">
                <a:solidFill>
                  <a:srgbClr val="696969"/>
                </a:solidFill>
                <a:latin typeface="Lucida Console" panose="020B0609040504020204" pitchFamily="49" charset="0"/>
                <a:cs typeface="Segoe UI" panose="020B0502040204020203" pitchFamily="34" charset="0"/>
              </a:rPr>
              <a:t>] </a:t>
            </a:r>
            <a:r>
              <a:rPr lang="en-US" dirty="0"/>
              <a:t>objects</a:t>
            </a:r>
          </a:p>
          <a:p>
            <a:pPr marL="342900" indent="-342900">
              <a:buFont typeface="Arial" panose="020B0604020202020204" pitchFamily="34" charset="0"/>
              <a:buChar char="•"/>
            </a:pPr>
            <a:r>
              <a:rPr lang="en-US" dirty="0"/>
              <a:t>Adding custom methods to data will avoid extra functions in scripts</a:t>
            </a:r>
          </a:p>
          <a:p>
            <a:pPr marL="342900" indent="-342900">
              <a:buFont typeface="Arial" panose="020B0604020202020204" pitchFamily="34" charset="0"/>
              <a:buChar char="•"/>
            </a:pPr>
            <a:r>
              <a:rPr lang="en-US" dirty="0"/>
              <a:t>Differentiate between objects with the same properties</a:t>
            </a:r>
            <a:endParaRPr lang="en-AU" dirty="0"/>
          </a:p>
        </p:txBody>
      </p:sp>
    </p:spTree>
    <p:extLst>
      <p:ext uri="{BB962C8B-B14F-4D97-AF65-F5344CB8AC3E}">
        <p14:creationId xmlns:p14="http://schemas.microsoft.com/office/powerpoint/2010/main" val="3120048950"/>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CF8D705-89D7-40C5-898D-5332B9D53F20}"/>
              </a:ext>
            </a:extLst>
          </p:cNvPr>
          <p:cNvGraphicFramePr>
            <a:graphicFrameLocks noGrp="1"/>
          </p:cNvGraphicFramePr>
          <p:nvPr>
            <p:extLst>
              <p:ext uri="{D42A27DB-BD31-4B8C-83A1-F6EECF244321}">
                <p14:modId xmlns:p14="http://schemas.microsoft.com/office/powerpoint/2010/main" val="2391811939"/>
              </p:ext>
            </p:extLst>
          </p:nvPr>
        </p:nvGraphicFramePr>
        <p:xfrm>
          <a:off x="655638" y="1691418"/>
          <a:ext cx="6893560" cy="835726"/>
        </p:xfrm>
        <a:graphic>
          <a:graphicData uri="http://schemas.openxmlformats.org/drawingml/2006/table">
            <a:tbl>
              <a:tblPr firstRow="1" bandRow="1"/>
              <a:tblGrid>
                <a:gridCol w="6893560">
                  <a:extLst>
                    <a:ext uri="{9D8B030D-6E8A-4147-A177-3AD203B41FA5}">
                      <a16:colId xmlns:a16="http://schemas.microsoft.com/office/drawing/2014/main" val="3774198432"/>
                    </a:ext>
                  </a:extLst>
                </a:gridCol>
              </a:tblGrid>
              <a:tr h="303994">
                <a:tc>
                  <a:txBody>
                    <a:bodyPr/>
                    <a:lstStyle>
                      <a:lvl1pPr>
                        <a:defRPr b="1">
                          <a:solidFill>
                            <a:schemeClr val="bg1"/>
                          </a:solidFill>
                          <a:latin typeface="Segoe UI"/>
                          <a:ea typeface=""/>
                          <a:cs typeface=""/>
                        </a:defRPr>
                      </a:lvl1pPr>
                      <a:lvl2pPr>
                        <a:defRPr b="1">
                          <a:solidFill>
                            <a:schemeClr val="bg1"/>
                          </a:solidFill>
                          <a:latin typeface="Segoe UI"/>
                          <a:ea typeface=""/>
                          <a:cs typeface=""/>
                        </a:defRPr>
                      </a:lvl2pPr>
                      <a:lvl3pPr>
                        <a:defRPr b="1">
                          <a:solidFill>
                            <a:schemeClr val="bg1"/>
                          </a:solidFill>
                          <a:latin typeface="Segoe UI"/>
                          <a:ea typeface=""/>
                          <a:cs typeface=""/>
                        </a:defRPr>
                      </a:lvl3pPr>
                      <a:lvl4pPr>
                        <a:defRPr b="1">
                          <a:solidFill>
                            <a:schemeClr val="bg1"/>
                          </a:solidFill>
                          <a:latin typeface="Segoe UI"/>
                          <a:ea typeface=""/>
                          <a:cs typeface=""/>
                        </a:defRPr>
                      </a:lvl4pPr>
                      <a:lvl5pPr>
                        <a:defRPr b="1">
                          <a:solidFill>
                            <a:schemeClr val="bg1"/>
                          </a:solidFill>
                          <a:latin typeface="Segoe UI"/>
                          <a:ea typeface=""/>
                          <a:cs typeface=""/>
                        </a:defRPr>
                      </a:lvl5pPr>
                      <a:lvl6pPr>
                        <a:defRPr b="1">
                          <a:solidFill>
                            <a:schemeClr val="bg1"/>
                          </a:solidFill>
                          <a:latin typeface="Segoe UI"/>
                          <a:ea typeface=""/>
                          <a:cs typeface=""/>
                        </a:defRPr>
                      </a:lvl6pPr>
                      <a:lvl7pPr>
                        <a:defRPr b="1">
                          <a:solidFill>
                            <a:schemeClr val="bg1"/>
                          </a:solidFill>
                          <a:latin typeface="Segoe UI"/>
                          <a:ea typeface=""/>
                          <a:cs typeface=""/>
                        </a:defRPr>
                      </a:lvl7pPr>
                      <a:lvl8pPr>
                        <a:defRPr b="1">
                          <a:solidFill>
                            <a:schemeClr val="bg1"/>
                          </a:solidFill>
                          <a:latin typeface="Segoe UI"/>
                          <a:ea typeface=""/>
                          <a:cs typeface=""/>
                        </a:defRPr>
                      </a:lvl8pPr>
                      <a:lvl9pPr>
                        <a:defRPr b="1">
                          <a:solidFill>
                            <a:schemeClr val="bg1"/>
                          </a:solidFill>
                          <a:latin typeface="Segoe UI"/>
                          <a:ea typeface=""/>
                          <a:cs typeface=""/>
                        </a:defRPr>
                      </a:lvl9pPr>
                    </a:lstStyle>
                    <a:p>
                      <a:pPr algn="l"/>
                      <a:r>
                        <a:rPr lang="en-US" sz="1800" b="0" dirty="0">
                          <a:solidFill>
                            <a:schemeClr val="tx1"/>
                          </a:solidFill>
                          <a:latin typeface="Segoe UI Light" panose="020B0502040204020203" pitchFamily="34" charset="0"/>
                          <a:cs typeface="Segoe UI Light" panose="020B0502040204020203" pitchFamily="34" charset="0"/>
                        </a:rPr>
                        <a:t>Using a </a:t>
                      </a:r>
                      <a:r>
                        <a:rPr lang="en-US" sz="1800" b="0" dirty="0" err="1">
                          <a:solidFill>
                            <a:schemeClr val="tx1"/>
                          </a:solidFill>
                          <a:latin typeface="Segoe UI Light" panose="020B0502040204020203" pitchFamily="34" charset="0"/>
                          <a:cs typeface="Segoe UI Light" panose="020B0502040204020203" pitchFamily="34" charset="0"/>
                        </a:rPr>
                        <a:t>PScustomObject</a:t>
                      </a:r>
                      <a:endParaRPr lang="en-US" sz="1800" b="0" dirty="0">
                        <a:solidFill>
                          <a:schemeClr val="tx1"/>
                        </a:solidFill>
                        <a:latin typeface="Segoe UI Light" panose="020B0502040204020203" pitchFamily="34" charset="0"/>
                        <a:cs typeface="Segoe UI Light" panose="020B0502040204020203" pitchFamily="34" charset="0"/>
                      </a:endParaRPr>
                    </a:p>
                  </a:txBody>
                  <a:tcPr anchor="ct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119207486"/>
                  </a:ext>
                </a:extLst>
              </a:tr>
              <a:tr h="469966">
                <a:tc>
                  <a:txBody>
                    <a:bodyPr/>
                    <a:lstStyle>
                      <a:lvl1pPr>
                        <a:defRPr>
                          <a:solidFill>
                            <a:schemeClr val="tx1"/>
                          </a:solidFill>
                          <a:latin typeface="Segoe UI"/>
                          <a:ea typeface=""/>
                          <a:cs typeface=""/>
                        </a:defRPr>
                      </a:lvl1pPr>
                      <a:lvl2pPr>
                        <a:defRPr>
                          <a:solidFill>
                            <a:schemeClr val="tx1"/>
                          </a:solidFill>
                          <a:latin typeface="Segoe UI"/>
                          <a:ea typeface=""/>
                          <a:cs typeface=""/>
                        </a:defRPr>
                      </a:lvl2pPr>
                      <a:lvl3pPr>
                        <a:defRPr>
                          <a:solidFill>
                            <a:schemeClr val="tx1"/>
                          </a:solidFill>
                          <a:latin typeface="Segoe UI"/>
                          <a:ea typeface=""/>
                          <a:cs typeface=""/>
                        </a:defRPr>
                      </a:lvl3pPr>
                      <a:lvl4pPr>
                        <a:defRPr>
                          <a:solidFill>
                            <a:schemeClr val="tx1"/>
                          </a:solidFill>
                          <a:latin typeface="Segoe UI"/>
                          <a:ea typeface=""/>
                          <a:cs typeface=""/>
                        </a:defRPr>
                      </a:lvl4pPr>
                      <a:lvl5pPr>
                        <a:defRPr>
                          <a:solidFill>
                            <a:schemeClr val="tx1"/>
                          </a:solidFill>
                          <a:latin typeface="Segoe UI"/>
                          <a:ea typeface=""/>
                          <a:cs typeface=""/>
                        </a:defRPr>
                      </a:lvl5pPr>
                      <a:lvl6pPr>
                        <a:defRPr>
                          <a:solidFill>
                            <a:schemeClr val="tx1"/>
                          </a:solidFill>
                          <a:latin typeface="Segoe UI"/>
                          <a:ea typeface=""/>
                          <a:cs typeface=""/>
                        </a:defRPr>
                      </a:lvl6pPr>
                      <a:lvl7pPr>
                        <a:defRPr>
                          <a:solidFill>
                            <a:schemeClr val="tx1"/>
                          </a:solidFill>
                          <a:latin typeface="Segoe UI"/>
                          <a:ea typeface=""/>
                          <a:cs typeface=""/>
                        </a:defRPr>
                      </a:lvl7pPr>
                      <a:lvl8pPr>
                        <a:defRPr>
                          <a:solidFill>
                            <a:schemeClr val="tx1"/>
                          </a:solidFill>
                          <a:latin typeface="Segoe UI"/>
                          <a:ea typeface=""/>
                          <a:cs typeface=""/>
                        </a:defRPr>
                      </a:lvl8pPr>
                      <a:lvl9pPr>
                        <a:defRPr>
                          <a:solidFill>
                            <a:schemeClr val="tx1"/>
                          </a:solidFill>
                          <a:latin typeface="Segoe UI"/>
                          <a:ea typeface=""/>
                          <a:cs typeface=""/>
                        </a:defRPr>
                      </a:lvl9pPr>
                    </a:lstStyle>
                    <a:p>
                      <a:endParaRPr kumimoji="0" lang="en-US" sz="1800" b="0" i="0" u="none" strike="noStrike" kern="1200" cap="none" spc="0" normalizeH="0" baseline="0" noProof="0" dirty="0">
                        <a:ln>
                          <a:noFill/>
                        </a:ln>
                        <a:solidFill>
                          <a:srgbClr val="EE82EE"/>
                        </a:solidFill>
                        <a:effectLst/>
                        <a:uLnTx/>
                        <a:uFillTx/>
                        <a:latin typeface="Lucida Console" panose="020B0609040504020204" pitchFamily="49" charset="0"/>
                        <a:ea typeface="+mn-ea"/>
                        <a:cs typeface="+mn-cs"/>
                      </a:endParaRPr>
                    </a:p>
                  </a:txBody>
                  <a:tcPr>
                    <a:lnL w="9525" cap="flat" cmpd="sng" algn="ctr">
                      <a:solidFill>
                        <a:srgbClr val="4F81BD">
                          <a:shade val="95000"/>
                          <a:satMod val="105000"/>
                        </a:srgbClr>
                      </a:solidFill>
                      <a:prstDash val="solid"/>
                    </a:lnL>
                    <a:lnR w="9525" cap="flat" cmpd="sng" algn="ctr">
                      <a:solidFill>
                        <a:srgbClr val="4F81BD">
                          <a:shade val="95000"/>
                          <a:satMod val="105000"/>
                        </a:srgbClr>
                      </a:solidFill>
                      <a:prstDash val="solid"/>
                    </a:lnR>
                    <a:lnT w="9525" cap="flat" cmpd="sng" algn="ctr">
                      <a:solidFill>
                        <a:srgbClr val="4F81BD">
                          <a:shade val="95000"/>
                          <a:satMod val="105000"/>
                        </a:srgbClr>
                      </a:solidFill>
                      <a:prstDash val="solid"/>
                    </a:lnT>
                    <a:lnB w="9525" cap="flat" cmpd="sng" algn="ctr">
                      <a:solidFill>
                        <a:srgbClr val="4F81BD">
                          <a:shade val="95000"/>
                          <a:satMod val="105000"/>
                        </a:srgbClr>
                      </a:solidFill>
                      <a:prstDash val="solid"/>
                    </a:lnB>
                    <a:lnTlToBr w="12700" cmpd="sng">
                      <a:noFill/>
                      <a:prstDash val="solid"/>
                    </a:lnTlToBr>
                    <a:lnBlToTr w="12700" cmpd="sng">
                      <a:noFill/>
                      <a:prstDash val="solid"/>
                    </a:lnBlToTr>
                    <a:solidFill>
                      <a:srgbClr val="012456"/>
                    </a:solidFill>
                  </a:tcPr>
                </a:tc>
                <a:extLst>
                  <a:ext uri="{0D108BD9-81ED-4DB2-BD59-A6C34878D82A}">
                    <a16:rowId xmlns:a16="http://schemas.microsoft.com/office/drawing/2014/main" val="2987835165"/>
                  </a:ext>
                </a:extLst>
              </a:tr>
            </a:tbl>
          </a:graphicData>
        </a:graphic>
      </p:graphicFrame>
      <p:sp>
        <p:nvSpPr>
          <p:cNvPr id="2" name="Title 1"/>
          <p:cNvSpPr>
            <a:spLocks noGrp="1"/>
          </p:cNvSpPr>
          <p:nvPr>
            <p:ph type="title"/>
          </p:nvPr>
        </p:nvSpPr>
        <p:spPr/>
        <p:txBody>
          <a:bodyPr lIns="0" tIns="0" rIns="0" bIns="0" anchor="t">
            <a:noAutofit/>
          </a:bodyPr>
          <a:lstStyle/>
          <a:p>
            <a:r>
              <a:rPr lang="en-AU"/>
              <a:t>Simplification and Standardization</a:t>
            </a:r>
            <a:br>
              <a:rPr lang="en-AU"/>
            </a:br>
            <a:endParaRPr lang="en-AU" dirty="0"/>
          </a:p>
        </p:txBody>
      </p:sp>
      <p:sp>
        <p:nvSpPr>
          <p:cNvPr id="3" name="Subtitle 2">
            <a:extLst>
              <a:ext uri="{FF2B5EF4-FFF2-40B4-BE49-F238E27FC236}">
                <a16:creationId xmlns:a16="http://schemas.microsoft.com/office/drawing/2014/main" id="{09052BBA-DEDC-43E7-9954-783467F4C5C1}"/>
              </a:ext>
            </a:extLst>
          </p:cNvPr>
          <p:cNvSpPr>
            <a:spLocks noGrp="1"/>
          </p:cNvSpPr>
          <p:nvPr>
            <p:ph type="subTitle" idx="1"/>
          </p:nvPr>
        </p:nvSpPr>
        <p:spPr/>
        <p:txBody>
          <a:bodyPr/>
          <a:lstStyle/>
          <a:p>
            <a:r>
              <a:rPr lang="en-US" dirty="0"/>
              <a:t>Using a </a:t>
            </a:r>
            <a:r>
              <a:rPr lang="en-US" dirty="0" err="1"/>
              <a:t>PScustomObject</a:t>
            </a:r>
            <a:endParaRPr lang="en-US" dirty="0"/>
          </a:p>
        </p:txBody>
      </p:sp>
      <p:sp>
        <p:nvSpPr>
          <p:cNvPr id="8" name="Code Box">
            <a:extLst>
              <a:ext uri="{FF2B5EF4-FFF2-40B4-BE49-F238E27FC236}">
                <a16:creationId xmlns:a16="http://schemas.microsoft.com/office/drawing/2014/main" id="{B3A62C29-0C8E-4F48-A397-B310D58E485D}"/>
              </a:ext>
            </a:extLst>
          </p:cNvPr>
          <p:cNvSpPr/>
          <p:nvPr>
            <p:custDataLst>
              <p:tags r:id="rId1"/>
            </p:custDataLst>
          </p:nvPr>
        </p:nvSpPr>
        <p:spPr>
          <a:xfrm>
            <a:off x="655638" y="1408113"/>
            <a:ext cx="10880725" cy="4819654"/>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$person</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err="1">
                <a:solidFill>
                  <a:srgbClr val="8FBC8F"/>
                </a:solidFill>
                <a:latin typeface="Lucida Console" panose="020B0609040504020204" pitchFamily="49" charset="0"/>
              </a:rPr>
              <a:t>pscustomobject</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Name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“Gadi"</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age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50</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Office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"Home"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Title</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“CSA"</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Planet</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"Earth"</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Dimension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"c137"</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pPr>
              <a:lnSpc>
                <a:spcPct val="107000"/>
              </a:lnSpc>
            </a:pP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person</a:t>
            </a:r>
            <a:r>
              <a:rPr lang="en-US" sz="2000" dirty="0" err="1">
                <a:solidFill>
                  <a:srgbClr val="F5F5F5"/>
                </a:solidFill>
                <a:latin typeface="Lucida Console" panose="020B0609040504020204" pitchFamily="49" charset="0"/>
              </a:rPr>
              <a:t>.GetType</a:t>
            </a:r>
            <a:r>
              <a:rPr lang="en-US" sz="2000" dirty="0">
                <a:solidFill>
                  <a:srgbClr val="F5F5F5"/>
                </a:solidFill>
                <a:latin typeface="Lucida Console" panose="020B0609040504020204" pitchFamily="49" charset="0"/>
              </a:rPr>
              <a:t>().</a:t>
            </a:r>
            <a:r>
              <a:rPr lang="en-US" sz="2000" dirty="0" err="1">
                <a:solidFill>
                  <a:srgbClr val="F5F5F5"/>
                </a:solidFill>
                <a:latin typeface="Lucida Console" panose="020B0609040504020204" pitchFamily="49" charset="0"/>
              </a:rPr>
              <a:t>fullname</a:t>
            </a:r>
            <a:endParaRPr lang="en-US" sz="2000" dirty="0">
              <a:solidFill>
                <a:srgbClr val="F5F5F5"/>
              </a:solidFill>
              <a:latin typeface="Lucida Console" panose="020B0609040504020204" pitchFamily="49" charset="0"/>
            </a:endParaRPr>
          </a:p>
          <a:p>
            <a:pPr>
              <a:lnSpc>
                <a:spcPct val="107000"/>
              </a:lnSpc>
            </a:pPr>
            <a:endParaRPr lang="en-US" sz="2000" dirty="0">
              <a:solidFill>
                <a:srgbClr val="F5F5F5"/>
              </a:solidFill>
              <a:latin typeface="Lucida Console" panose="020B0609040504020204" pitchFamily="49" charset="0"/>
            </a:endParaRPr>
          </a:p>
          <a:p>
            <a:pPr>
              <a:lnSpc>
                <a:spcPct val="107000"/>
              </a:lnSpc>
            </a:pPr>
            <a:r>
              <a:rPr lang="en-US" sz="2000" dirty="0" err="1">
                <a:solidFill>
                  <a:srgbClr val="F5F5F5"/>
                </a:solidFill>
                <a:latin typeface="Lucida Console" panose="020B0609040504020204" pitchFamily="49" charset="0"/>
              </a:rPr>
              <a:t>System.Management.Automation.PSCustomObject</a:t>
            </a:r>
            <a:r>
              <a:rPr lang="en-US" sz="2000" dirty="0">
                <a:solidFill>
                  <a:srgbClr val="F5F5F5"/>
                </a:solidFill>
                <a:latin typeface="Lucida Console" panose="020B0609040504020204" pitchFamily="49" charset="0"/>
              </a:rPr>
              <a:t> </a:t>
            </a:r>
            <a:endParaRPr lang="en-US" sz="2000" dirty="0">
              <a:solidFill>
                <a:srgbClr val="EE82EE"/>
              </a:solidFill>
              <a:latin typeface="Lucida Console" panose="020B0609040504020204" pitchFamily="49" charset="0"/>
            </a:endParaRPr>
          </a:p>
        </p:txBody>
      </p:sp>
      <p:sp>
        <p:nvSpPr>
          <p:cNvPr id="17" name="Speech Bubble: Rectangle 16">
            <a:extLst>
              <a:ext uri="{FF2B5EF4-FFF2-40B4-BE49-F238E27FC236}">
                <a16:creationId xmlns:a16="http://schemas.microsoft.com/office/drawing/2014/main" id="{F5BD58AA-92FE-45D4-AA72-9C79D8727650}"/>
              </a:ext>
            </a:extLst>
          </p:cNvPr>
          <p:cNvSpPr/>
          <p:nvPr/>
        </p:nvSpPr>
        <p:spPr>
          <a:xfrm>
            <a:off x="6852604" y="1408113"/>
            <a:ext cx="4683760" cy="1835666"/>
          </a:xfrm>
          <a:prstGeom prst="wedgeRectCallout">
            <a:avLst>
              <a:gd name="adj1" fmla="val -57647"/>
              <a:gd name="adj2" fmla="val 132496"/>
            </a:avLst>
          </a:prstGeom>
          <a:solidFill>
            <a:srgbClr val="008080"/>
          </a:solidFill>
          <a:ln w="12700" cap="flat" cmpd="sng" algn="ctr">
            <a:solidFill>
              <a:srgbClr val="008080"/>
            </a:solidFill>
            <a:prstDash val="solid"/>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000" dirty="0"/>
              <a:t>Annoying / Unclear</a:t>
            </a:r>
          </a:p>
          <a:p>
            <a:pPr marL="457200" indent="-457200">
              <a:buFont typeface="Arial" panose="020B0604020202020204" pitchFamily="34" charset="0"/>
              <a:buChar char="•"/>
            </a:pPr>
            <a:r>
              <a:rPr lang="en-US" sz="2000" dirty="0" err="1"/>
              <a:t>Pscustomobject</a:t>
            </a:r>
            <a:r>
              <a:rPr lang="en-US" sz="2000" dirty="0"/>
              <a:t> returned</a:t>
            </a:r>
          </a:p>
          <a:p>
            <a:pPr marL="457200" indent="-457200">
              <a:buFont typeface="Arial" panose="020B0604020202020204" pitchFamily="34" charset="0"/>
              <a:buChar char="•"/>
            </a:pPr>
            <a:r>
              <a:rPr lang="en-US" sz="2000" dirty="0" err="1"/>
              <a:t>Pscustomobject</a:t>
            </a:r>
            <a:r>
              <a:rPr lang="en-US" sz="2000" dirty="0"/>
              <a:t> full name</a:t>
            </a:r>
          </a:p>
          <a:p>
            <a:pPr marL="457200" indent="-457200">
              <a:buFont typeface="Arial" panose="020B0604020202020204" pitchFamily="34" charset="0"/>
              <a:buChar char="•"/>
            </a:pPr>
            <a:r>
              <a:rPr lang="en-US" sz="2000" dirty="0"/>
              <a:t>Hard to reuse / duplicate</a:t>
            </a:r>
          </a:p>
        </p:txBody>
      </p:sp>
      <p:pic>
        <p:nvPicPr>
          <p:cNvPr id="5" name="Picture 4">
            <a:extLst>
              <a:ext uri="{FF2B5EF4-FFF2-40B4-BE49-F238E27FC236}">
                <a16:creationId xmlns:a16="http://schemas.microsoft.com/office/drawing/2014/main" id="{1AF829B4-8AE4-ED7F-E716-DB6F5A2A5F01}"/>
              </a:ext>
            </a:extLst>
          </p:cNvPr>
          <p:cNvPicPr>
            <a:picLocks noChangeAspect="1"/>
          </p:cNvPicPr>
          <p:nvPr/>
        </p:nvPicPr>
        <p:blipFill>
          <a:blip r:embed="rId4"/>
          <a:stretch>
            <a:fillRect/>
          </a:stretch>
        </p:blipFill>
        <p:spPr>
          <a:xfrm>
            <a:off x="10463501" y="4960942"/>
            <a:ext cx="1114425" cy="1266825"/>
          </a:xfrm>
          <a:prstGeom prst="rect">
            <a:avLst/>
          </a:prstGeom>
        </p:spPr>
      </p:pic>
    </p:spTree>
    <p:extLst>
      <p:ext uri="{BB962C8B-B14F-4D97-AF65-F5344CB8AC3E}">
        <p14:creationId xmlns:p14="http://schemas.microsoft.com/office/powerpoint/2010/main" val="5068905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tIns="0" rIns="0" bIns="0" anchor="t">
            <a:noAutofit/>
          </a:bodyPr>
          <a:lstStyle/>
          <a:p>
            <a:r>
              <a:rPr lang="en-AU" dirty="0"/>
              <a:t>Simplification and Standardization (Continued)</a:t>
            </a:r>
            <a:br>
              <a:rPr lang="en-AU" dirty="0"/>
            </a:br>
            <a:endParaRPr lang="en-AU" dirty="0"/>
          </a:p>
        </p:txBody>
      </p:sp>
      <p:sp>
        <p:nvSpPr>
          <p:cNvPr id="3" name="Subtitle 2">
            <a:extLst>
              <a:ext uri="{FF2B5EF4-FFF2-40B4-BE49-F238E27FC236}">
                <a16:creationId xmlns:a16="http://schemas.microsoft.com/office/drawing/2014/main" id="{F7A83A09-A5E9-4EE3-AEEE-51A9E5B78A2E}"/>
              </a:ext>
            </a:extLst>
          </p:cNvPr>
          <p:cNvSpPr>
            <a:spLocks noGrp="1"/>
          </p:cNvSpPr>
          <p:nvPr>
            <p:ph type="subTitle" idx="1"/>
          </p:nvPr>
        </p:nvSpPr>
        <p:spPr/>
        <p:txBody>
          <a:bodyPr/>
          <a:lstStyle/>
          <a:p>
            <a:r>
              <a:rPr lang="en-US" dirty="0"/>
              <a:t>Using a PowerShell Class</a:t>
            </a:r>
          </a:p>
        </p:txBody>
      </p:sp>
      <p:sp>
        <p:nvSpPr>
          <p:cNvPr id="8" name="Code Box">
            <a:extLst>
              <a:ext uri="{FF2B5EF4-FFF2-40B4-BE49-F238E27FC236}">
                <a16:creationId xmlns:a16="http://schemas.microsoft.com/office/drawing/2014/main" id="{E81F5DBA-D464-437E-A2A9-DCC72AF627C1}"/>
              </a:ext>
            </a:extLst>
          </p:cNvPr>
          <p:cNvSpPr/>
          <p:nvPr>
            <p:custDataLst>
              <p:tags r:id="rId1"/>
            </p:custDataLst>
          </p:nvPr>
        </p:nvSpPr>
        <p:spPr>
          <a:xfrm>
            <a:off x="655638" y="1408113"/>
            <a:ext cx="10880725" cy="4819650"/>
          </a:xfrm>
          <a:prstGeom prst="rect">
            <a:avLst/>
          </a:prstGeom>
          <a:solidFill>
            <a:srgbClr val="012456"/>
          </a:solidFill>
        </p:spPr>
        <p:txBody>
          <a:bodyPr wrap="square">
            <a:noAutofit/>
          </a:bodyPr>
          <a:lstStyle/>
          <a:p>
            <a:r>
              <a:rPr lang="en-US" sz="2000" dirty="0">
                <a:solidFill>
                  <a:srgbClr val="FF4500"/>
                </a:solidFill>
                <a:latin typeface="Lucida Console" panose="020B0609040504020204" pitchFamily="49" charset="0"/>
              </a:rPr>
              <a:t>$person</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new(</a:t>
            </a:r>
            <a:r>
              <a:rPr lang="en-US" sz="2000" dirty="0">
                <a:solidFill>
                  <a:srgbClr val="DB7093"/>
                </a:solidFill>
                <a:latin typeface="Lucida Console" panose="020B0609040504020204" pitchFamily="49" charset="0"/>
              </a:rPr>
              <a:t>“Gadi"</a:t>
            </a:r>
            <a:r>
              <a:rPr lang="en-US" sz="2000" dirty="0">
                <a:solidFill>
                  <a:srgbClr val="D3D3D3"/>
                </a:solidFill>
                <a:latin typeface="Lucida Console" panose="020B0609040504020204" pitchFamily="49" charset="0"/>
              </a:rPr>
              <a:t>,</a:t>
            </a:r>
            <a:r>
              <a:rPr lang="en-US" sz="2000" dirty="0">
                <a:solidFill>
                  <a:srgbClr val="FFE4C4"/>
                </a:solidFill>
                <a:latin typeface="Lucida Console" panose="020B0609040504020204" pitchFamily="49" charset="0"/>
              </a:rPr>
              <a:t>50</a:t>
            </a:r>
            <a:r>
              <a:rPr lang="en-US" sz="2000" dirty="0">
                <a:solidFill>
                  <a:srgbClr val="D3D3D3"/>
                </a:solidFill>
                <a:latin typeface="Lucida Console" panose="020B0609040504020204" pitchFamily="49" charset="0"/>
              </a:rPr>
              <a:t>,</a:t>
            </a:r>
            <a:r>
              <a:rPr lang="en-US" sz="2000" dirty="0">
                <a:solidFill>
                  <a:srgbClr val="DB7093"/>
                </a:solidFill>
                <a:latin typeface="Lucida Console" panose="020B0609040504020204" pitchFamily="49" charset="0"/>
              </a:rPr>
              <a:t>"home"</a:t>
            </a:r>
            <a:r>
              <a:rPr lang="en-US" sz="2000" dirty="0">
                <a:solidFill>
                  <a:srgbClr val="D3D3D3"/>
                </a:solidFill>
                <a:latin typeface="Lucida Console" panose="020B0609040504020204" pitchFamily="49" charset="0"/>
              </a:rPr>
              <a:t>,</a:t>
            </a:r>
            <a:r>
              <a:rPr lang="en-US" sz="2000" dirty="0">
                <a:solidFill>
                  <a:srgbClr val="DB7093"/>
                </a:solidFill>
                <a:latin typeface="Lucida Console" panose="020B0609040504020204" pitchFamily="49" charset="0"/>
              </a:rPr>
              <a:t>“CSA"</a:t>
            </a:r>
            <a:r>
              <a:rPr lang="en-US" sz="2000" dirty="0">
                <a:solidFill>
                  <a:srgbClr val="D3D3D3"/>
                </a:solidFill>
                <a:latin typeface="Lucida Console" panose="020B0609040504020204" pitchFamily="49" charset="0"/>
              </a:rPr>
              <a:t>,</a:t>
            </a:r>
            <a:r>
              <a:rPr lang="en-US" sz="2000" dirty="0">
                <a:solidFill>
                  <a:srgbClr val="DB7093"/>
                </a:solidFill>
                <a:latin typeface="Lucida Console" panose="020B0609040504020204" pitchFamily="49" charset="0"/>
              </a:rPr>
              <a:t>"Earth"</a:t>
            </a:r>
            <a:r>
              <a:rPr lang="en-US" sz="2000" dirty="0">
                <a:solidFill>
                  <a:srgbClr val="D3D3D3"/>
                </a:solidFill>
                <a:latin typeface="Lucida Console" panose="020B0609040504020204" pitchFamily="49" charset="0"/>
              </a:rPr>
              <a:t>,</a:t>
            </a:r>
            <a:r>
              <a:rPr lang="en-US" sz="2000" dirty="0">
                <a:solidFill>
                  <a:srgbClr val="DB7093"/>
                </a:solidFill>
                <a:latin typeface="Lucida Console" panose="020B0609040504020204" pitchFamily="49" charset="0"/>
              </a:rPr>
              <a:t>"C137"</a:t>
            </a:r>
            <a:r>
              <a:rPr lang="en-US" sz="2000" dirty="0">
                <a:solidFill>
                  <a:srgbClr val="F5F5F5"/>
                </a:solidFill>
                <a:latin typeface="Lucida Console" panose="020B0609040504020204" pitchFamily="49" charset="0"/>
              </a:rPr>
              <a:t>)</a:t>
            </a:r>
          </a:p>
          <a:p>
            <a:pPr lvl="0" defTabSz="914367">
              <a:defRPr/>
            </a:pP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$person</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GM </a:t>
            </a:r>
          </a:p>
          <a:p>
            <a:pPr lvl="0" defTabSz="914367">
              <a:defRPr/>
            </a:pP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TypeName: person</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Name        </a:t>
            </a:r>
            <a:r>
              <a:rPr lang="en-US" sz="2000" dirty="0" err="1">
                <a:solidFill>
                  <a:srgbClr val="F5F5F5"/>
                </a:solidFill>
                <a:latin typeface="Lucida Console" panose="020B0609040504020204" pitchFamily="49" charset="0"/>
              </a:rPr>
              <a:t>MemberType</a:t>
            </a:r>
            <a:r>
              <a:rPr lang="en-US" sz="2000" dirty="0">
                <a:solidFill>
                  <a:srgbClr val="F5F5F5"/>
                </a:solidFill>
                <a:latin typeface="Lucida Console" panose="020B0609040504020204" pitchFamily="49" charset="0"/>
              </a:rPr>
              <a:t> Definition                    </a:t>
            </a:r>
          </a:p>
          <a:p>
            <a:r>
              <a:rPr lang="en-US" sz="2000" dirty="0">
                <a:solidFill>
                  <a:srgbClr val="F5F5F5"/>
                </a:solidFill>
                <a:latin typeface="Lucida Console" panose="020B0609040504020204" pitchFamily="49" charset="0"/>
              </a:rPr>
              <a:t>----        ---------- ----------                    </a:t>
            </a: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age         Property   int age {</a:t>
            </a:r>
            <a:r>
              <a:rPr lang="en-US" sz="2000" dirty="0" err="1">
                <a:solidFill>
                  <a:srgbClr val="F5F5F5"/>
                </a:solidFill>
                <a:latin typeface="Lucida Console" panose="020B0609040504020204" pitchFamily="49" charset="0"/>
              </a:rPr>
              <a:t>get;set</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dimension   Property   string dimension {</a:t>
            </a:r>
            <a:r>
              <a:rPr lang="en-US" sz="2000" dirty="0" err="1">
                <a:solidFill>
                  <a:srgbClr val="F5F5F5"/>
                </a:solidFill>
                <a:latin typeface="Lucida Console" panose="020B0609040504020204" pitchFamily="49" charset="0"/>
              </a:rPr>
              <a:t>get;set</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Name        Property   string Name {</a:t>
            </a:r>
            <a:r>
              <a:rPr lang="en-US" sz="2000" dirty="0" err="1">
                <a:solidFill>
                  <a:srgbClr val="F5F5F5"/>
                </a:solidFill>
                <a:latin typeface="Lucida Console" panose="020B0609040504020204" pitchFamily="49" charset="0"/>
              </a:rPr>
              <a:t>get;set</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Office      Property   string Office {</a:t>
            </a:r>
            <a:r>
              <a:rPr lang="en-US" sz="2000" dirty="0" err="1">
                <a:solidFill>
                  <a:srgbClr val="F5F5F5"/>
                </a:solidFill>
                <a:latin typeface="Lucida Console" panose="020B0609040504020204" pitchFamily="49" charset="0"/>
              </a:rPr>
              <a:t>get;set</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planet      Property   string planet {</a:t>
            </a:r>
            <a:r>
              <a:rPr lang="en-US" sz="2000" dirty="0" err="1">
                <a:solidFill>
                  <a:srgbClr val="F5F5F5"/>
                </a:solidFill>
                <a:latin typeface="Lucida Console" panose="020B0609040504020204" pitchFamily="49" charset="0"/>
              </a:rPr>
              <a:t>get;set</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title       Property   string title {</a:t>
            </a:r>
            <a:r>
              <a:rPr lang="en-US" sz="2000" dirty="0" err="1">
                <a:solidFill>
                  <a:srgbClr val="F5F5F5"/>
                </a:solidFill>
                <a:latin typeface="Lucida Console" panose="020B0609040504020204" pitchFamily="49" charset="0"/>
              </a:rPr>
              <a:t>get;set</a:t>
            </a:r>
            <a:r>
              <a:rPr lang="en-US" sz="2000" dirty="0">
                <a:solidFill>
                  <a:srgbClr val="F5F5F5"/>
                </a:solidFill>
                <a:latin typeface="Lucida Console" panose="020B0609040504020204" pitchFamily="49" charset="0"/>
              </a:rPr>
              <a:t>;}  </a:t>
            </a:r>
          </a:p>
        </p:txBody>
      </p:sp>
      <p:sp>
        <p:nvSpPr>
          <p:cNvPr id="19" name="Speech Bubble: Rectangle 18">
            <a:extLst>
              <a:ext uri="{FF2B5EF4-FFF2-40B4-BE49-F238E27FC236}">
                <a16:creationId xmlns:a16="http://schemas.microsoft.com/office/drawing/2014/main" id="{1C8DEFCF-7141-43BB-8CE6-BB96EDE7F392}"/>
              </a:ext>
            </a:extLst>
          </p:cNvPr>
          <p:cNvSpPr/>
          <p:nvPr/>
        </p:nvSpPr>
        <p:spPr>
          <a:xfrm>
            <a:off x="7323682" y="2133600"/>
            <a:ext cx="4212680" cy="1818089"/>
          </a:xfrm>
          <a:prstGeom prst="wedgeRectCallout">
            <a:avLst>
              <a:gd name="adj1" fmla="val -141915"/>
              <a:gd name="adj2" fmla="val -9922"/>
            </a:avLst>
          </a:prstGeom>
          <a:solidFill>
            <a:srgbClr val="008080"/>
          </a:solidFill>
          <a:ln w="12700" cap="flat" cmpd="sng" algn="ctr">
            <a:solidFill>
              <a:srgbClr val="008080"/>
            </a:solidFill>
            <a:prstDash val="solid"/>
            <a:miter lim="800000"/>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US" sz="2000" dirty="0"/>
              <a:t>Concise/Precise</a:t>
            </a:r>
          </a:p>
          <a:p>
            <a:pPr marL="457200" indent="-457200">
              <a:buFont typeface="Arial" panose="020B0604020202020204" pitchFamily="34" charset="0"/>
              <a:buChar char="•"/>
            </a:pPr>
            <a:r>
              <a:rPr lang="en-US" sz="2000" dirty="0"/>
              <a:t>Objects Class returned</a:t>
            </a:r>
          </a:p>
          <a:p>
            <a:pPr marL="457200" indent="-457200">
              <a:buFont typeface="Arial" panose="020B0604020202020204" pitchFamily="34" charset="0"/>
              <a:buChar char="•"/>
            </a:pPr>
            <a:r>
              <a:rPr lang="en-US" sz="2000" dirty="0"/>
              <a:t>Objects Class full name</a:t>
            </a:r>
          </a:p>
          <a:p>
            <a:pPr marL="457200" indent="-457200">
              <a:buFont typeface="Arial" panose="020B0604020202020204" pitchFamily="34" charset="0"/>
              <a:buChar char="•"/>
            </a:pPr>
            <a:r>
              <a:rPr lang="en-US" sz="2000" dirty="0"/>
              <a:t>easy to reuse / duplicate</a:t>
            </a:r>
          </a:p>
        </p:txBody>
      </p:sp>
      <p:pic>
        <p:nvPicPr>
          <p:cNvPr id="5" name="Picture 4">
            <a:extLst>
              <a:ext uri="{FF2B5EF4-FFF2-40B4-BE49-F238E27FC236}">
                <a16:creationId xmlns:a16="http://schemas.microsoft.com/office/drawing/2014/main" id="{7AF30B0B-2E8E-D06E-C020-7CA7A8E9BCA6}"/>
              </a:ext>
            </a:extLst>
          </p:cNvPr>
          <p:cNvPicPr>
            <a:picLocks noChangeAspect="1"/>
          </p:cNvPicPr>
          <p:nvPr/>
        </p:nvPicPr>
        <p:blipFill>
          <a:blip r:embed="rId4"/>
          <a:stretch>
            <a:fillRect/>
          </a:stretch>
        </p:blipFill>
        <p:spPr>
          <a:xfrm>
            <a:off x="10421937" y="4960938"/>
            <a:ext cx="1114425" cy="1266825"/>
          </a:xfrm>
          <a:prstGeom prst="rect">
            <a:avLst/>
          </a:prstGeom>
        </p:spPr>
      </p:pic>
    </p:spTree>
    <p:extLst>
      <p:ext uri="{BB962C8B-B14F-4D97-AF65-F5344CB8AC3E}">
        <p14:creationId xmlns:p14="http://schemas.microsoft.com/office/powerpoint/2010/main" val="8436170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HIDDEN - Slide157">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1"/>
            </p:custDataLst>
          </p:nvPr>
        </p:nvSpPr>
        <p:spPr/>
        <p:txBody>
          <a:bodyPr/>
          <a:lstStyle/>
          <a:p>
            <a:r>
              <a:rPr lang="en-US"/>
              <a:t>Class Basics</a:t>
            </a:r>
            <a:endParaRPr lang="en-US" dirty="0"/>
          </a:p>
        </p:txBody>
      </p:sp>
    </p:spTree>
    <p:extLst>
      <p:ext uri="{BB962C8B-B14F-4D97-AF65-F5344CB8AC3E}">
        <p14:creationId xmlns:p14="http://schemas.microsoft.com/office/powerpoint/2010/main" val="3935823690"/>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Class Syntax</a:t>
            </a:r>
            <a:endParaRPr lang="en-AU" dirty="0"/>
          </a:p>
        </p:txBody>
      </p:sp>
      <p:sp>
        <p:nvSpPr>
          <p:cNvPr id="3" name="Content Placeholder 2"/>
          <p:cNvSpPr>
            <a:spLocks noGrp="1"/>
          </p:cNvSpPr>
          <p:nvPr>
            <p:ph type="subTitle" idx="1"/>
          </p:nvPr>
        </p:nvSpPr>
        <p:spPr/>
        <p:txBody>
          <a:bodyPr/>
          <a:lstStyle/>
          <a:p>
            <a:r>
              <a:rPr lang="en-AU" dirty="0"/>
              <a:t>Create a class</a:t>
            </a:r>
          </a:p>
          <a:p>
            <a:endParaRPr lang="en-AU" dirty="0"/>
          </a:p>
          <a:p>
            <a:endParaRPr lang="en-AU" dirty="0"/>
          </a:p>
        </p:txBody>
      </p:sp>
      <p:sp>
        <p:nvSpPr>
          <p:cNvPr id="6" name="Content Placeholder 5">
            <a:extLst>
              <a:ext uri="{FF2B5EF4-FFF2-40B4-BE49-F238E27FC236}">
                <a16:creationId xmlns:a16="http://schemas.microsoft.com/office/drawing/2014/main" id="{DAD65E6C-5296-462B-8EE7-37141836A94F}"/>
              </a:ext>
            </a:extLst>
          </p:cNvPr>
          <p:cNvSpPr>
            <a:spLocks noGrp="1"/>
          </p:cNvSpPr>
          <p:nvPr>
            <p:ph sz="quarter" idx="13"/>
          </p:nvPr>
        </p:nvSpPr>
        <p:spPr/>
        <p:txBody>
          <a:bodyPr/>
          <a:lstStyle/>
          <a:p>
            <a:r>
              <a:rPr lang="en-AU" dirty="0"/>
              <a:t>Use the “Class” keyword</a:t>
            </a:r>
          </a:p>
          <a:p>
            <a:r>
              <a:rPr lang="en-AU" dirty="0"/>
              <a:t>Any custom name you want</a:t>
            </a:r>
          </a:p>
          <a:p>
            <a:r>
              <a:rPr lang="en-AU" dirty="0"/>
              <a:t> Open and closed curly braces</a:t>
            </a:r>
          </a:p>
          <a:p>
            <a:endParaRPr lang="en-AU" dirty="0"/>
          </a:p>
          <a:p>
            <a:endParaRPr lang="en-US" dirty="0"/>
          </a:p>
        </p:txBody>
      </p:sp>
      <p:sp>
        <p:nvSpPr>
          <p:cNvPr id="9" name="TextBox 8">
            <a:extLst>
              <a:ext uri="{FF2B5EF4-FFF2-40B4-BE49-F238E27FC236}">
                <a16:creationId xmlns:a16="http://schemas.microsoft.com/office/drawing/2014/main" id="{12DF83AE-95B0-4861-AF6E-F069010DBED9}"/>
              </a:ext>
            </a:extLst>
          </p:cNvPr>
          <p:cNvSpPr txBox="1"/>
          <p:nvPr/>
        </p:nvSpPr>
        <p:spPr>
          <a:xfrm>
            <a:off x="3247390" y="4257797"/>
            <a:ext cx="7315200" cy="1200329"/>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800" dirty="0"/>
              <a:t> </a:t>
            </a:r>
            <a:r>
              <a:rPr lang="en-US" sz="1800" dirty="0">
                <a:solidFill>
                  <a:srgbClr val="E0FFFF"/>
                </a:solidFill>
                <a:latin typeface="Lucida Console" panose="020B0609040504020204" pitchFamily="49" charset="0"/>
              </a:rPr>
              <a:t>class</a:t>
            </a:r>
            <a:r>
              <a:rPr lang="en-US" sz="1800" dirty="0">
                <a:solidFill>
                  <a:srgbClr val="F5F5F5"/>
                </a:solidFill>
                <a:latin typeface="Lucida Console" panose="020B0609040504020204" pitchFamily="49" charset="0"/>
              </a:rPr>
              <a:t> </a:t>
            </a:r>
            <a:r>
              <a:rPr lang="en-US" sz="1800" dirty="0">
                <a:solidFill>
                  <a:srgbClr val="8FBC8F"/>
                </a:solidFill>
                <a:latin typeface="Lucida Console" panose="020B0609040504020204" pitchFamily="49" charset="0"/>
              </a:rPr>
              <a:t>Person</a:t>
            </a:r>
            <a:endParaRPr lang="en-US" sz="1800" dirty="0">
              <a:solidFill>
                <a:srgbClr val="F5F5F5"/>
              </a:solidFill>
              <a:latin typeface="Lucida Console" panose="020B0609040504020204" pitchFamily="49" charset="0"/>
            </a:endParaRPr>
          </a:p>
          <a:p>
            <a:r>
              <a:rPr lang="en-US" sz="1800" dirty="0">
                <a:solidFill>
                  <a:srgbClr val="F5F5F5"/>
                </a:solidFill>
                <a:latin typeface="Lucida Console" panose="020B0609040504020204" pitchFamily="49" charset="0"/>
              </a:rPr>
              <a:t>{</a:t>
            </a:r>
          </a:p>
          <a:p>
            <a:endParaRPr lang="en-US" sz="1800" dirty="0">
              <a:solidFill>
                <a:srgbClr val="F5F5F5"/>
              </a:solidFill>
              <a:latin typeface="Lucida Console" panose="020B0609040504020204" pitchFamily="49" charset="0"/>
            </a:endParaRPr>
          </a:p>
          <a:p>
            <a:r>
              <a:rPr lang="en-US" sz="1800" dirty="0">
                <a:solidFill>
                  <a:srgbClr val="F5F5F5"/>
                </a:solidFill>
                <a:latin typeface="Lucida Console" panose="020B0609040504020204" pitchFamily="49" charset="0"/>
              </a:rPr>
              <a:t>}  </a:t>
            </a:r>
          </a:p>
        </p:txBody>
      </p:sp>
      <p:sp>
        <p:nvSpPr>
          <p:cNvPr id="10" name="Speech Bubble: Rectangle 9">
            <a:extLst>
              <a:ext uri="{FF2B5EF4-FFF2-40B4-BE49-F238E27FC236}">
                <a16:creationId xmlns:a16="http://schemas.microsoft.com/office/drawing/2014/main" id="{7471B70A-15C4-4F7E-A986-7FF824BB1538}"/>
              </a:ext>
            </a:extLst>
          </p:cNvPr>
          <p:cNvSpPr/>
          <p:nvPr/>
        </p:nvSpPr>
        <p:spPr>
          <a:xfrm>
            <a:off x="1629410" y="3450365"/>
            <a:ext cx="3294380" cy="422612"/>
          </a:xfrm>
          <a:prstGeom prst="wedgeRectCallout">
            <a:avLst>
              <a:gd name="adj1" fmla="val 16773"/>
              <a:gd name="adj2" fmla="val 141528"/>
            </a:avLst>
          </a:prstGeom>
          <a:solidFill>
            <a:srgbClr val="B4009E"/>
          </a:solidFill>
          <a:ln w="12700" cap="flat" cmpd="sng" algn="ctr">
            <a:solidFill>
              <a:srgbClr val="012456"/>
            </a:solidFill>
            <a:prstDash val="solid"/>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800" dirty="0"/>
              <a:t>Declaration of type</a:t>
            </a:r>
            <a:endParaRPr lang="en-US" sz="3200" dirty="0"/>
          </a:p>
        </p:txBody>
      </p:sp>
      <p:sp>
        <p:nvSpPr>
          <p:cNvPr id="11" name="Speech Bubble: Rectangle 10">
            <a:extLst>
              <a:ext uri="{FF2B5EF4-FFF2-40B4-BE49-F238E27FC236}">
                <a16:creationId xmlns:a16="http://schemas.microsoft.com/office/drawing/2014/main" id="{D3A7BC63-C5B2-428C-A270-95C4758C4738}"/>
              </a:ext>
            </a:extLst>
          </p:cNvPr>
          <p:cNvSpPr/>
          <p:nvPr/>
        </p:nvSpPr>
        <p:spPr>
          <a:xfrm>
            <a:off x="6295391" y="3450365"/>
            <a:ext cx="2971800" cy="422612"/>
          </a:xfrm>
          <a:prstGeom prst="wedgeRectCallout">
            <a:avLst>
              <a:gd name="adj1" fmla="val -56255"/>
              <a:gd name="adj2" fmla="val 193738"/>
            </a:avLst>
          </a:prstGeom>
          <a:solidFill>
            <a:srgbClr val="107C10"/>
          </a:solidFill>
          <a:ln w="12700" cap="flat" cmpd="sng" algn="ctr">
            <a:solidFill>
              <a:srgbClr val="012456"/>
            </a:solidFill>
            <a:prstDash val="solid"/>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800" dirty="0"/>
              <a:t>Name of the class</a:t>
            </a:r>
            <a:endParaRPr lang="en-US" sz="3200" dirty="0"/>
          </a:p>
        </p:txBody>
      </p:sp>
      <p:sp>
        <p:nvSpPr>
          <p:cNvPr id="12" name="Speech Bubble: Rectangle 11">
            <a:extLst>
              <a:ext uri="{FF2B5EF4-FFF2-40B4-BE49-F238E27FC236}">
                <a16:creationId xmlns:a16="http://schemas.microsoft.com/office/drawing/2014/main" id="{A4C3D585-A1FB-4845-990E-1218CE112574}"/>
              </a:ext>
            </a:extLst>
          </p:cNvPr>
          <p:cNvSpPr/>
          <p:nvPr/>
        </p:nvSpPr>
        <p:spPr>
          <a:xfrm>
            <a:off x="4085590" y="5805151"/>
            <a:ext cx="5562600" cy="422612"/>
          </a:xfrm>
          <a:prstGeom prst="wedgeRectCallout">
            <a:avLst>
              <a:gd name="adj1" fmla="val -62122"/>
              <a:gd name="adj2" fmla="val -238999"/>
            </a:avLst>
          </a:prstGeom>
          <a:solidFill>
            <a:srgbClr val="0078D7"/>
          </a:solidFill>
          <a:ln w="12700" cap="flat" cmpd="sng" algn="ctr">
            <a:solidFill>
              <a:srgbClr val="012456"/>
            </a:solidFill>
            <a:prstDash val="solid"/>
            <a:miter lim="800000"/>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800" dirty="0"/>
              <a:t>Code brackets to contain the class</a:t>
            </a:r>
            <a:endParaRPr lang="en-US" sz="3200" dirty="0"/>
          </a:p>
        </p:txBody>
      </p:sp>
    </p:spTree>
    <p:extLst>
      <p:ext uri="{BB962C8B-B14F-4D97-AF65-F5344CB8AC3E}">
        <p14:creationId xmlns:p14="http://schemas.microsoft.com/office/powerpoint/2010/main" val="406980663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D409D7-2A3D-4C69-B7B7-DA51C5A7CB5A}"/>
              </a:ext>
            </a:extLst>
          </p:cNvPr>
          <p:cNvSpPr>
            <a:spLocks noGrp="1"/>
          </p:cNvSpPr>
          <p:nvPr>
            <p:ph type="title"/>
          </p:nvPr>
        </p:nvSpPr>
        <p:spPr/>
        <p:txBody>
          <a:bodyPr/>
          <a:lstStyle/>
          <a:p>
            <a:r>
              <a:rPr lang="en-AU" dirty="0"/>
              <a:t>Class Syntax cont.</a:t>
            </a:r>
            <a:endParaRPr lang="en-US" dirty="0"/>
          </a:p>
        </p:txBody>
      </p:sp>
      <p:sp>
        <p:nvSpPr>
          <p:cNvPr id="5" name="Text Placeholder 4">
            <a:extLst>
              <a:ext uri="{FF2B5EF4-FFF2-40B4-BE49-F238E27FC236}">
                <a16:creationId xmlns:a16="http://schemas.microsoft.com/office/drawing/2014/main" id="{72F85C38-F082-46E2-9FBD-72714B48C8AB}"/>
              </a:ext>
            </a:extLst>
          </p:cNvPr>
          <p:cNvSpPr>
            <a:spLocks noGrp="1"/>
          </p:cNvSpPr>
          <p:nvPr>
            <p:ph type="body" sz="quarter" idx="16"/>
          </p:nvPr>
        </p:nvSpPr>
        <p:spPr/>
        <p:txBody>
          <a:bodyPr/>
          <a:lstStyle/>
          <a:p>
            <a:r>
              <a:rPr lang="en-US" dirty="0"/>
              <a:t>Add Properties (information)</a:t>
            </a:r>
          </a:p>
          <a:p>
            <a:r>
              <a:rPr lang="en-US" dirty="0"/>
              <a:t>Strongly type data if you want</a:t>
            </a:r>
          </a:p>
          <a:p>
            <a:pPr lvl="1"/>
            <a:r>
              <a:rPr lang="en-US" dirty="0"/>
              <a:t>Default is </a:t>
            </a:r>
            <a:r>
              <a:rPr lang="en-US" dirty="0">
                <a:solidFill>
                  <a:srgbClr val="696969"/>
                </a:solidFill>
                <a:latin typeface="Lucida Console" panose="020B0609040504020204" pitchFamily="49" charset="0"/>
              </a:rPr>
              <a:t>[</a:t>
            </a:r>
            <a:r>
              <a:rPr lang="en-US" dirty="0">
                <a:solidFill>
                  <a:srgbClr val="008272"/>
                </a:solidFill>
                <a:latin typeface="Lucida Console" panose="020B0609040504020204" pitchFamily="49" charset="0"/>
              </a:rPr>
              <a:t>Object</a:t>
            </a:r>
            <a:r>
              <a:rPr lang="en-US" dirty="0">
                <a:solidFill>
                  <a:srgbClr val="696969"/>
                </a:solidFill>
                <a:latin typeface="Lucida Console" panose="020B0609040504020204" pitchFamily="49" charset="0"/>
              </a:rPr>
              <a:t>]</a:t>
            </a:r>
            <a:endParaRPr lang="en-US" dirty="0"/>
          </a:p>
          <a:p>
            <a:r>
              <a:rPr lang="en-US" dirty="0"/>
              <a:t>Variable will be the property name</a:t>
            </a:r>
          </a:p>
          <a:p>
            <a:endParaRPr lang="en-US" dirty="0"/>
          </a:p>
          <a:p>
            <a:endParaRPr lang="en-US" dirty="0"/>
          </a:p>
          <a:p>
            <a:endParaRPr lang="en-US" dirty="0"/>
          </a:p>
        </p:txBody>
      </p:sp>
      <p:sp>
        <p:nvSpPr>
          <p:cNvPr id="6" name="Picture Placeholder 5">
            <a:extLst>
              <a:ext uri="{FF2B5EF4-FFF2-40B4-BE49-F238E27FC236}">
                <a16:creationId xmlns:a16="http://schemas.microsoft.com/office/drawing/2014/main" id="{0532703D-CE6F-43FA-9711-F5228A257DF5}"/>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sp>
        <p:nvSpPr>
          <p:cNvPr id="7" name="TextBox 6">
            <a:extLst>
              <a:ext uri="{FF2B5EF4-FFF2-40B4-BE49-F238E27FC236}">
                <a16:creationId xmlns:a16="http://schemas.microsoft.com/office/drawing/2014/main" id="{DEFA1535-F06E-4393-A40A-7ADB9C8A163F}"/>
              </a:ext>
            </a:extLst>
          </p:cNvPr>
          <p:cNvSpPr txBox="1"/>
          <p:nvPr/>
        </p:nvSpPr>
        <p:spPr>
          <a:xfrm>
            <a:off x="5824749" y="2459504"/>
            <a:ext cx="5875867" cy="1938992"/>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solidFill>
                  <a:srgbClr val="E0FFFF"/>
                </a:solidFill>
                <a:latin typeface="Lucida Console" panose="020B0609040504020204" pitchFamily="49" charset="0"/>
              </a:rPr>
              <a:t>class</a:t>
            </a:r>
            <a:r>
              <a:rPr lang="en-US" sz="2000" dirty="0">
                <a:solidFill>
                  <a:srgbClr val="F5F5F5"/>
                </a:solidFill>
                <a:latin typeface="Lucida Console" panose="020B0609040504020204" pitchFamily="49" charset="0"/>
              </a:rPr>
              <a:t> </a:t>
            </a:r>
            <a:r>
              <a:rPr lang="en-US" sz="2000" dirty="0">
                <a:solidFill>
                  <a:srgbClr val="8FBC8F"/>
                </a:solidFill>
                <a:latin typeface="Lucida Console" panose="020B0609040504020204" pitchFamily="49" charset="0"/>
              </a:rPr>
              <a:t>Person</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98FB98"/>
                </a:solidFill>
                <a:latin typeface="Lucida Console" panose="020B0609040504020204" pitchFamily="49" charset="0"/>
              </a:rPr>
              <a:t># Public Properties</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$Name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Int32</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$Age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p:txBody>
      </p:sp>
    </p:spTree>
    <p:extLst>
      <p:ext uri="{BB962C8B-B14F-4D97-AF65-F5344CB8AC3E}">
        <p14:creationId xmlns:p14="http://schemas.microsoft.com/office/powerpoint/2010/main" val="326020069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D409D7-2A3D-4C69-B7B7-DA51C5A7CB5A}"/>
              </a:ext>
            </a:extLst>
          </p:cNvPr>
          <p:cNvSpPr>
            <a:spLocks noGrp="1"/>
          </p:cNvSpPr>
          <p:nvPr>
            <p:ph type="title"/>
          </p:nvPr>
        </p:nvSpPr>
        <p:spPr/>
        <p:txBody>
          <a:bodyPr/>
          <a:lstStyle/>
          <a:p>
            <a:r>
              <a:rPr lang="en-AU" dirty="0"/>
              <a:t>Class Syntax cont. (Continued)</a:t>
            </a:r>
            <a:endParaRPr lang="en-US" dirty="0"/>
          </a:p>
        </p:txBody>
      </p:sp>
      <p:sp>
        <p:nvSpPr>
          <p:cNvPr id="5" name="Text Placeholder 4">
            <a:extLst>
              <a:ext uri="{FF2B5EF4-FFF2-40B4-BE49-F238E27FC236}">
                <a16:creationId xmlns:a16="http://schemas.microsoft.com/office/drawing/2014/main" id="{72F85C38-F082-46E2-9FBD-72714B48C8AB}"/>
              </a:ext>
            </a:extLst>
          </p:cNvPr>
          <p:cNvSpPr>
            <a:spLocks noGrp="1"/>
          </p:cNvSpPr>
          <p:nvPr>
            <p:ph type="body" sz="quarter" idx="16"/>
          </p:nvPr>
        </p:nvSpPr>
        <p:spPr/>
        <p:txBody>
          <a:bodyPr>
            <a:normAutofit fontScale="92500"/>
          </a:bodyPr>
          <a:lstStyle/>
          <a:p>
            <a:pPr marL="0" indent="0">
              <a:buNone/>
            </a:pPr>
            <a:r>
              <a:rPr lang="en-US" dirty="0"/>
              <a:t>Add Properties (information)</a:t>
            </a:r>
          </a:p>
          <a:p>
            <a:r>
              <a:rPr lang="en-US" dirty="0"/>
              <a:t>Strongly type data if you want</a:t>
            </a:r>
          </a:p>
          <a:p>
            <a:pPr lvl="1"/>
            <a:r>
              <a:rPr lang="en-US" dirty="0"/>
              <a:t>Default is </a:t>
            </a:r>
            <a:r>
              <a:rPr lang="en-US" sz="2400" dirty="0">
                <a:solidFill>
                  <a:srgbClr val="696969"/>
                </a:solidFill>
                <a:latin typeface="Lucida Console" panose="020B0609040504020204" pitchFamily="49" charset="0"/>
              </a:rPr>
              <a:t>[</a:t>
            </a:r>
            <a:r>
              <a:rPr lang="en-US" sz="2400" dirty="0">
                <a:solidFill>
                  <a:srgbClr val="008272"/>
                </a:solidFill>
                <a:latin typeface="Lucida Console" panose="020B0609040504020204" pitchFamily="49" charset="0"/>
              </a:rPr>
              <a:t>Object</a:t>
            </a:r>
            <a:r>
              <a:rPr lang="en-US" sz="2400" dirty="0">
                <a:solidFill>
                  <a:srgbClr val="696969"/>
                </a:solidFill>
                <a:latin typeface="Lucida Console" panose="020B0609040504020204" pitchFamily="49" charset="0"/>
              </a:rPr>
              <a:t>]</a:t>
            </a:r>
            <a:r>
              <a:rPr lang="en-US" sz="2800" dirty="0"/>
              <a:t> </a:t>
            </a:r>
          </a:p>
          <a:p>
            <a:r>
              <a:rPr lang="en-US" dirty="0"/>
              <a:t>Variable will be the property name</a:t>
            </a:r>
          </a:p>
          <a:p>
            <a:endParaRPr lang="en-US" dirty="0"/>
          </a:p>
          <a:p>
            <a:pPr marL="0" indent="0">
              <a:buNone/>
            </a:pPr>
            <a:r>
              <a:rPr lang="en-US" dirty="0"/>
              <a:t>Add Methods (actions)</a:t>
            </a:r>
          </a:p>
          <a:p>
            <a:r>
              <a:rPr lang="en-US" dirty="0"/>
              <a:t>Strongly type return data if you have any</a:t>
            </a:r>
          </a:p>
          <a:p>
            <a:pPr lvl="1"/>
            <a:r>
              <a:rPr lang="en-US" dirty="0"/>
              <a:t>Default is </a:t>
            </a:r>
            <a:r>
              <a:rPr lang="en-US" sz="2400" dirty="0">
                <a:solidFill>
                  <a:srgbClr val="696969"/>
                </a:solidFill>
                <a:latin typeface="Lucida Console" panose="020B0609040504020204" pitchFamily="49" charset="0"/>
              </a:rPr>
              <a:t>[</a:t>
            </a:r>
            <a:r>
              <a:rPr lang="en-US" sz="2400" dirty="0">
                <a:solidFill>
                  <a:srgbClr val="008272"/>
                </a:solidFill>
                <a:latin typeface="Lucida Console" panose="020B0609040504020204" pitchFamily="49" charset="0"/>
              </a:rPr>
              <a:t>void</a:t>
            </a:r>
            <a:r>
              <a:rPr lang="en-US" sz="2400" dirty="0">
                <a:solidFill>
                  <a:srgbClr val="696969"/>
                </a:solidFill>
                <a:latin typeface="Lucida Console" panose="020B0609040504020204" pitchFamily="49" charset="0"/>
              </a:rPr>
              <a:t>]</a:t>
            </a:r>
          </a:p>
          <a:p>
            <a:r>
              <a:rPr lang="en-US" dirty="0"/>
              <a:t>Friendly name with Parenthesis</a:t>
            </a:r>
          </a:p>
          <a:p>
            <a:r>
              <a:rPr lang="en-US" dirty="0"/>
              <a:t>Must use “Return” to pass out data</a:t>
            </a:r>
          </a:p>
          <a:p>
            <a:endParaRPr lang="en-US" dirty="0"/>
          </a:p>
          <a:p>
            <a:endParaRPr lang="en-US" dirty="0"/>
          </a:p>
          <a:p>
            <a:endParaRPr lang="en-US" dirty="0"/>
          </a:p>
        </p:txBody>
      </p:sp>
      <p:sp>
        <p:nvSpPr>
          <p:cNvPr id="2" name="Picture Placeholder 1">
            <a:extLst>
              <a:ext uri="{FF2B5EF4-FFF2-40B4-BE49-F238E27FC236}">
                <a16:creationId xmlns:a16="http://schemas.microsoft.com/office/drawing/2014/main" id="{FE2F13C1-2995-4FBF-B39D-A1A0FA7FD4F8}"/>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sp>
        <p:nvSpPr>
          <p:cNvPr id="6" name="TextBox 5">
            <a:extLst>
              <a:ext uri="{FF2B5EF4-FFF2-40B4-BE49-F238E27FC236}">
                <a16:creationId xmlns:a16="http://schemas.microsoft.com/office/drawing/2014/main" id="{66CF26E4-AC1A-47B1-9DCC-8241729C0970}"/>
              </a:ext>
            </a:extLst>
          </p:cNvPr>
          <p:cNvSpPr txBox="1">
            <a:spLocks/>
          </p:cNvSpPr>
          <p:nvPr/>
        </p:nvSpPr>
        <p:spPr>
          <a:xfrm>
            <a:off x="5824750" y="1074510"/>
            <a:ext cx="5875867" cy="4708981"/>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solidFill>
                  <a:srgbClr val="E0FFFF"/>
                </a:solidFill>
                <a:latin typeface="Lucida Console" panose="020B0609040504020204" pitchFamily="49" charset="0"/>
              </a:rPr>
              <a:t>class</a:t>
            </a:r>
            <a:r>
              <a:rPr lang="en-US" sz="2000" dirty="0">
                <a:solidFill>
                  <a:srgbClr val="F5F5F5"/>
                </a:solidFill>
                <a:latin typeface="Lucida Console" panose="020B0609040504020204" pitchFamily="49" charset="0"/>
              </a:rPr>
              <a:t> </a:t>
            </a:r>
            <a:r>
              <a:rPr lang="en-US" sz="2000" dirty="0">
                <a:solidFill>
                  <a:srgbClr val="8FBC8F"/>
                </a:solidFill>
                <a:latin typeface="Lucida Console" panose="020B0609040504020204" pitchFamily="49" charset="0"/>
              </a:rPr>
              <a:t>Person</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98FB98"/>
                </a:solidFill>
                <a:latin typeface="Lucida Console" panose="020B0609040504020204" pitchFamily="49" charset="0"/>
              </a:rPr>
              <a:t># Public Properties</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$Name</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Int32</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$Age</a:t>
            </a:r>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98FB98"/>
                </a:solidFill>
                <a:latin typeface="Lucida Console" panose="020B0609040504020204" pitchFamily="49" charset="0"/>
              </a:rPr>
              <a:t>#public methods</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SaySomething</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return</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"Something!"</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 </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p:txBody>
      </p:sp>
      <p:pic>
        <p:nvPicPr>
          <p:cNvPr id="7" name="Picture 6">
            <a:extLst>
              <a:ext uri="{FF2B5EF4-FFF2-40B4-BE49-F238E27FC236}">
                <a16:creationId xmlns:a16="http://schemas.microsoft.com/office/drawing/2014/main" id="{5D81D083-C637-149A-CF97-99D283BC902B}"/>
              </a:ext>
            </a:extLst>
          </p:cNvPr>
          <p:cNvPicPr>
            <a:picLocks noChangeAspect="1"/>
          </p:cNvPicPr>
          <p:nvPr/>
        </p:nvPicPr>
        <p:blipFill>
          <a:blip r:embed="rId3"/>
          <a:stretch>
            <a:fillRect/>
          </a:stretch>
        </p:blipFill>
        <p:spPr>
          <a:xfrm>
            <a:off x="10586192" y="4516665"/>
            <a:ext cx="1114425" cy="1266825"/>
          </a:xfrm>
          <a:prstGeom prst="rect">
            <a:avLst/>
          </a:prstGeom>
        </p:spPr>
      </p:pic>
    </p:spTree>
    <p:extLst>
      <p:ext uri="{BB962C8B-B14F-4D97-AF65-F5344CB8AC3E}">
        <p14:creationId xmlns:p14="http://schemas.microsoft.com/office/powerpoint/2010/main" val="1220898103"/>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Creating an Instance of your Class</a:t>
            </a:r>
            <a:endParaRPr lang="en-AU" dirty="0"/>
          </a:p>
        </p:txBody>
      </p:sp>
      <p:sp>
        <p:nvSpPr>
          <p:cNvPr id="9" name="Content Placeholder 8">
            <a:extLst>
              <a:ext uri="{FF2B5EF4-FFF2-40B4-BE49-F238E27FC236}">
                <a16:creationId xmlns:a16="http://schemas.microsoft.com/office/drawing/2014/main" id="{37197925-0DBD-48BA-B593-A1E6205BFAFD}"/>
              </a:ext>
            </a:extLst>
          </p:cNvPr>
          <p:cNvSpPr>
            <a:spLocks noGrp="1"/>
          </p:cNvSpPr>
          <p:nvPr>
            <p:ph sz="quarter" idx="13"/>
          </p:nvPr>
        </p:nvSpPr>
        <p:spPr/>
        <p:txBody>
          <a:bodyPr/>
          <a:lstStyle/>
          <a:p>
            <a:r>
              <a:rPr lang="en-US" dirty="0"/>
              <a:t>New-Object</a:t>
            </a:r>
          </a:p>
          <a:p>
            <a:endParaRPr lang="en-US" dirty="0"/>
          </a:p>
          <a:p>
            <a:endParaRPr lang="en-US" dirty="0"/>
          </a:p>
          <a:p>
            <a:r>
              <a:rPr lang="en-US" dirty="0"/>
              <a:t>New-Object using a hash table</a:t>
            </a:r>
          </a:p>
          <a:p>
            <a:endParaRPr lang="en-US" dirty="0"/>
          </a:p>
          <a:p>
            <a:endParaRPr lang="en-US" dirty="0"/>
          </a:p>
          <a:p>
            <a:endParaRPr lang="en-US" sz="3200" dirty="0"/>
          </a:p>
          <a:p>
            <a:r>
              <a:rPr lang="en-US" dirty="0"/>
              <a:t>Default Constructor</a:t>
            </a:r>
          </a:p>
          <a:p>
            <a:endParaRPr lang="en-US" dirty="0"/>
          </a:p>
          <a:p>
            <a:endParaRPr lang="en-US" dirty="0"/>
          </a:p>
          <a:p>
            <a:endParaRPr lang="en-US" dirty="0"/>
          </a:p>
        </p:txBody>
      </p:sp>
      <p:sp>
        <p:nvSpPr>
          <p:cNvPr id="12" name="TextBox 11">
            <a:extLst>
              <a:ext uri="{FF2B5EF4-FFF2-40B4-BE49-F238E27FC236}">
                <a16:creationId xmlns:a16="http://schemas.microsoft.com/office/drawing/2014/main" id="{5A29C270-CBAD-4FF6-B4BD-C7AE1576EFB4}"/>
              </a:ext>
            </a:extLst>
          </p:cNvPr>
          <p:cNvSpPr txBox="1"/>
          <p:nvPr/>
        </p:nvSpPr>
        <p:spPr>
          <a:xfrm>
            <a:off x="655638" y="1788380"/>
            <a:ext cx="10880725" cy="923330"/>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New-Object</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-TypeName</a:t>
            </a:r>
            <a:r>
              <a:rPr lang="en-US" dirty="0">
                <a:solidFill>
                  <a:srgbClr val="F5F5F5"/>
                </a:solidFill>
                <a:latin typeface="Lucida Console" panose="020B0609040504020204" pitchFamily="49" charset="0"/>
              </a:rPr>
              <a:t> </a:t>
            </a:r>
            <a:r>
              <a:rPr lang="en-US" dirty="0">
                <a:solidFill>
                  <a:srgbClr val="EE82EE"/>
                </a:solidFill>
                <a:latin typeface="Lucida Console" panose="020B0609040504020204" pitchFamily="49" charset="0"/>
              </a:rPr>
              <a:t>Person</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name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"Kory"</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person</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age</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E4C4"/>
                </a:solidFill>
                <a:latin typeface="Lucida Console" panose="020B0609040504020204" pitchFamily="49" charset="0"/>
              </a:rPr>
              <a:t>28 </a:t>
            </a:r>
          </a:p>
        </p:txBody>
      </p:sp>
      <p:sp>
        <p:nvSpPr>
          <p:cNvPr id="14" name="TextBox 13">
            <a:extLst>
              <a:ext uri="{FF2B5EF4-FFF2-40B4-BE49-F238E27FC236}">
                <a16:creationId xmlns:a16="http://schemas.microsoft.com/office/drawing/2014/main" id="{93879C7C-5E6B-4CE5-8476-8FDC83573110}"/>
              </a:ext>
            </a:extLst>
          </p:cNvPr>
          <p:cNvSpPr txBox="1"/>
          <p:nvPr/>
        </p:nvSpPr>
        <p:spPr>
          <a:xfrm>
            <a:off x="655638" y="3169384"/>
            <a:ext cx="10880723" cy="1477328"/>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vals</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name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"Kory"</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age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E4C4"/>
                </a:solidFill>
                <a:latin typeface="Lucida Console" panose="020B0609040504020204" pitchFamily="49" charset="0"/>
              </a:rPr>
              <a:t>28</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a:t>
            </a:r>
          </a:p>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New-Object</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-TypeName</a:t>
            </a:r>
            <a:r>
              <a:rPr lang="en-US" dirty="0">
                <a:solidFill>
                  <a:srgbClr val="F5F5F5"/>
                </a:solidFill>
                <a:latin typeface="Lucida Console" panose="020B0609040504020204" pitchFamily="49" charset="0"/>
              </a:rPr>
              <a:t> </a:t>
            </a:r>
            <a:r>
              <a:rPr lang="en-US" dirty="0">
                <a:solidFill>
                  <a:srgbClr val="EE82EE"/>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-Property</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vals</a:t>
            </a:r>
            <a:r>
              <a:rPr lang="en-US" dirty="0">
                <a:solidFill>
                  <a:srgbClr val="F5F5F5"/>
                </a:solidFill>
                <a:latin typeface="Lucida Console" panose="020B0609040504020204" pitchFamily="49" charset="0"/>
              </a:rPr>
              <a:t> </a:t>
            </a:r>
          </a:p>
        </p:txBody>
      </p:sp>
      <p:sp>
        <p:nvSpPr>
          <p:cNvPr id="16" name="TextBox 15">
            <a:extLst>
              <a:ext uri="{FF2B5EF4-FFF2-40B4-BE49-F238E27FC236}">
                <a16:creationId xmlns:a16="http://schemas.microsoft.com/office/drawing/2014/main" id="{CE06D29D-A0D4-4AFE-8F00-0C6B88F46AA2}"/>
              </a:ext>
            </a:extLst>
          </p:cNvPr>
          <p:cNvSpPr txBox="1"/>
          <p:nvPr/>
        </p:nvSpPr>
        <p:spPr>
          <a:xfrm>
            <a:off x="655638" y="5212100"/>
            <a:ext cx="10880723" cy="923330"/>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new()</a:t>
            </a:r>
          </a:p>
          <a:p>
            <a:r>
              <a:rPr lang="en-US" dirty="0">
                <a:solidFill>
                  <a:srgbClr val="FF4500"/>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name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"Kory"</a:t>
            </a:r>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person</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age</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E4C4"/>
                </a:solidFill>
                <a:latin typeface="Lucida Console" panose="020B0609040504020204" pitchFamily="49" charset="0"/>
              </a:rPr>
              <a:t>28</a:t>
            </a:r>
            <a:r>
              <a:rPr lang="en-US" dirty="0">
                <a:solidFill>
                  <a:srgbClr val="F5F5F5"/>
                </a:solidFill>
                <a:latin typeface="Lucida Console" panose="020B0609040504020204" pitchFamily="49" charset="0"/>
              </a:rPr>
              <a:t> </a:t>
            </a:r>
          </a:p>
        </p:txBody>
      </p:sp>
      <p:sp>
        <p:nvSpPr>
          <p:cNvPr id="17" name="Speech Bubble: Rectangle 16">
            <a:extLst>
              <a:ext uri="{FF2B5EF4-FFF2-40B4-BE49-F238E27FC236}">
                <a16:creationId xmlns:a16="http://schemas.microsoft.com/office/drawing/2014/main" id="{BF4F8A9D-456C-4804-BD49-1A124B0511AC}"/>
              </a:ext>
            </a:extLst>
          </p:cNvPr>
          <p:cNvSpPr/>
          <p:nvPr/>
        </p:nvSpPr>
        <p:spPr>
          <a:xfrm>
            <a:off x="8329598" y="5379470"/>
            <a:ext cx="2590800" cy="848294"/>
          </a:xfrm>
          <a:prstGeom prst="wedgeRectCallout">
            <a:avLst>
              <a:gd name="adj1" fmla="val -159166"/>
              <a:gd name="adj2" fmla="val 14003"/>
            </a:avLst>
          </a:prstGeom>
          <a:solidFill>
            <a:schemeClr val="accent4"/>
          </a:solidFill>
          <a:ln w="6350" cap="flat" cmpd="sng" algn="ctr">
            <a:solidFill>
              <a:schemeClr val="accent4"/>
            </a:solidFill>
            <a:prstDash val="solid"/>
            <a:miter lim="800000"/>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t>Syntax covered later in this module.</a:t>
            </a:r>
          </a:p>
        </p:txBody>
      </p:sp>
      <p:pic>
        <p:nvPicPr>
          <p:cNvPr id="4" name="Picture 3">
            <a:extLst>
              <a:ext uri="{FF2B5EF4-FFF2-40B4-BE49-F238E27FC236}">
                <a16:creationId xmlns:a16="http://schemas.microsoft.com/office/drawing/2014/main" id="{800DA80F-A0CB-BC85-7F15-66D5A7EDB505}"/>
              </a:ext>
            </a:extLst>
          </p:cNvPr>
          <p:cNvPicPr>
            <a:picLocks noChangeAspect="1"/>
          </p:cNvPicPr>
          <p:nvPr/>
        </p:nvPicPr>
        <p:blipFill>
          <a:blip r:embed="rId3"/>
          <a:stretch>
            <a:fillRect/>
          </a:stretch>
        </p:blipFill>
        <p:spPr>
          <a:xfrm>
            <a:off x="10421936" y="292718"/>
            <a:ext cx="1114425" cy="1266825"/>
          </a:xfrm>
          <a:prstGeom prst="rect">
            <a:avLst/>
          </a:prstGeom>
        </p:spPr>
      </p:pic>
    </p:spTree>
    <p:extLst>
      <p:ext uri="{BB962C8B-B14F-4D97-AF65-F5344CB8AC3E}">
        <p14:creationId xmlns:p14="http://schemas.microsoft.com/office/powerpoint/2010/main" val="71058302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grpId="0" nodeType="afterEffect">
                                  <p:stCondLst>
                                    <p:cond delay="150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HIDDEN - Slide166">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1"/>
            </p:custDataLst>
          </p:nvPr>
        </p:nvSpPr>
        <p:spPr/>
        <p:txBody>
          <a:bodyPr/>
          <a:lstStyle/>
          <a:p>
            <a:r>
              <a:rPr lang="en-US"/>
              <a:t>Doing More With Methods</a:t>
            </a:r>
            <a:endParaRPr lang="en-US" dirty="0"/>
          </a:p>
        </p:txBody>
      </p:sp>
    </p:spTree>
    <p:extLst>
      <p:ext uri="{BB962C8B-B14F-4D97-AF65-F5344CB8AC3E}">
        <p14:creationId xmlns:p14="http://schemas.microsoft.com/office/powerpoint/2010/main" val="1517289038"/>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E709A50-6BD6-4198-85CA-489E968D72AA}"/>
              </a:ext>
            </a:extLst>
          </p:cNvPr>
          <p:cNvSpPr>
            <a:spLocks noGrp="1"/>
          </p:cNvSpPr>
          <p:nvPr>
            <p:ph type="title"/>
          </p:nvPr>
        </p:nvSpPr>
        <p:spPr/>
        <p:txBody>
          <a:bodyPr/>
          <a:lstStyle/>
          <a:p>
            <a:r>
              <a:rPr lang="en-US"/>
              <a:t>Class and their methods</a:t>
            </a:r>
          </a:p>
        </p:txBody>
      </p:sp>
      <p:sp>
        <p:nvSpPr>
          <p:cNvPr id="5" name="Text Placeholder 4">
            <a:extLst>
              <a:ext uri="{FF2B5EF4-FFF2-40B4-BE49-F238E27FC236}">
                <a16:creationId xmlns:a16="http://schemas.microsoft.com/office/drawing/2014/main" id="{6E12D647-B24B-4D6E-B7C3-E8C8AFD01657}"/>
              </a:ext>
            </a:extLst>
          </p:cNvPr>
          <p:cNvSpPr>
            <a:spLocks noGrp="1"/>
          </p:cNvSpPr>
          <p:nvPr>
            <p:ph sz="quarter" idx="13"/>
          </p:nvPr>
        </p:nvSpPr>
        <p:spPr/>
        <p:txBody>
          <a:bodyPr/>
          <a:lstStyle/>
          <a:p>
            <a:endParaRPr lang="en-US" dirty="0"/>
          </a:p>
          <a:p>
            <a:r>
              <a:rPr lang="en-US" dirty="0"/>
              <a:t>Methods can be declared within a class</a:t>
            </a:r>
          </a:p>
          <a:p>
            <a:pPr lvl="1"/>
            <a:r>
              <a:rPr lang="en-US" dirty="0"/>
              <a:t>Method can than be called just like a normal object</a:t>
            </a:r>
          </a:p>
          <a:p>
            <a:endParaRPr lang="en-US" dirty="0"/>
          </a:p>
          <a:p>
            <a:r>
              <a:rPr lang="en-US" dirty="0"/>
              <a:t>A method makes it possible to execute a piece of code from the class</a:t>
            </a:r>
          </a:p>
          <a:p>
            <a:endParaRPr lang="en-US" dirty="0"/>
          </a:p>
          <a:p>
            <a:r>
              <a:rPr lang="en-US" dirty="0"/>
              <a:t>Classes can declare multiple methods to </a:t>
            </a:r>
            <a:r>
              <a:rPr lang="en-US" b="1" dirty="0"/>
              <a:t>overload</a:t>
            </a:r>
            <a:r>
              <a:rPr lang="en-US" dirty="0"/>
              <a:t> them </a:t>
            </a:r>
          </a:p>
        </p:txBody>
      </p:sp>
    </p:spTree>
    <p:extLst>
      <p:ext uri="{BB962C8B-B14F-4D97-AF65-F5344CB8AC3E}">
        <p14:creationId xmlns:p14="http://schemas.microsoft.com/office/powerpoint/2010/main" val="2684056388"/>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Methods with Parameters</a:t>
            </a:r>
          </a:p>
        </p:txBody>
      </p:sp>
      <p:sp>
        <p:nvSpPr>
          <p:cNvPr id="8" name="Subtitle 7">
            <a:extLst>
              <a:ext uri="{FF2B5EF4-FFF2-40B4-BE49-F238E27FC236}">
                <a16:creationId xmlns:a16="http://schemas.microsoft.com/office/drawing/2014/main" id="{645525D6-0DD5-43FA-BE81-3F17CBE0BF08}"/>
              </a:ext>
            </a:extLst>
          </p:cNvPr>
          <p:cNvSpPr>
            <a:spLocks noGrp="1"/>
          </p:cNvSpPr>
          <p:nvPr>
            <p:ph type="subTitle" idx="1"/>
          </p:nvPr>
        </p:nvSpPr>
        <p:spPr/>
        <p:txBody>
          <a:bodyPr/>
          <a:lstStyle/>
          <a:p>
            <a:r>
              <a:rPr lang="en-US" dirty="0"/>
              <a:t>Param() is not allowed in a class method</a:t>
            </a:r>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sz="quarter" idx="13"/>
          </p:nvPr>
        </p:nvSpPr>
        <p:spPr/>
        <p:txBody>
          <a:bodyPr/>
          <a:lstStyle/>
          <a:p>
            <a:r>
              <a:rPr lang="en-US" dirty="0"/>
              <a:t>Listed inside the parenthesis next to the name</a:t>
            </a:r>
          </a:p>
          <a:p>
            <a:endParaRPr lang="en-US" dirty="0"/>
          </a:p>
          <a:p>
            <a:endParaRPr lang="en-US" dirty="0"/>
          </a:p>
          <a:p>
            <a:endParaRPr lang="en-US" dirty="0"/>
          </a:p>
          <a:p>
            <a:r>
              <a:rPr lang="en-US" dirty="0"/>
              <a:t>Supports strong typing</a:t>
            </a:r>
          </a:p>
          <a:p>
            <a:endParaRPr lang="en-US" dirty="0"/>
          </a:p>
          <a:p>
            <a:r>
              <a:rPr lang="en-US" dirty="0"/>
              <a:t>Used like any other method</a:t>
            </a:r>
          </a:p>
          <a:p>
            <a:endParaRPr lang="en-US" dirty="0"/>
          </a:p>
        </p:txBody>
      </p:sp>
      <p:sp>
        <p:nvSpPr>
          <p:cNvPr id="18" name="TextBox 17">
            <a:extLst>
              <a:ext uri="{FF2B5EF4-FFF2-40B4-BE49-F238E27FC236}">
                <a16:creationId xmlns:a16="http://schemas.microsoft.com/office/drawing/2014/main" id="{5173B1B8-9398-463A-A853-6D4D5B2563BA}"/>
              </a:ext>
            </a:extLst>
          </p:cNvPr>
          <p:cNvSpPr txBox="1"/>
          <p:nvPr/>
        </p:nvSpPr>
        <p:spPr>
          <a:xfrm>
            <a:off x="655638" y="1847671"/>
            <a:ext cx="10880723" cy="1200329"/>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SaySomething</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$something</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return</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a:t>
            </a:r>
            <a:r>
              <a:rPr lang="en-US" dirty="0">
                <a:solidFill>
                  <a:srgbClr val="FF4500"/>
                </a:solidFill>
                <a:latin typeface="Lucida Console" panose="020B0609040504020204" pitchFamily="49" charset="0"/>
              </a:rPr>
              <a:t>$Something</a:t>
            </a:r>
            <a:r>
              <a:rPr lang="en-US" dirty="0">
                <a:solidFill>
                  <a:srgbClr val="DB7093"/>
                </a:solidFill>
                <a:latin typeface="Lucida Console" panose="020B0609040504020204" pitchFamily="49" charset="0"/>
              </a:rPr>
              <a: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p:txBody>
      </p:sp>
      <p:sp>
        <p:nvSpPr>
          <p:cNvPr id="12" name="TextBox 11">
            <a:extLst>
              <a:ext uri="{FF2B5EF4-FFF2-40B4-BE49-F238E27FC236}">
                <a16:creationId xmlns:a16="http://schemas.microsoft.com/office/drawing/2014/main" id="{7FEDCD3B-6F87-4F67-8BF6-3622D220FF4B}"/>
              </a:ext>
            </a:extLst>
          </p:cNvPr>
          <p:cNvSpPr txBox="1"/>
          <p:nvPr/>
        </p:nvSpPr>
        <p:spPr>
          <a:xfrm>
            <a:off x="655638" y="4572000"/>
            <a:ext cx="10880725" cy="646331"/>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t> </a:t>
            </a:r>
            <a:r>
              <a:rPr lang="en-US" dirty="0">
                <a:solidFill>
                  <a:srgbClr val="FF4500"/>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SaySomething(</a:t>
            </a:r>
            <a:r>
              <a:rPr lang="en-US" dirty="0">
                <a:solidFill>
                  <a:srgbClr val="DB7093"/>
                </a:solidFill>
                <a:latin typeface="Lucida Console" panose="020B0609040504020204" pitchFamily="49" charset="0"/>
              </a:rPr>
              <a:t>"That was so funny"</a:t>
            </a:r>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&gt;That was so funny! </a:t>
            </a:r>
          </a:p>
        </p:txBody>
      </p:sp>
      <p:sp>
        <p:nvSpPr>
          <p:cNvPr id="13" name="TextBox 12">
            <a:extLst>
              <a:ext uri="{FF2B5EF4-FFF2-40B4-BE49-F238E27FC236}">
                <a16:creationId xmlns:a16="http://schemas.microsoft.com/office/drawing/2014/main" id="{0962A26F-B7EC-4CF6-AAA6-85E7F1FB2436}"/>
              </a:ext>
            </a:extLst>
          </p:cNvPr>
          <p:cNvSpPr txBox="1"/>
          <p:nvPr/>
        </p:nvSpPr>
        <p:spPr>
          <a:xfrm>
            <a:off x="655638" y="3657600"/>
            <a:ext cx="10880723" cy="369332"/>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defTabSz="914400">
              <a:defRPr/>
            </a:pPr>
            <a:r>
              <a:rPr lang="en-US" dirty="0"/>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SaySomething</a:t>
            </a:r>
            <a:r>
              <a:rPr lang="en-US" dirty="0">
                <a:solidFill>
                  <a:srgbClr val="F5F5F5"/>
                </a:solidFill>
                <a:latin typeface="Lucida Console" panose="020B0609040504020204" pitchFamily="49" charset="0"/>
              </a:rPr>
              <a:t>(</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a:solidFill>
                  <a:srgbClr val="FF4500"/>
                </a:solidFill>
                <a:latin typeface="Lucida Console" panose="020B0609040504020204" pitchFamily="49" charset="0"/>
              </a:rPr>
              <a:t>$something</a:t>
            </a:r>
            <a:r>
              <a:rPr lang="en-US" dirty="0">
                <a:solidFill>
                  <a:srgbClr val="F5F5F5"/>
                </a:solidFill>
                <a:latin typeface="Lucida Console" panose="020B0609040504020204" pitchFamily="49" charset="0"/>
              </a:rPr>
              <a:t>)</a:t>
            </a:r>
          </a:p>
        </p:txBody>
      </p:sp>
      <p:pic>
        <p:nvPicPr>
          <p:cNvPr id="4" name="Picture 3">
            <a:extLst>
              <a:ext uri="{FF2B5EF4-FFF2-40B4-BE49-F238E27FC236}">
                <a16:creationId xmlns:a16="http://schemas.microsoft.com/office/drawing/2014/main" id="{CD9607D1-D12D-FBCB-1B41-C0A3271C3664}"/>
              </a:ext>
            </a:extLst>
          </p:cNvPr>
          <p:cNvPicPr>
            <a:picLocks noChangeAspect="1"/>
          </p:cNvPicPr>
          <p:nvPr/>
        </p:nvPicPr>
        <p:blipFill>
          <a:blip r:embed="rId3"/>
          <a:stretch>
            <a:fillRect/>
          </a:stretch>
        </p:blipFill>
        <p:spPr>
          <a:xfrm>
            <a:off x="10415009" y="267641"/>
            <a:ext cx="1114425" cy="1266825"/>
          </a:xfrm>
          <a:prstGeom prst="rect">
            <a:avLst/>
          </a:prstGeom>
        </p:spPr>
      </p:pic>
    </p:spTree>
    <p:extLst>
      <p:ext uri="{BB962C8B-B14F-4D97-AF65-F5344CB8AC3E}">
        <p14:creationId xmlns:p14="http://schemas.microsoft.com/office/powerpoint/2010/main" val="134131786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Overloading a Method</a:t>
            </a:r>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type="body" sz="quarter" idx="16"/>
          </p:nvPr>
        </p:nvSpPr>
        <p:spPr/>
        <p:txBody>
          <a:bodyPr/>
          <a:lstStyle/>
          <a:p>
            <a:r>
              <a:rPr lang="en-US" b="1" dirty="0"/>
              <a:t>Need multiple input variations for the same method?</a:t>
            </a:r>
          </a:p>
          <a:p>
            <a:endParaRPr lang="en-US" dirty="0"/>
          </a:p>
          <a:p>
            <a:r>
              <a:rPr lang="en-US" dirty="0"/>
              <a:t>Define multiple methods with the same name, but different parameters</a:t>
            </a:r>
          </a:p>
          <a:p>
            <a:endParaRPr lang="en-US" dirty="0"/>
          </a:p>
          <a:p>
            <a:r>
              <a:rPr lang="en-US" dirty="0"/>
              <a:t>Think of it like parameter sets for methods</a:t>
            </a:r>
          </a:p>
        </p:txBody>
      </p:sp>
      <p:sp>
        <p:nvSpPr>
          <p:cNvPr id="8" name="Picture Placeholder 7">
            <a:extLst>
              <a:ext uri="{FF2B5EF4-FFF2-40B4-BE49-F238E27FC236}">
                <a16:creationId xmlns:a16="http://schemas.microsoft.com/office/drawing/2014/main" id="{32BC455D-D326-4C5A-ABDF-5F40B1434021}"/>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sp>
        <p:nvSpPr>
          <p:cNvPr id="18" name="TextBox 17">
            <a:extLst>
              <a:ext uri="{FF2B5EF4-FFF2-40B4-BE49-F238E27FC236}">
                <a16:creationId xmlns:a16="http://schemas.microsoft.com/office/drawing/2014/main" id="{5173B1B8-9398-463A-A853-6D4D5B2563BA}"/>
              </a:ext>
            </a:extLst>
          </p:cNvPr>
          <p:cNvSpPr txBox="1">
            <a:spLocks/>
          </p:cNvSpPr>
          <p:nvPr/>
        </p:nvSpPr>
        <p:spPr>
          <a:xfrm>
            <a:off x="5824750" y="766733"/>
            <a:ext cx="5875867" cy="5324535"/>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SaySomething</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$something</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return</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a:t>
            </a:r>
            <a:r>
              <a:rPr lang="en-US" sz="2000" dirty="0">
                <a:solidFill>
                  <a:srgbClr val="FF4500"/>
                </a:solidFill>
                <a:latin typeface="Lucida Console" panose="020B0609040504020204" pitchFamily="49" charset="0"/>
              </a:rPr>
              <a:t>$Something</a:t>
            </a:r>
            <a:r>
              <a:rPr lang="en-US" sz="2000" dirty="0">
                <a:solidFill>
                  <a:srgbClr val="DB7093"/>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SaySomething</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return</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"Something!"</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&gt; </a:t>
            </a:r>
            <a:r>
              <a:rPr lang="en-US" sz="2000" dirty="0">
                <a:solidFill>
                  <a:srgbClr val="FF4500"/>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SaySomething()</a:t>
            </a:r>
          </a:p>
          <a:p>
            <a:r>
              <a:rPr lang="en-US" sz="2000" dirty="0">
                <a:solidFill>
                  <a:srgbClr val="D3D3D3"/>
                </a:solidFill>
                <a:latin typeface="Lucida Console" panose="020B0609040504020204" pitchFamily="49" charset="0"/>
              </a:rPr>
              <a:t>&gt; </a:t>
            </a:r>
            <a:r>
              <a:rPr lang="en-US" sz="2000" dirty="0">
                <a:solidFill>
                  <a:srgbClr val="EE82EE"/>
                </a:solidFill>
                <a:latin typeface="Lucida Console" panose="020B0609040504020204" pitchFamily="49" charset="0"/>
              </a:rPr>
              <a:t>Something! </a:t>
            </a:r>
          </a:p>
          <a:p>
            <a:endParaRPr lang="en-US" sz="2000" dirty="0">
              <a:solidFill>
                <a:srgbClr val="EE82EE"/>
              </a:solidFill>
              <a:latin typeface="Lucida Console" panose="020B0609040504020204" pitchFamily="49" charset="0"/>
            </a:endParaRPr>
          </a:p>
          <a:p>
            <a:r>
              <a:rPr lang="en-US" sz="2000" dirty="0">
                <a:solidFill>
                  <a:srgbClr val="F5F5F5"/>
                </a:solidFill>
                <a:latin typeface="Lucida Console" panose="020B0609040504020204" pitchFamily="49" charset="0"/>
              </a:rPr>
              <a:t>&gt; </a:t>
            </a:r>
            <a:r>
              <a:rPr lang="en-US" sz="2000" dirty="0">
                <a:solidFill>
                  <a:srgbClr val="FF4500"/>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SaySomething(</a:t>
            </a:r>
            <a:r>
              <a:rPr lang="en-US" sz="2000" dirty="0">
                <a:solidFill>
                  <a:srgbClr val="DB7093"/>
                </a:solidFill>
                <a:latin typeface="Lucida Console" panose="020B0609040504020204" pitchFamily="49" charset="0"/>
              </a:rPr>
              <a:t>"That was so funny"</a:t>
            </a:r>
            <a:r>
              <a:rPr lang="en-US" sz="2000" dirty="0">
                <a:solidFill>
                  <a:srgbClr val="F5F5F5"/>
                </a:solidFill>
                <a:latin typeface="Lucida Console" panose="020B0609040504020204" pitchFamily="49" charset="0"/>
              </a:rPr>
              <a:t>) </a:t>
            </a:r>
          </a:p>
          <a:p>
            <a:r>
              <a:rPr lang="en-US" sz="2000" dirty="0">
                <a:solidFill>
                  <a:srgbClr val="D3D3D3"/>
                </a:solidFill>
                <a:latin typeface="Lucida Console" panose="020B0609040504020204" pitchFamily="49" charset="0"/>
              </a:rPr>
              <a:t>&gt; </a:t>
            </a:r>
            <a:r>
              <a:rPr lang="en-US" sz="2000" dirty="0">
                <a:solidFill>
                  <a:srgbClr val="EE82EE"/>
                </a:solidFill>
                <a:latin typeface="Lucida Console" panose="020B0609040504020204" pitchFamily="49" charset="0"/>
              </a:rPr>
              <a:t>That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was</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so</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funny!</a:t>
            </a:r>
            <a:r>
              <a:rPr lang="en-US" sz="2000" dirty="0">
                <a:solidFill>
                  <a:srgbClr val="F5F5F5"/>
                </a:solidFill>
                <a:latin typeface="Lucida Console" panose="020B0609040504020204" pitchFamily="49" charset="0"/>
              </a:rPr>
              <a:t>  </a:t>
            </a:r>
          </a:p>
          <a:p>
            <a:endParaRPr lang="en-US" sz="2000" dirty="0">
              <a:solidFill>
                <a:srgbClr val="EE82EE"/>
              </a:solidFill>
              <a:latin typeface="Lucida Console" panose="020B0609040504020204" pitchFamily="49" charset="0"/>
            </a:endParaRPr>
          </a:p>
        </p:txBody>
      </p:sp>
      <p:pic>
        <p:nvPicPr>
          <p:cNvPr id="7" name="Picture 6">
            <a:extLst>
              <a:ext uri="{FF2B5EF4-FFF2-40B4-BE49-F238E27FC236}">
                <a16:creationId xmlns:a16="http://schemas.microsoft.com/office/drawing/2014/main" id="{EFA55601-241A-2449-EC6C-A1B5BFA4BC4F}"/>
              </a:ext>
            </a:extLst>
          </p:cNvPr>
          <p:cNvPicPr>
            <a:picLocks noChangeAspect="1"/>
          </p:cNvPicPr>
          <p:nvPr/>
        </p:nvPicPr>
        <p:blipFill>
          <a:blip r:embed="rId3"/>
          <a:stretch>
            <a:fillRect/>
          </a:stretch>
        </p:blipFill>
        <p:spPr>
          <a:xfrm>
            <a:off x="3893820" y="5429105"/>
            <a:ext cx="1114425" cy="1266825"/>
          </a:xfrm>
          <a:prstGeom prst="rect">
            <a:avLst/>
          </a:prstGeom>
        </p:spPr>
      </p:pic>
    </p:spTree>
    <p:extLst>
      <p:ext uri="{BB962C8B-B14F-4D97-AF65-F5344CB8AC3E}">
        <p14:creationId xmlns:p14="http://schemas.microsoft.com/office/powerpoint/2010/main" val="852760395"/>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650F02-1257-426C-8D56-254456929715}"/>
              </a:ext>
            </a:extLst>
          </p:cNvPr>
          <p:cNvSpPr>
            <a:spLocks noGrp="1"/>
          </p:cNvSpPr>
          <p:nvPr>
            <p:ph type="title"/>
          </p:nvPr>
        </p:nvSpPr>
        <p:spPr>
          <a:prstGeom prst="rect">
            <a:avLst/>
          </a:prstGeom>
          <a:solidFill>
            <a:schemeClr val="bg1"/>
          </a:solidFill>
          <a:ln>
            <a:noFill/>
          </a:ln>
        </p:spPr>
        <p:txBody>
          <a:bodyPr wrap="square" anchor="t">
            <a:normAutofit/>
          </a:bodyPr>
          <a:lstStyle/>
          <a:p>
            <a:r>
              <a:rPr lang="en-AU"/>
              <a:t>$This</a:t>
            </a:r>
            <a:endParaRPr lang="en-US"/>
          </a:p>
        </p:txBody>
      </p:sp>
      <p:sp>
        <p:nvSpPr>
          <p:cNvPr id="11" name="Subtitle 2">
            <a:extLst>
              <a:ext uri="{FF2B5EF4-FFF2-40B4-BE49-F238E27FC236}">
                <a16:creationId xmlns:a16="http://schemas.microsoft.com/office/drawing/2014/main" id="{022A95E9-AAEF-4B10-842E-C72A4BFDDF14}"/>
              </a:ext>
            </a:extLst>
          </p:cNvPr>
          <p:cNvSpPr>
            <a:spLocks noGrp="1"/>
          </p:cNvSpPr>
          <p:nvPr>
            <p:ph type="subTitle" idx="1"/>
          </p:nvPr>
        </p:nvSpPr>
        <p:spPr/>
        <p:txBody>
          <a:bodyPr/>
          <a:lstStyle/>
          <a:p>
            <a:endParaRPr lang="en-US"/>
          </a:p>
        </p:txBody>
      </p:sp>
      <p:graphicFrame>
        <p:nvGraphicFramePr>
          <p:cNvPr id="6" name="Content Placeholder 3">
            <a:extLst>
              <a:ext uri="{FF2B5EF4-FFF2-40B4-BE49-F238E27FC236}">
                <a16:creationId xmlns:a16="http://schemas.microsoft.com/office/drawing/2014/main" id="{DA29A5E2-2A92-4D6B-934C-18F247601E96}"/>
              </a:ext>
            </a:extLst>
          </p:cNvPr>
          <p:cNvGraphicFramePr>
            <a:graphicFrameLocks noGrp="1"/>
          </p:cNvGraphicFramePr>
          <p:nvPr>
            <p:ph sz="quarter" idx="13"/>
            <p:extLst>
              <p:ext uri="{D42A27DB-BD31-4B8C-83A1-F6EECF244321}">
                <p14:modId xmlns:p14="http://schemas.microsoft.com/office/powerpoint/2010/main" val="4013504516"/>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633589"/>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$This – example with Methods</a:t>
            </a:r>
            <a:endParaRPr lang="en-AU" dirty="0"/>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type="body" sz="quarter" idx="16"/>
          </p:nvPr>
        </p:nvSpPr>
        <p:spPr/>
        <p:txBody>
          <a:bodyPr/>
          <a:lstStyle/>
          <a:p>
            <a:pPr marL="0" indent="0">
              <a:buNone/>
            </a:pPr>
            <a:endParaRPr lang="en-US" dirty="0"/>
          </a:p>
          <a:p>
            <a:pPr marL="0" indent="0">
              <a:buNone/>
            </a:pPr>
            <a:r>
              <a:rPr lang="en-US" dirty="0"/>
              <a:t>SaySomething($something)</a:t>
            </a:r>
          </a:p>
          <a:p>
            <a:pPr lvl="1"/>
            <a:r>
              <a:rPr lang="en-US" dirty="0"/>
              <a:t>Will return its input</a:t>
            </a:r>
          </a:p>
          <a:p>
            <a:pPr lvl="1"/>
            <a:endParaRPr lang="en-US" dirty="0"/>
          </a:p>
          <a:p>
            <a:pPr marL="0" indent="0">
              <a:buNone/>
            </a:pPr>
            <a:r>
              <a:rPr lang="en-US" dirty="0"/>
              <a:t>SaySomething()</a:t>
            </a:r>
          </a:p>
          <a:p>
            <a:pPr lvl="1"/>
            <a:r>
              <a:rPr lang="en-US" dirty="0"/>
              <a:t>Just returns “Something!”</a:t>
            </a:r>
          </a:p>
          <a:p>
            <a:pPr marL="0" indent="0">
              <a:buNone/>
            </a:pPr>
            <a:endParaRPr lang="en-US" dirty="0"/>
          </a:p>
        </p:txBody>
      </p:sp>
      <p:sp>
        <p:nvSpPr>
          <p:cNvPr id="3" name="Picture Placeholder 2">
            <a:extLst>
              <a:ext uri="{FF2B5EF4-FFF2-40B4-BE49-F238E27FC236}">
                <a16:creationId xmlns:a16="http://schemas.microsoft.com/office/drawing/2014/main" id="{EE68FA4B-89D8-43B5-86D9-E981856B4ADE}"/>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sp>
        <p:nvSpPr>
          <p:cNvPr id="9" name="TextBox 8">
            <a:extLst>
              <a:ext uri="{FF2B5EF4-FFF2-40B4-BE49-F238E27FC236}">
                <a16:creationId xmlns:a16="http://schemas.microsoft.com/office/drawing/2014/main" id="{5E7AFE6F-53F2-4749-8BEF-853A7851C59F}"/>
              </a:ext>
            </a:extLst>
          </p:cNvPr>
          <p:cNvSpPr txBox="1">
            <a:spLocks/>
          </p:cNvSpPr>
          <p:nvPr/>
        </p:nvSpPr>
        <p:spPr>
          <a:xfrm>
            <a:off x="5824750" y="766733"/>
            <a:ext cx="5875867" cy="5324535"/>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nchor="t">
            <a:spAutoFit/>
          </a:bodyPr>
          <a:lstStyle/>
          <a:p>
            <a:r>
              <a:rPr lang="en-US" sz="2000" dirty="0">
                <a:solidFill>
                  <a:srgbClr val="E0FFFF"/>
                </a:solidFill>
                <a:latin typeface="Lucida Console"/>
              </a:rPr>
              <a:t>Class</a:t>
            </a:r>
            <a:r>
              <a:rPr lang="en-US" sz="2000" dirty="0">
                <a:solidFill>
                  <a:srgbClr val="F5F5F5"/>
                </a:solidFill>
                <a:latin typeface="Lucida Console"/>
              </a:rPr>
              <a:t> </a:t>
            </a:r>
            <a:r>
              <a:rPr lang="en-US" sz="2000" dirty="0">
                <a:solidFill>
                  <a:srgbClr val="8FBC8F"/>
                </a:solidFill>
                <a:latin typeface="Lucida Console"/>
              </a:rPr>
              <a:t>Person</a:t>
            </a:r>
            <a:endParaRPr lang="en-US" sz="2000" dirty="0">
              <a:solidFill>
                <a:srgbClr val="F5F5F5"/>
              </a:solidFill>
              <a:latin typeface="Lucida Console"/>
            </a:endParaRPr>
          </a:p>
          <a:p>
            <a:r>
              <a:rPr lang="en-US" sz="2000" dirty="0">
                <a:solidFill>
                  <a:srgbClr val="F5F5F5"/>
                </a:solidFill>
                <a:latin typeface="Lucida Console"/>
              </a:rPr>
              <a:t>{</a:t>
            </a:r>
          </a:p>
          <a:p>
            <a:r>
              <a:rPr lang="en-US" sz="2000" dirty="0">
                <a:solidFill>
                  <a:srgbClr val="D3D3D3"/>
                </a:solidFill>
                <a:latin typeface="Lucida Console"/>
              </a:rPr>
              <a:t>   [</a:t>
            </a:r>
            <a:r>
              <a:rPr lang="en-US" sz="2000" dirty="0">
                <a:solidFill>
                  <a:srgbClr val="8FBC8F"/>
                </a:solidFill>
                <a:latin typeface="Lucida Console"/>
              </a:rPr>
              <a:t>String</a:t>
            </a:r>
            <a:r>
              <a:rPr lang="en-US" sz="2000" dirty="0">
                <a:solidFill>
                  <a:srgbClr val="D3D3D3"/>
                </a:solidFill>
                <a:latin typeface="Lucida Console"/>
              </a:rPr>
              <a:t>]</a:t>
            </a:r>
            <a:r>
              <a:rPr lang="en-US" sz="2000" dirty="0">
                <a:solidFill>
                  <a:srgbClr val="EE82EE"/>
                </a:solidFill>
                <a:latin typeface="Lucida Console"/>
              </a:rPr>
              <a:t>SaySomething</a:t>
            </a:r>
            <a:r>
              <a:rPr lang="en-US" sz="2000" dirty="0">
                <a:solidFill>
                  <a:srgbClr val="F5F5F5"/>
                </a:solidFill>
                <a:latin typeface="Lucida Console"/>
              </a:rPr>
              <a:t>(</a:t>
            </a:r>
            <a:r>
              <a:rPr lang="en-US" sz="2000" dirty="0">
                <a:solidFill>
                  <a:srgbClr val="FF4500"/>
                </a:solidFill>
                <a:latin typeface="Lucida Console"/>
              </a:rPr>
              <a:t>$something</a:t>
            </a:r>
            <a:r>
              <a:rPr lang="en-US" sz="2000" dirty="0">
                <a:solidFill>
                  <a:srgbClr val="F5F5F5"/>
                </a:solidFill>
                <a:latin typeface="Lucida Console"/>
              </a:rPr>
              <a:t>)</a:t>
            </a:r>
          </a:p>
          <a:p>
            <a:pPr marL="457200" lvl="1"/>
            <a:r>
              <a:rPr lang="en-US" sz="2000" dirty="0">
                <a:solidFill>
                  <a:srgbClr val="F5F5F5"/>
                </a:solidFill>
                <a:latin typeface="Lucida Console"/>
              </a:rPr>
              <a:t>{</a:t>
            </a:r>
          </a:p>
          <a:p>
            <a:pPr marL="457200" lvl="1"/>
            <a:r>
              <a:rPr lang="en-US" sz="2000" dirty="0">
                <a:solidFill>
                  <a:srgbClr val="F5F5F5"/>
                </a:solidFill>
                <a:latin typeface="Lucida Console"/>
              </a:rPr>
              <a:t>    </a:t>
            </a:r>
            <a:r>
              <a:rPr lang="en-US" sz="2000" dirty="0">
                <a:solidFill>
                  <a:srgbClr val="E0FFFF"/>
                </a:solidFill>
                <a:latin typeface="Lucida Console"/>
              </a:rPr>
              <a:t>return</a:t>
            </a:r>
            <a:r>
              <a:rPr lang="en-US" sz="2000" dirty="0">
                <a:solidFill>
                  <a:srgbClr val="F5F5F5"/>
                </a:solidFill>
                <a:latin typeface="Lucida Console"/>
              </a:rPr>
              <a:t> </a:t>
            </a:r>
            <a:r>
              <a:rPr lang="en-US" sz="2000" dirty="0">
                <a:solidFill>
                  <a:srgbClr val="DB7093"/>
                </a:solidFill>
                <a:latin typeface="Lucida Console"/>
              </a:rPr>
              <a:t>"</a:t>
            </a:r>
            <a:r>
              <a:rPr lang="en-US" sz="2000" dirty="0">
                <a:solidFill>
                  <a:srgbClr val="FF4500"/>
                </a:solidFill>
                <a:latin typeface="Lucida Console"/>
              </a:rPr>
              <a:t>$Something</a:t>
            </a:r>
            <a:r>
              <a:rPr lang="en-US" sz="2000" dirty="0">
                <a:solidFill>
                  <a:srgbClr val="DB7093"/>
                </a:solidFill>
                <a:latin typeface="Lucida Console"/>
              </a:rPr>
              <a:t>!"</a:t>
            </a:r>
            <a:endParaRPr lang="en-US" sz="2000" dirty="0">
              <a:solidFill>
                <a:srgbClr val="F5F5F5"/>
              </a:solidFill>
              <a:latin typeface="Lucida Console"/>
            </a:endParaRPr>
          </a:p>
          <a:p>
            <a:pPr marL="457200" lvl="1"/>
            <a:r>
              <a:rPr lang="en-US" sz="2000" dirty="0">
                <a:solidFill>
                  <a:srgbClr val="F5F5F5"/>
                </a:solidFill>
                <a:latin typeface="Lucida Console"/>
              </a:rPr>
              <a:t>} </a:t>
            </a:r>
            <a:endParaRPr lang="en-US" sz="2000" dirty="0">
              <a:solidFill>
                <a:srgbClr val="F5F5F5"/>
              </a:solidFill>
              <a:latin typeface="Lucida Console" panose="020B0609040504020204" pitchFamily="49" charset="0"/>
            </a:endParaRPr>
          </a:p>
          <a:p>
            <a:pPr marL="457200" lvl="1"/>
            <a:endParaRPr lang="en-US" sz="2000" dirty="0">
              <a:solidFill>
                <a:srgbClr val="F5F5F5"/>
              </a:solidFill>
              <a:latin typeface="Lucida Console" panose="020B0609040504020204" pitchFamily="49" charset="0"/>
            </a:endParaRPr>
          </a:p>
          <a:p>
            <a:pPr marL="457200" lvl="1"/>
            <a:r>
              <a:rPr lang="en-US" sz="2000" dirty="0">
                <a:solidFill>
                  <a:srgbClr val="D3D3D3"/>
                </a:solidFill>
                <a:latin typeface="Lucida Console"/>
              </a:rPr>
              <a:t>[</a:t>
            </a:r>
            <a:r>
              <a:rPr lang="en-US" sz="2000" dirty="0">
                <a:solidFill>
                  <a:srgbClr val="8FBC8F"/>
                </a:solidFill>
                <a:latin typeface="Lucida Console"/>
              </a:rPr>
              <a:t>String</a:t>
            </a:r>
            <a:r>
              <a:rPr lang="en-US" sz="2000" dirty="0">
                <a:solidFill>
                  <a:srgbClr val="D3D3D3"/>
                </a:solidFill>
                <a:latin typeface="Lucida Console"/>
              </a:rPr>
              <a:t>]</a:t>
            </a:r>
            <a:r>
              <a:rPr lang="en-US" sz="2000" dirty="0">
                <a:solidFill>
                  <a:srgbClr val="EE82EE"/>
                </a:solidFill>
                <a:latin typeface="Lucida Console"/>
              </a:rPr>
              <a:t>SaySomething</a:t>
            </a:r>
            <a:r>
              <a:rPr lang="en-US" sz="2000" dirty="0">
                <a:solidFill>
                  <a:srgbClr val="F5F5F5"/>
                </a:solidFill>
                <a:latin typeface="Lucida Console"/>
              </a:rPr>
              <a:t>()</a:t>
            </a:r>
          </a:p>
          <a:p>
            <a:pPr marL="457200" lvl="1"/>
            <a:r>
              <a:rPr lang="en-US" sz="2000" dirty="0">
                <a:solidFill>
                  <a:srgbClr val="F5F5F5"/>
                </a:solidFill>
                <a:latin typeface="Lucida Console"/>
              </a:rPr>
              <a:t>{</a:t>
            </a:r>
          </a:p>
          <a:p>
            <a:pPr marL="457200" lvl="1"/>
            <a:r>
              <a:rPr lang="en-US" sz="2000" dirty="0">
                <a:solidFill>
                  <a:srgbClr val="F5F5F5"/>
                </a:solidFill>
                <a:latin typeface="Lucida Console"/>
              </a:rPr>
              <a:t>    </a:t>
            </a:r>
            <a:r>
              <a:rPr lang="en-US" sz="2000" dirty="0">
                <a:solidFill>
                  <a:srgbClr val="E0FFFF"/>
                </a:solidFill>
                <a:latin typeface="Lucida Console"/>
              </a:rPr>
              <a:t>return</a:t>
            </a:r>
            <a:r>
              <a:rPr lang="en-US" sz="2000" dirty="0">
                <a:solidFill>
                  <a:srgbClr val="F5F5F5"/>
                </a:solidFill>
                <a:latin typeface="Lucida Console"/>
              </a:rPr>
              <a:t> </a:t>
            </a:r>
            <a:r>
              <a:rPr lang="en-US" sz="2000" dirty="0">
                <a:solidFill>
                  <a:srgbClr val="DB7093"/>
                </a:solidFill>
                <a:latin typeface="Lucida Console"/>
              </a:rPr>
              <a:t>"Something!"</a:t>
            </a:r>
            <a:endParaRPr lang="en-US" sz="2000" dirty="0">
              <a:solidFill>
                <a:srgbClr val="F5F5F5"/>
              </a:solidFill>
              <a:latin typeface="Lucida Console"/>
            </a:endParaRPr>
          </a:p>
          <a:p>
            <a:pPr marL="457200" lvl="1"/>
            <a:r>
              <a:rPr lang="en-US" sz="2000" dirty="0">
                <a:solidFill>
                  <a:srgbClr val="F5F5F5"/>
                </a:solidFill>
                <a:latin typeface="Lucida Console"/>
              </a:rPr>
              <a:t>}</a:t>
            </a:r>
          </a:p>
          <a:p>
            <a:r>
              <a:rPr lang="en-US" sz="2000" dirty="0">
                <a:solidFill>
                  <a:srgbClr val="F5F5F5"/>
                </a:solidFill>
                <a:latin typeface="Lucida Console"/>
              </a:rPr>
              <a:t>}</a:t>
            </a:r>
          </a:p>
          <a:p>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a:rPr>
              <a:t>$person</a:t>
            </a:r>
            <a:r>
              <a:rPr lang="en-US" sz="2000" dirty="0">
                <a:solidFill>
                  <a:srgbClr val="F5F5F5"/>
                </a:solidFill>
                <a:latin typeface="Lucida Console"/>
              </a:rPr>
              <a:t> </a:t>
            </a:r>
            <a:r>
              <a:rPr lang="en-US" sz="2000" dirty="0">
                <a:solidFill>
                  <a:srgbClr val="D3D3D3"/>
                </a:solidFill>
                <a:latin typeface="Lucida Console"/>
              </a:rPr>
              <a:t>=</a:t>
            </a:r>
            <a:r>
              <a:rPr lang="en-US" sz="2000" dirty="0">
                <a:solidFill>
                  <a:srgbClr val="F5F5F5"/>
                </a:solidFill>
                <a:latin typeface="Lucida Console"/>
              </a:rPr>
              <a:t> </a:t>
            </a:r>
            <a:r>
              <a:rPr lang="en-US" sz="2000" dirty="0">
                <a:solidFill>
                  <a:srgbClr val="E0FFFF"/>
                </a:solidFill>
                <a:latin typeface="Lucida Console"/>
              </a:rPr>
              <a:t>New-Object</a:t>
            </a:r>
            <a:r>
              <a:rPr lang="en-US" sz="2000" dirty="0">
                <a:solidFill>
                  <a:srgbClr val="F5F5F5"/>
                </a:solidFill>
                <a:latin typeface="Lucida Console"/>
              </a:rPr>
              <a:t> </a:t>
            </a:r>
            <a:r>
              <a:rPr lang="en-US" sz="2000" dirty="0">
                <a:solidFill>
                  <a:srgbClr val="FFE4B5"/>
                </a:solidFill>
                <a:latin typeface="Lucida Console"/>
              </a:rPr>
              <a:t>-TypeName</a:t>
            </a:r>
            <a:r>
              <a:rPr lang="en-US" sz="2000" dirty="0">
                <a:solidFill>
                  <a:srgbClr val="F5F5F5"/>
                </a:solidFill>
                <a:latin typeface="Lucida Console"/>
              </a:rPr>
              <a:t> </a:t>
            </a:r>
            <a:r>
              <a:rPr lang="en-US" sz="2000" dirty="0">
                <a:solidFill>
                  <a:srgbClr val="EE82EE"/>
                </a:solidFill>
                <a:latin typeface="Lucida Console"/>
              </a:rPr>
              <a:t>person</a:t>
            </a:r>
            <a:endParaRPr lang="en-US" sz="2000" dirty="0">
              <a:solidFill>
                <a:srgbClr val="F5F5F5"/>
              </a:solidFill>
              <a:latin typeface="Lucida Console"/>
            </a:endParaRPr>
          </a:p>
          <a:p>
            <a:r>
              <a:rPr lang="en-US" sz="2000" dirty="0">
                <a:solidFill>
                  <a:srgbClr val="FF4500"/>
                </a:solidFill>
                <a:latin typeface="Lucida Console"/>
              </a:rPr>
              <a:t>$person</a:t>
            </a:r>
            <a:r>
              <a:rPr lang="en-US" sz="2000" dirty="0">
                <a:solidFill>
                  <a:srgbClr val="D3D3D3"/>
                </a:solidFill>
                <a:latin typeface="Lucida Console"/>
              </a:rPr>
              <a:t>.</a:t>
            </a:r>
            <a:r>
              <a:rPr lang="en-US" sz="2000" dirty="0">
                <a:solidFill>
                  <a:srgbClr val="F5F5F5"/>
                </a:solidFill>
                <a:latin typeface="Lucida Console"/>
              </a:rPr>
              <a:t>SaySomething()</a:t>
            </a:r>
          </a:p>
          <a:p>
            <a:r>
              <a:rPr lang="en-US" sz="2000" dirty="0">
                <a:solidFill>
                  <a:srgbClr val="D3D3D3"/>
                </a:solidFill>
                <a:latin typeface="Lucida Console"/>
              </a:rPr>
              <a:t>&gt;</a:t>
            </a:r>
            <a:r>
              <a:rPr lang="en-US" sz="2000" dirty="0">
                <a:solidFill>
                  <a:srgbClr val="EE82EE"/>
                </a:solidFill>
                <a:latin typeface="Lucida Console"/>
              </a:rPr>
              <a:t>Something! </a:t>
            </a:r>
            <a:endParaRPr lang="en-US" sz="2000" dirty="0">
              <a:solidFill>
                <a:srgbClr val="EE82EE"/>
              </a:solidFill>
              <a:latin typeface="Lucida Console" panose="020B0609040504020204" pitchFamily="49" charset="0"/>
            </a:endParaRPr>
          </a:p>
        </p:txBody>
      </p:sp>
    </p:spTree>
    <p:extLst>
      <p:ext uri="{BB962C8B-B14F-4D97-AF65-F5344CB8AC3E}">
        <p14:creationId xmlns:p14="http://schemas.microsoft.com/office/powerpoint/2010/main" val="3670793471"/>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$This – example with Methods cont.</a:t>
            </a:r>
            <a:endParaRPr lang="en-AU" dirty="0"/>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type="body" sz="quarter" idx="16"/>
          </p:nvPr>
        </p:nvSpPr>
        <p:spPr/>
        <p:txBody>
          <a:bodyPr/>
          <a:lstStyle/>
          <a:p>
            <a:pPr marL="0" indent="0">
              <a:buNone/>
            </a:pPr>
            <a:endParaRPr lang="en-US" dirty="0"/>
          </a:p>
          <a:p>
            <a:pPr marL="0" indent="0">
              <a:buNone/>
            </a:pPr>
            <a:endParaRPr lang="en-US" dirty="0"/>
          </a:p>
          <a:p>
            <a:r>
              <a:rPr lang="en-US" dirty="0"/>
              <a:t>No need to initialize the object or repeat code</a:t>
            </a:r>
          </a:p>
          <a:p>
            <a:endParaRPr lang="en-US" dirty="0"/>
          </a:p>
          <a:p>
            <a:endParaRPr lang="en-US" dirty="0"/>
          </a:p>
          <a:p>
            <a:r>
              <a:rPr lang="en-US" dirty="0"/>
              <a:t>Using $this and calling the method in need</a:t>
            </a:r>
          </a:p>
          <a:p>
            <a:pPr marL="0" indent="0">
              <a:buNone/>
            </a:pPr>
            <a:endParaRPr lang="en-US" dirty="0"/>
          </a:p>
          <a:p>
            <a:endParaRPr lang="en-US" dirty="0"/>
          </a:p>
        </p:txBody>
      </p:sp>
      <p:sp>
        <p:nvSpPr>
          <p:cNvPr id="3" name="Picture Placeholder 2">
            <a:extLst>
              <a:ext uri="{FF2B5EF4-FFF2-40B4-BE49-F238E27FC236}">
                <a16:creationId xmlns:a16="http://schemas.microsoft.com/office/drawing/2014/main" id="{064D0191-3498-4502-81A7-1B2EF9942B67}"/>
              </a:ext>
              <a:ext uri="{C183D7F6-B498-43B3-948B-1728B52AA6E4}">
                <adec:decorative xmlns:adec="http://schemas.microsoft.com/office/drawing/2017/decorative" val="1"/>
              </a:ext>
            </a:extLst>
          </p:cNvPr>
          <p:cNvSpPr>
            <a:spLocks noGrp="1"/>
          </p:cNvSpPr>
          <p:nvPr>
            <p:ph type="pic" sz="quarter" idx="15"/>
          </p:nvPr>
        </p:nvSpPr>
        <p:spPr>
          <a:xfrm>
            <a:off x="4876800" y="0"/>
            <a:ext cx="7314882" cy="6858000"/>
          </a:xfrm>
        </p:spPr>
        <p:txBody>
          <a:bodyPr/>
          <a:lstStyle/>
          <a:p>
            <a:endParaRPr lang="en-IL"/>
          </a:p>
        </p:txBody>
      </p:sp>
      <p:sp>
        <p:nvSpPr>
          <p:cNvPr id="14" name="TextBox 13">
            <a:extLst>
              <a:ext uri="{FF2B5EF4-FFF2-40B4-BE49-F238E27FC236}">
                <a16:creationId xmlns:a16="http://schemas.microsoft.com/office/drawing/2014/main" id="{B1BC2556-9943-40D3-88C4-5538B0010438}"/>
              </a:ext>
            </a:extLst>
          </p:cNvPr>
          <p:cNvSpPr txBox="1">
            <a:spLocks/>
          </p:cNvSpPr>
          <p:nvPr/>
        </p:nvSpPr>
        <p:spPr>
          <a:xfrm>
            <a:off x="5105400" y="612845"/>
            <a:ext cx="7086282" cy="5324535"/>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nchor="t">
            <a:spAutoFit/>
          </a:bodyPr>
          <a:lstStyle/>
          <a:p>
            <a:r>
              <a:rPr lang="en-US" sz="2000" dirty="0">
                <a:solidFill>
                  <a:srgbClr val="E0FFFF"/>
                </a:solidFill>
                <a:latin typeface="Lucida Console" panose="020B0609040504020204" pitchFamily="49" charset="0"/>
              </a:rPr>
              <a:t>Class</a:t>
            </a:r>
            <a:r>
              <a:rPr lang="en-US" sz="2000" dirty="0">
                <a:solidFill>
                  <a:srgbClr val="F5F5F5"/>
                </a:solidFill>
                <a:latin typeface="Lucida Console" panose="020B0609040504020204" pitchFamily="49" charset="0"/>
              </a:rPr>
              <a:t> </a:t>
            </a:r>
            <a:r>
              <a:rPr lang="en-US" sz="2000" dirty="0">
                <a:solidFill>
                  <a:srgbClr val="8FBC8F"/>
                </a:solidFill>
                <a:latin typeface="Lucida Console" panose="020B0609040504020204" pitchFamily="49" charset="0"/>
              </a:rPr>
              <a:t>Person</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SaySomething</a:t>
            </a:r>
            <a:r>
              <a:rPr lang="en-US" sz="2000" dirty="0">
                <a:solidFill>
                  <a:srgbClr val="F5F5F5"/>
                </a:solidFill>
                <a:latin typeface="Lucida Console" panose="020B0609040504020204" pitchFamily="49" charset="0"/>
              </a:rPr>
              <a:t>(</a:t>
            </a:r>
            <a:r>
              <a:rPr lang="en-US" sz="2000" dirty="0">
                <a:solidFill>
                  <a:srgbClr val="FF4500"/>
                </a:solidFill>
                <a:latin typeface="Lucida Console" panose="020B0609040504020204" pitchFamily="49" charset="0"/>
              </a:rPr>
              <a:t>$something</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return</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a:t>
            </a:r>
            <a:r>
              <a:rPr lang="en-US" sz="2000" dirty="0">
                <a:solidFill>
                  <a:srgbClr val="FF4500"/>
                </a:solidFill>
                <a:latin typeface="Lucida Console" panose="020B0609040504020204" pitchFamily="49" charset="0"/>
              </a:rPr>
              <a:t>$Something</a:t>
            </a:r>
            <a:r>
              <a:rPr lang="en-US" sz="2000" dirty="0">
                <a:solidFill>
                  <a:srgbClr val="DB7093"/>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 </a:t>
            </a: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String</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SaySomething</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return</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this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SaySomething</a:t>
            </a:r>
            <a:r>
              <a:rPr lang="en-US" sz="2000" dirty="0">
                <a:solidFill>
                  <a:srgbClr val="F5F5F5"/>
                </a:solidFill>
                <a:latin typeface="Lucida Console" panose="020B0609040504020204" pitchFamily="49" charset="0"/>
              </a:rPr>
              <a:t>(</a:t>
            </a:r>
            <a:r>
              <a:rPr lang="en-US" sz="2000" dirty="0">
                <a:solidFill>
                  <a:srgbClr val="DB7093"/>
                </a:solidFill>
                <a:latin typeface="Lucida Console" panose="020B0609040504020204" pitchFamily="49" charset="0"/>
              </a:rPr>
              <a:t>"Something"</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a:t>
            </a: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$person</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[Person]::new()</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SaySomething()</a:t>
            </a:r>
          </a:p>
          <a:p>
            <a:r>
              <a:rPr lang="en-US" sz="2000" dirty="0">
                <a:latin typeface="Lucida Console" panose="020B0609040504020204" pitchFamily="49" charset="0"/>
              </a:rPr>
              <a:t>&gt;</a:t>
            </a:r>
            <a:r>
              <a:rPr lang="en-US" sz="2000" dirty="0">
                <a:solidFill>
                  <a:srgbClr val="F5F5F5"/>
                </a:solidFill>
                <a:latin typeface="Lucida Console" panose="020B0609040504020204" pitchFamily="49" charset="0"/>
              </a:rPr>
              <a:t>Something!</a:t>
            </a:r>
          </a:p>
        </p:txBody>
      </p:sp>
      <p:sp>
        <p:nvSpPr>
          <p:cNvPr id="4" name="Arrow: Right 3">
            <a:extLst>
              <a:ext uri="{FF2B5EF4-FFF2-40B4-BE49-F238E27FC236}">
                <a16:creationId xmlns:a16="http://schemas.microsoft.com/office/drawing/2014/main" id="{F6122AC4-1338-4E38-BAF3-9A66344569AB}"/>
              </a:ext>
              <a:ext uri="{C183D7F6-B498-43B3-948B-1728B52AA6E4}">
                <adec:decorative xmlns:adec="http://schemas.microsoft.com/office/drawing/2017/decorative" val="1"/>
              </a:ext>
            </a:extLst>
          </p:cNvPr>
          <p:cNvSpPr/>
          <p:nvPr/>
        </p:nvSpPr>
        <p:spPr bwMode="auto">
          <a:xfrm>
            <a:off x="4648200" y="3388108"/>
            <a:ext cx="1371600" cy="381000"/>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0" name="Arrow: Right 9">
            <a:extLst>
              <a:ext uri="{FF2B5EF4-FFF2-40B4-BE49-F238E27FC236}">
                <a16:creationId xmlns:a16="http://schemas.microsoft.com/office/drawing/2014/main" id="{B4FA4B2B-FFE6-4786-AB0B-416E242527A7}"/>
              </a:ext>
              <a:ext uri="{C183D7F6-B498-43B3-948B-1728B52AA6E4}">
                <adec:decorative xmlns:adec="http://schemas.microsoft.com/office/drawing/2017/decorative" val="1"/>
              </a:ext>
            </a:extLst>
          </p:cNvPr>
          <p:cNvSpPr/>
          <p:nvPr/>
        </p:nvSpPr>
        <p:spPr bwMode="auto">
          <a:xfrm rot="16200000">
            <a:off x="9437323" y="2447704"/>
            <a:ext cx="1623155" cy="381000"/>
          </a:xfrm>
          <a:prstGeom prst="rightArrow">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a:extLst>
              <a:ext uri="{FF2B5EF4-FFF2-40B4-BE49-F238E27FC236}">
                <a16:creationId xmlns:a16="http://schemas.microsoft.com/office/drawing/2014/main" id="{7AABBD44-B8BC-45A0-444B-20C9EE353C28}"/>
              </a:ext>
            </a:extLst>
          </p:cNvPr>
          <p:cNvPicPr>
            <a:picLocks noChangeAspect="1"/>
          </p:cNvPicPr>
          <p:nvPr/>
        </p:nvPicPr>
        <p:blipFill>
          <a:blip r:embed="rId3"/>
          <a:stretch>
            <a:fillRect/>
          </a:stretch>
        </p:blipFill>
        <p:spPr>
          <a:xfrm>
            <a:off x="3090863" y="5327225"/>
            <a:ext cx="1114425" cy="1266825"/>
          </a:xfrm>
          <a:prstGeom prst="rect">
            <a:avLst/>
          </a:prstGeom>
        </p:spPr>
      </p:pic>
    </p:spTree>
    <p:extLst>
      <p:ext uri="{BB962C8B-B14F-4D97-AF65-F5344CB8AC3E}">
        <p14:creationId xmlns:p14="http://schemas.microsoft.com/office/powerpoint/2010/main" val="29902258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$This - Example  with Properties</a:t>
            </a:r>
          </a:p>
        </p:txBody>
      </p:sp>
      <p:sp>
        <p:nvSpPr>
          <p:cNvPr id="6" name="Content Placeholder 5">
            <a:extLst>
              <a:ext uri="{FF2B5EF4-FFF2-40B4-BE49-F238E27FC236}">
                <a16:creationId xmlns:a16="http://schemas.microsoft.com/office/drawing/2014/main" id="{060BCF69-2E47-4B45-98F5-2E8853ADEF13}"/>
              </a:ext>
            </a:extLst>
          </p:cNvPr>
          <p:cNvSpPr>
            <a:spLocks noGrp="1"/>
          </p:cNvSpPr>
          <p:nvPr>
            <p:ph sz="quarter" idx="13"/>
          </p:nvPr>
        </p:nvSpPr>
        <p:spPr/>
        <p:txBody>
          <a:bodyPr/>
          <a:lstStyle/>
          <a:p>
            <a:r>
              <a:rPr lang="en-US" b="1" dirty="0"/>
              <a:t>$This </a:t>
            </a:r>
            <a:r>
              <a:rPr lang="en-US" dirty="0"/>
              <a:t>used in “GrowOlder” </a:t>
            </a:r>
            <a:r>
              <a:rPr lang="en-US" b="1" dirty="0"/>
              <a:t>Method</a:t>
            </a:r>
            <a:r>
              <a:rPr lang="en-US" dirty="0"/>
              <a:t> to update the “Age” </a:t>
            </a:r>
            <a:r>
              <a:rPr lang="en-US" b="1" dirty="0"/>
              <a:t>property</a:t>
            </a:r>
          </a:p>
          <a:p>
            <a:endParaRPr lang="en-US" dirty="0"/>
          </a:p>
        </p:txBody>
      </p:sp>
      <p:sp>
        <p:nvSpPr>
          <p:cNvPr id="11" name="TextBox 10">
            <a:extLst>
              <a:ext uri="{FF2B5EF4-FFF2-40B4-BE49-F238E27FC236}">
                <a16:creationId xmlns:a16="http://schemas.microsoft.com/office/drawing/2014/main" id="{F2188EC2-C48A-4847-B060-A2494FD091E3}"/>
              </a:ext>
            </a:extLst>
          </p:cNvPr>
          <p:cNvSpPr txBox="1"/>
          <p:nvPr/>
        </p:nvSpPr>
        <p:spPr>
          <a:xfrm>
            <a:off x="655638" y="2134336"/>
            <a:ext cx="10880727" cy="4093428"/>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nchor="t">
            <a:spAutoFit/>
          </a:bodyPr>
          <a:lstStyle/>
          <a:p>
            <a:r>
              <a:rPr lang="en-US" sz="2000" dirty="0">
                <a:solidFill>
                  <a:srgbClr val="E0FFFF"/>
                </a:solidFill>
                <a:latin typeface="Lucida Console" panose="020B0609040504020204" pitchFamily="49" charset="0"/>
              </a:rPr>
              <a:t>class</a:t>
            </a:r>
            <a:r>
              <a:rPr lang="en-US" sz="2000" dirty="0">
                <a:solidFill>
                  <a:srgbClr val="F5F5F5"/>
                </a:solidFill>
                <a:latin typeface="Lucida Console" panose="020B0609040504020204" pitchFamily="49" charset="0"/>
              </a:rPr>
              <a:t> </a:t>
            </a:r>
            <a:r>
              <a:rPr lang="en-US" sz="2000" dirty="0">
                <a:solidFill>
                  <a:srgbClr val="8FBC8F"/>
                </a:solidFill>
                <a:latin typeface="Lucida Console" panose="020B0609040504020204" pitchFamily="49" charset="0"/>
              </a:rPr>
              <a:t>Person</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int</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$Age</a:t>
            </a:r>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void</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GrowOlder</a:t>
            </a:r>
            <a:r>
              <a:rPr lang="en-US" sz="2000" dirty="0">
                <a:solidFill>
                  <a:srgbClr val="F5F5F5"/>
                </a:solidFill>
                <a:latin typeface="Lucida Console" panose="020B0609040504020204" pitchFamily="49" charset="0"/>
              </a:rPr>
              <a:t>(</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int32</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$years</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this</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Age</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$years</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 </a:t>
            </a:r>
          </a:p>
          <a:p>
            <a:r>
              <a:rPr lang="en-US" sz="2000" dirty="0">
                <a:solidFill>
                  <a:srgbClr val="F5F5F5"/>
                </a:solidFill>
                <a:latin typeface="Lucida Console" panose="020B0609040504020204" pitchFamily="49" charset="0"/>
              </a:rPr>
              <a:t>}</a:t>
            </a:r>
          </a:p>
          <a:p>
            <a:r>
              <a:rPr lang="en-US" sz="2000" dirty="0">
                <a:solidFill>
                  <a:srgbClr val="D3D3D3"/>
                </a:solidFill>
                <a:latin typeface="Lucida Console" panose="020B0609040504020204" pitchFamily="49" charset="0"/>
              </a:rPr>
              <a:t>&gt;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person</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Age</a:t>
            </a:r>
            <a:r>
              <a:rPr lang="en-US" sz="2000" dirty="0">
                <a:solidFill>
                  <a:srgbClr val="F5F5F5"/>
                </a:solidFill>
                <a:latin typeface="Lucida Console" panose="020B0609040504020204" pitchFamily="49" charset="0"/>
              </a:rPr>
              <a:t> = 28</a:t>
            </a:r>
            <a:endParaRPr lang="en-US" sz="2000" dirty="0">
              <a:latin typeface="Lucida Console" panose="020B0609040504020204" pitchFamily="49" charset="0"/>
              <a:cs typeface="Segoe UI"/>
            </a:endParaRPr>
          </a:p>
          <a:p>
            <a:r>
              <a:rPr lang="en-US" sz="2000" dirty="0">
                <a:solidFill>
                  <a:srgbClr val="D3D3D3"/>
                </a:solidFill>
                <a:latin typeface="Lucida Console" panose="020B0609040504020204" pitchFamily="49" charset="0"/>
              </a:rPr>
              <a:t>&gt;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person</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GrowOlder</a:t>
            </a:r>
            <a:r>
              <a:rPr lang="en-US" sz="2000" dirty="0">
                <a:solidFill>
                  <a:srgbClr val="F5F5F5"/>
                </a:solidFill>
                <a:latin typeface="Lucida Console" panose="020B0609040504020204" pitchFamily="49" charset="0"/>
              </a:rPr>
              <a:t>(</a:t>
            </a:r>
            <a:r>
              <a:rPr lang="en-US" sz="2000" dirty="0">
                <a:solidFill>
                  <a:srgbClr val="FFE4C4"/>
                </a:solidFill>
                <a:latin typeface="Lucida Console" panose="020B0609040504020204" pitchFamily="49" charset="0"/>
              </a:rPr>
              <a:t>10</a:t>
            </a:r>
            <a:r>
              <a:rPr lang="en-US" sz="2000" dirty="0">
                <a:solidFill>
                  <a:srgbClr val="F5F5F5"/>
                </a:solidFill>
                <a:latin typeface="Lucida Console" panose="020B0609040504020204" pitchFamily="49" charset="0"/>
              </a:rPr>
              <a:t>) </a:t>
            </a:r>
          </a:p>
          <a:p>
            <a:r>
              <a:rPr lang="en-US" sz="2000" dirty="0">
                <a:solidFill>
                  <a:srgbClr val="D3D3D3"/>
                </a:solidFill>
                <a:latin typeface="Lucida Console" panose="020B0609040504020204" pitchFamily="49" charset="0"/>
              </a:rPr>
              <a:t>&gt;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person</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Age</a:t>
            </a:r>
            <a:r>
              <a:rPr lang="en-US" sz="2000" dirty="0">
                <a:solidFill>
                  <a:srgbClr val="F5F5F5"/>
                </a:solidFill>
                <a:latin typeface="Lucida Console" panose="020B0609040504020204" pitchFamily="49" charset="0"/>
              </a:rPr>
              <a:t> </a:t>
            </a:r>
          </a:p>
          <a:p>
            <a:r>
              <a:rPr lang="en-US" sz="2000" dirty="0">
                <a:solidFill>
                  <a:srgbClr val="D3D3D3"/>
                </a:solidFill>
                <a:latin typeface="Lucida Console" panose="020B0609040504020204" pitchFamily="49" charset="0"/>
              </a:rPr>
              <a:t>&gt;</a:t>
            </a:r>
            <a:r>
              <a:rPr lang="en-US" sz="2000" dirty="0">
                <a:solidFill>
                  <a:srgbClr val="F5F5F5"/>
                </a:solidFill>
                <a:latin typeface="Lucida Console" panose="020B0609040504020204" pitchFamily="49" charset="0"/>
              </a:rPr>
              <a:t> 38</a:t>
            </a:r>
          </a:p>
        </p:txBody>
      </p:sp>
      <p:pic>
        <p:nvPicPr>
          <p:cNvPr id="4" name="Picture 3">
            <a:extLst>
              <a:ext uri="{FF2B5EF4-FFF2-40B4-BE49-F238E27FC236}">
                <a16:creationId xmlns:a16="http://schemas.microsoft.com/office/drawing/2014/main" id="{4CA5157C-6714-C06C-42F0-DF3699735185}"/>
              </a:ext>
            </a:extLst>
          </p:cNvPr>
          <p:cNvPicPr>
            <a:picLocks noChangeAspect="1"/>
          </p:cNvPicPr>
          <p:nvPr/>
        </p:nvPicPr>
        <p:blipFill>
          <a:blip r:embed="rId3"/>
          <a:stretch>
            <a:fillRect/>
          </a:stretch>
        </p:blipFill>
        <p:spPr>
          <a:xfrm>
            <a:off x="10421938" y="320040"/>
            <a:ext cx="1114425" cy="1266825"/>
          </a:xfrm>
          <a:prstGeom prst="rect">
            <a:avLst/>
          </a:prstGeom>
        </p:spPr>
      </p:pic>
    </p:spTree>
    <p:extLst>
      <p:ext uri="{BB962C8B-B14F-4D97-AF65-F5344CB8AC3E}">
        <p14:creationId xmlns:p14="http://schemas.microsoft.com/office/powerpoint/2010/main" val="305773081"/>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name="HIDDEN - Slide198">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C6F63-616D-478D-A91D-8B071350BF64}"/>
              </a:ext>
            </a:extLst>
          </p:cNvPr>
          <p:cNvSpPr>
            <a:spLocks noGrp="1"/>
          </p:cNvSpPr>
          <p:nvPr>
            <p:ph type="title"/>
            <p:custDataLst>
              <p:custData r:id="rId1"/>
            </p:custDataLst>
          </p:nvPr>
        </p:nvSpPr>
        <p:spPr/>
        <p:txBody>
          <a:bodyPr/>
          <a:lstStyle/>
          <a:p>
            <a:r>
              <a:rPr lang="en-US" dirty="0"/>
              <a:t>Advanced Object Features</a:t>
            </a:r>
          </a:p>
        </p:txBody>
      </p:sp>
    </p:spTree>
    <p:extLst>
      <p:ext uri="{BB962C8B-B14F-4D97-AF65-F5344CB8AC3E}">
        <p14:creationId xmlns:p14="http://schemas.microsoft.com/office/powerpoint/2010/main" val="732047657"/>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193D01C-0C4C-4E67-8617-A62F23C6AAB8}"/>
              </a:ext>
            </a:extLst>
          </p:cNvPr>
          <p:cNvSpPr>
            <a:spLocks noGrp="1"/>
          </p:cNvSpPr>
          <p:nvPr>
            <p:ph type="title"/>
          </p:nvPr>
        </p:nvSpPr>
        <p:spPr/>
        <p:txBody>
          <a:bodyPr/>
          <a:lstStyle/>
          <a:p>
            <a:r>
              <a:rPr lang="en-US" dirty="0"/>
              <a:t>Classes – Advanced features </a:t>
            </a:r>
          </a:p>
        </p:txBody>
      </p:sp>
      <p:sp>
        <p:nvSpPr>
          <p:cNvPr id="5" name="Text Placeholder 4">
            <a:extLst>
              <a:ext uri="{FF2B5EF4-FFF2-40B4-BE49-F238E27FC236}">
                <a16:creationId xmlns:a16="http://schemas.microsoft.com/office/drawing/2014/main" id="{101EA4BA-5F96-46FC-969B-5A18595DA733}"/>
              </a:ext>
            </a:extLst>
          </p:cNvPr>
          <p:cNvSpPr>
            <a:spLocks noGrp="1"/>
          </p:cNvSpPr>
          <p:nvPr>
            <p:ph sz="quarter" idx="13"/>
          </p:nvPr>
        </p:nvSpPr>
        <p:spPr/>
        <p:txBody>
          <a:bodyPr/>
          <a:lstStyle/>
          <a:p>
            <a:r>
              <a:rPr lang="en-US" dirty="0"/>
              <a:t>Classes can use:</a:t>
            </a:r>
          </a:p>
          <a:p>
            <a:pPr lvl="1"/>
            <a:r>
              <a:rPr lang="en-US" dirty="0"/>
              <a:t>Constructors</a:t>
            </a:r>
          </a:p>
          <a:p>
            <a:pPr lvl="1"/>
            <a:r>
              <a:rPr lang="en-US" dirty="0"/>
              <a:t>Static members</a:t>
            </a:r>
          </a:p>
          <a:p>
            <a:pPr lvl="1"/>
            <a:r>
              <a:rPr lang="en-US" dirty="0"/>
              <a:t>Hidden members</a:t>
            </a:r>
          </a:p>
          <a:p>
            <a:pPr lvl="1"/>
            <a:r>
              <a:rPr lang="en-US" dirty="0"/>
              <a:t>Enums</a:t>
            </a:r>
          </a:p>
          <a:p>
            <a:endParaRPr lang="en-US" dirty="0"/>
          </a:p>
          <a:p>
            <a:r>
              <a:rPr lang="en-US" dirty="0"/>
              <a:t>Classes can inherit members from other classes</a:t>
            </a:r>
          </a:p>
          <a:p>
            <a:endParaRPr lang="en-US" dirty="0"/>
          </a:p>
          <a:p>
            <a:r>
              <a:rPr lang="en-US" b="1" dirty="0"/>
              <a:t>Best practice</a:t>
            </a:r>
            <a:r>
              <a:rPr lang="en-US" dirty="0"/>
              <a:t>: when using many classes declare them in a separate script file</a:t>
            </a:r>
          </a:p>
          <a:p>
            <a:endParaRPr lang="en-US" dirty="0"/>
          </a:p>
          <a:p>
            <a:endParaRPr lang="en-US" dirty="0"/>
          </a:p>
          <a:p>
            <a:pPr lvl="1"/>
            <a:endParaRPr lang="en-US" dirty="0"/>
          </a:p>
          <a:p>
            <a:pPr lvl="1"/>
            <a:endParaRPr lang="en-US" dirty="0"/>
          </a:p>
        </p:txBody>
      </p:sp>
    </p:spTree>
    <p:extLst>
      <p:ext uri="{BB962C8B-B14F-4D97-AF65-F5344CB8AC3E}">
        <p14:creationId xmlns:p14="http://schemas.microsoft.com/office/powerpoint/2010/main" val="2842243261"/>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tIns="0" rIns="0" bIns="0" anchor="t"/>
          <a:lstStyle/>
          <a:p>
            <a:r>
              <a:rPr lang="en-AU" dirty="0">
                <a:solidFill>
                  <a:srgbClr val="000000"/>
                </a:solidFill>
                <a:latin typeface="Segoe UI Semibold" panose="020B0702040204020203" pitchFamily="34" charset="0"/>
              </a:rPr>
              <a:t>Basic Constructors</a:t>
            </a:r>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sz="quarter" idx="13"/>
          </p:nvPr>
        </p:nvSpPr>
        <p:spPr/>
        <p:txBody>
          <a:bodyPr/>
          <a:lstStyle/>
          <a:p>
            <a:pPr marL="457200" indent="-457200">
              <a:buFont typeface="Arial" panose="020B0604020202020204" pitchFamily="34" charset="0"/>
              <a:buChar char="•"/>
            </a:pPr>
            <a:r>
              <a:rPr lang="en-US" dirty="0"/>
              <a:t>Method called to create your object</a:t>
            </a:r>
          </a:p>
          <a:p>
            <a:pPr marL="457200" indent="-457200">
              <a:buFont typeface="Arial" panose="020B0604020202020204" pitchFamily="34" charset="0"/>
              <a:buChar char="•"/>
            </a:pPr>
            <a:r>
              <a:rPr lang="en-US" dirty="0"/>
              <a:t>Default one takes in </a:t>
            </a:r>
            <a:r>
              <a:rPr lang="en-US" b="1" u="sng" dirty="0"/>
              <a:t>no</a:t>
            </a:r>
            <a:r>
              <a:rPr lang="en-US" b="1" dirty="0"/>
              <a:t> </a:t>
            </a:r>
            <a:r>
              <a:rPr lang="en-US" dirty="0"/>
              <a:t>params and sets </a:t>
            </a:r>
            <a:r>
              <a:rPr lang="en-US" b="1" u="sng" dirty="0"/>
              <a:t>no</a:t>
            </a:r>
            <a:r>
              <a:rPr lang="en-US" b="1" dirty="0"/>
              <a:t> </a:t>
            </a:r>
            <a:r>
              <a:rPr lang="en-US" dirty="0"/>
              <a:t>values</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a:p>
            <a:r>
              <a:rPr lang="en-US" dirty="0"/>
              <a:t>Can redefine to set default values</a:t>
            </a:r>
          </a:p>
          <a:p>
            <a:pPr lvl="1"/>
            <a:r>
              <a:rPr lang="en-US" dirty="0"/>
              <a:t>Name must match class name</a:t>
            </a:r>
          </a:p>
          <a:p>
            <a:pPr lvl="1"/>
            <a:r>
              <a:rPr lang="en-US" dirty="0"/>
              <a:t>No return value specified – it knows you are</a:t>
            </a:r>
            <a:br>
              <a:rPr lang="en-US" dirty="0"/>
            </a:br>
            <a:r>
              <a:rPr lang="en-US" dirty="0"/>
              <a:t>giving back your custom class</a:t>
            </a:r>
          </a:p>
          <a:p>
            <a:pPr lvl="1"/>
            <a:r>
              <a:rPr lang="en-US" dirty="0"/>
              <a:t>Use $this to touch the properties</a:t>
            </a:r>
          </a:p>
          <a:p>
            <a:endParaRPr lang="en-US" dirty="0"/>
          </a:p>
          <a:p>
            <a:pPr marL="457200" indent="-457200">
              <a:buFont typeface="Arial" panose="020B0604020202020204" pitchFamily="34" charset="0"/>
              <a:buChar char="•"/>
            </a:pPr>
            <a:endParaRPr lang="en-US" dirty="0"/>
          </a:p>
        </p:txBody>
      </p:sp>
      <p:sp>
        <p:nvSpPr>
          <p:cNvPr id="18" name="TextBox 17">
            <a:extLst>
              <a:ext uri="{FF2B5EF4-FFF2-40B4-BE49-F238E27FC236}">
                <a16:creationId xmlns:a16="http://schemas.microsoft.com/office/drawing/2014/main" id="{5173B1B8-9398-463A-A853-6D4D5B2563BA}"/>
              </a:ext>
            </a:extLst>
          </p:cNvPr>
          <p:cNvSpPr txBox="1"/>
          <p:nvPr/>
        </p:nvSpPr>
        <p:spPr>
          <a:xfrm>
            <a:off x="655638" y="2383157"/>
            <a:ext cx="5402091" cy="1015663"/>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new()</a:t>
            </a:r>
          </a:p>
          <a:p>
            <a:r>
              <a:rPr lang="en-US" sz="2000" dirty="0">
                <a:solidFill>
                  <a:srgbClr val="FF4500"/>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name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"Kory"</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age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28</a:t>
            </a:r>
            <a:r>
              <a:rPr lang="en-US" sz="2000" dirty="0">
                <a:solidFill>
                  <a:srgbClr val="F5F5F5"/>
                </a:solidFill>
                <a:latin typeface="Lucida Console" panose="020B0609040504020204" pitchFamily="49" charset="0"/>
              </a:rPr>
              <a:t> </a:t>
            </a:r>
          </a:p>
        </p:txBody>
      </p:sp>
      <p:sp>
        <p:nvSpPr>
          <p:cNvPr id="8" name="TextBox 7">
            <a:extLst>
              <a:ext uri="{FF2B5EF4-FFF2-40B4-BE49-F238E27FC236}">
                <a16:creationId xmlns:a16="http://schemas.microsoft.com/office/drawing/2014/main" id="{553400DD-4AEA-48F5-B74B-E855B71B15F7}"/>
              </a:ext>
            </a:extLst>
          </p:cNvPr>
          <p:cNvSpPr txBox="1"/>
          <p:nvPr/>
        </p:nvSpPr>
        <p:spPr>
          <a:xfrm>
            <a:off x="6457207" y="3365441"/>
            <a:ext cx="5079158" cy="2862322"/>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solidFill>
                  <a:srgbClr val="E0FFFF"/>
                </a:solidFill>
                <a:latin typeface="Lucida Console" panose="020B0609040504020204" pitchFamily="49" charset="0"/>
              </a:rPr>
              <a:t>person</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a:t>
            </a:r>
          </a:p>
          <a:p>
            <a:r>
              <a:rPr lang="en-US" sz="2000" dirty="0">
                <a:solidFill>
                  <a:srgbClr val="FF4500"/>
                </a:solidFill>
                <a:latin typeface="Lucida Console" panose="020B0609040504020204" pitchFamily="49" charset="0"/>
              </a:rPr>
              <a:t>   $this</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Name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"Kory"</a:t>
            </a:r>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   $this</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Age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E4C4"/>
                </a:solidFill>
                <a:latin typeface="Lucida Console" panose="020B0609040504020204" pitchFamily="49" charset="0"/>
              </a:rPr>
              <a:t>28</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$person</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new()</a:t>
            </a:r>
          </a:p>
          <a:p>
            <a:r>
              <a:rPr lang="en-US" sz="2000" dirty="0">
                <a:solidFill>
                  <a:srgbClr val="FF4500"/>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name</a:t>
            </a:r>
          </a:p>
          <a:p>
            <a:r>
              <a:rPr lang="en-US" sz="2000" dirty="0">
                <a:solidFill>
                  <a:srgbClr val="D3D3D3"/>
                </a:solidFill>
                <a:latin typeface="Lucida Console" panose="020B0609040504020204" pitchFamily="49" charset="0"/>
              </a:rPr>
              <a:t>&gt;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Kory</a:t>
            </a:r>
            <a:endParaRPr lang="en-US" sz="2000" dirty="0">
              <a:solidFill>
                <a:srgbClr val="F5F5F5"/>
              </a:solidFill>
              <a:latin typeface="Lucida Console" panose="020B0609040504020204" pitchFamily="49" charset="0"/>
            </a:endParaRPr>
          </a:p>
        </p:txBody>
      </p:sp>
      <p:pic>
        <p:nvPicPr>
          <p:cNvPr id="4" name="Picture 3">
            <a:extLst>
              <a:ext uri="{FF2B5EF4-FFF2-40B4-BE49-F238E27FC236}">
                <a16:creationId xmlns:a16="http://schemas.microsoft.com/office/drawing/2014/main" id="{FC8D3A79-13BC-2613-1F63-51B0956F6E96}"/>
              </a:ext>
            </a:extLst>
          </p:cNvPr>
          <p:cNvPicPr>
            <a:picLocks noChangeAspect="1"/>
          </p:cNvPicPr>
          <p:nvPr/>
        </p:nvPicPr>
        <p:blipFill>
          <a:blip r:embed="rId3"/>
          <a:stretch>
            <a:fillRect/>
          </a:stretch>
        </p:blipFill>
        <p:spPr>
          <a:xfrm>
            <a:off x="10287000" y="320039"/>
            <a:ext cx="1114425" cy="1266825"/>
          </a:xfrm>
          <a:prstGeom prst="rect">
            <a:avLst/>
          </a:prstGeom>
        </p:spPr>
      </p:pic>
    </p:spTree>
    <p:extLst>
      <p:ext uri="{BB962C8B-B14F-4D97-AF65-F5344CB8AC3E}">
        <p14:creationId xmlns:p14="http://schemas.microsoft.com/office/powerpoint/2010/main" val="28969021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8" end="8"/>
                                            </p:txEl>
                                          </p:spTgt>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Constructor Overloads</a:t>
            </a:r>
          </a:p>
        </p:txBody>
      </p:sp>
      <p:sp>
        <p:nvSpPr>
          <p:cNvPr id="4" name="Content Placeholder 3">
            <a:extLst>
              <a:ext uri="{FF2B5EF4-FFF2-40B4-BE49-F238E27FC236}">
                <a16:creationId xmlns:a16="http://schemas.microsoft.com/office/drawing/2014/main" id="{1E5CFEF0-593B-4AA7-8308-DD2DF6616FA7}"/>
              </a:ext>
            </a:extLst>
          </p:cNvPr>
          <p:cNvSpPr>
            <a:spLocks noGrp="1"/>
          </p:cNvSpPr>
          <p:nvPr>
            <p:ph sz="quarter" idx="13"/>
          </p:nvPr>
        </p:nvSpPr>
        <p:spPr/>
        <p:txBody>
          <a:bodyPr/>
          <a:lstStyle/>
          <a:p>
            <a:pPr marL="457200" indent="-457200">
              <a:buFont typeface="Arial" panose="020B0604020202020204" pitchFamily="34" charset="0"/>
              <a:buChar char="•"/>
            </a:pPr>
            <a:r>
              <a:rPr lang="en-US" dirty="0"/>
              <a:t>Can take in </a:t>
            </a:r>
            <a:r>
              <a:rPr lang="en-US" b="1" dirty="0"/>
              <a:t>parameter values </a:t>
            </a:r>
            <a:r>
              <a:rPr lang="en-US" dirty="0"/>
              <a:t>(usually to define properties on creation)</a:t>
            </a:r>
          </a:p>
          <a:p>
            <a:pPr marL="457200" indent="-457200">
              <a:buFont typeface="Arial" panose="020B0604020202020204" pitchFamily="34" charset="0"/>
              <a:buChar char="•"/>
            </a:pPr>
            <a:r>
              <a:rPr lang="en-US" b="1" dirty="0"/>
              <a:t>Overload</a:t>
            </a:r>
            <a:r>
              <a:rPr lang="en-US" dirty="0"/>
              <a:t> them like methods</a:t>
            </a:r>
          </a:p>
          <a:p>
            <a:pPr marL="457200" indent="-457200">
              <a:buFont typeface="Arial" panose="020B0604020202020204" pitchFamily="34" charset="0"/>
              <a:buChar char="•"/>
            </a:pPr>
            <a:r>
              <a:rPr lang="en-US" dirty="0"/>
              <a:t>Use </a:t>
            </a:r>
            <a:r>
              <a:rPr lang="en-US" b="1" dirty="0"/>
              <a:t>$this </a:t>
            </a:r>
            <a:r>
              <a:rPr lang="en-US" dirty="0"/>
              <a:t>to touch the properties</a:t>
            </a:r>
          </a:p>
        </p:txBody>
      </p:sp>
      <p:sp>
        <p:nvSpPr>
          <p:cNvPr id="18" name="TextBox 17">
            <a:extLst>
              <a:ext uri="{FF2B5EF4-FFF2-40B4-BE49-F238E27FC236}">
                <a16:creationId xmlns:a16="http://schemas.microsoft.com/office/drawing/2014/main" id="{5173B1B8-9398-463A-A853-6D4D5B2563BA}"/>
              </a:ext>
            </a:extLst>
          </p:cNvPr>
          <p:cNvSpPr txBox="1"/>
          <p:nvPr/>
        </p:nvSpPr>
        <p:spPr>
          <a:xfrm>
            <a:off x="655638" y="2811442"/>
            <a:ext cx="10880725" cy="3416320"/>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E0FFFF"/>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$Name</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int32</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$Age</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$this</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Name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$Name</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$this</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Age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$Age</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new(</a:t>
            </a:r>
            <a:r>
              <a:rPr lang="en-US" dirty="0">
                <a:solidFill>
                  <a:srgbClr val="DB7093"/>
                </a:solidFill>
                <a:latin typeface="Lucida Console" panose="020B0609040504020204" pitchFamily="49" charset="0"/>
              </a:rPr>
              <a:t>"Kory"</a:t>
            </a:r>
            <a:r>
              <a:rPr lang="en-US" dirty="0">
                <a:solidFill>
                  <a:srgbClr val="D3D3D3"/>
                </a:solidFill>
                <a:latin typeface="Lucida Console" panose="020B0609040504020204" pitchFamily="49" charset="0"/>
              </a:rPr>
              <a:t>,</a:t>
            </a:r>
            <a:r>
              <a:rPr lang="en-US" dirty="0">
                <a:solidFill>
                  <a:srgbClr val="FFE4C4"/>
                </a:solidFill>
                <a:latin typeface="Lucida Console" panose="020B0609040504020204" pitchFamily="49" charset="0"/>
              </a:rPr>
              <a:t>28</a:t>
            </a:r>
            <a:r>
              <a:rPr lang="en-US" dirty="0">
                <a:solidFill>
                  <a:srgbClr val="F5F5F5"/>
                </a:solidFill>
                <a:latin typeface="Lucida Console" panose="020B0609040504020204" pitchFamily="49" charset="0"/>
              </a:rPr>
              <a:t>) </a:t>
            </a:r>
          </a:p>
          <a:p>
            <a:r>
              <a:rPr lang="en-US" dirty="0">
                <a:solidFill>
                  <a:srgbClr val="FF4500"/>
                </a:solidFill>
                <a:latin typeface="Lucida Console" panose="020B0609040504020204" pitchFamily="49" charset="0"/>
              </a:rPr>
              <a:t>$person</a:t>
            </a:r>
            <a:endParaRPr lang="en-US" dirty="0">
              <a:solidFill>
                <a:srgbClr val="F5F5F5"/>
              </a:solidFill>
              <a:latin typeface="Lucida Console" panose="020B0609040504020204" pitchFamily="49" charset="0"/>
            </a:endParaRPr>
          </a:p>
          <a:p>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&gt; Name  Age</a:t>
            </a:r>
          </a:p>
          <a:p>
            <a:r>
              <a:rPr lang="en-US" dirty="0">
                <a:solidFill>
                  <a:srgbClr val="F5F5F5"/>
                </a:solidFill>
                <a:latin typeface="Lucida Console" panose="020B0609040504020204" pitchFamily="49" charset="0"/>
              </a:rPr>
              <a:t>&gt; ----  ---</a:t>
            </a:r>
          </a:p>
          <a:p>
            <a:r>
              <a:rPr lang="en-US" dirty="0">
                <a:solidFill>
                  <a:srgbClr val="F5F5F5"/>
                </a:solidFill>
                <a:latin typeface="Lucida Console" panose="020B0609040504020204" pitchFamily="49" charset="0"/>
              </a:rPr>
              <a:t>&gt; Kory  28 </a:t>
            </a:r>
          </a:p>
        </p:txBody>
      </p:sp>
    </p:spTree>
    <p:extLst>
      <p:ext uri="{BB962C8B-B14F-4D97-AF65-F5344CB8AC3E}">
        <p14:creationId xmlns:p14="http://schemas.microsoft.com/office/powerpoint/2010/main" val="785924209"/>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Static members</a:t>
            </a:r>
          </a:p>
        </p:txBody>
      </p:sp>
      <p:sp>
        <p:nvSpPr>
          <p:cNvPr id="4" name="Content Placeholder 3">
            <a:extLst>
              <a:ext uri="{FF2B5EF4-FFF2-40B4-BE49-F238E27FC236}">
                <a16:creationId xmlns:a16="http://schemas.microsoft.com/office/drawing/2014/main" id="{90617A37-A4D2-458C-B0AB-DBB05DD80F04}"/>
              </a:ext>
            </a:extLst>
          </p:cNvPr>
          <p:cNvSpPr>
            <a:spLocks noGrp="1"/>
          </p:cNvSpPr>
          <p:nvPr>
            <p:ph sz="quarter" idx="13"/>
          </p:nvPr>
        </p:nvSpPr>
        <p:spPr/>
        <p:txBody>
          <a:bodyPr/>
          <a:lstStyle/>
          <a:p>
            <a:pPr marL="457200" indent="-457200">
              <a:buFont typeface="Arial" panose="020B0604020202020204" pitchFamily="34" charset="0"/>
              <a:buChar char="•"/>
            </a:pPr>
            <a:r>
              <a:rPr lang="en-US" dirty="0"/>
              <a:t>Live on the type itself</a:t>
            </a:r>
          </a:p>
          <a:p>
            <a:pPr marL="1080968" lvl="1" indent="-457200"/>
            <a:r>
              <a:rPr lang="en-US" dirty="0"/>
              <a:t>Properties that never change</a:t>
            </a:r>
          </a:p>
          <a:p>
            <a:pPr marL="1080968" lvl="1" indent="-457200"/>
            <a:r>
              <a:rPr lang="en-US" dirty="0"/>
              <a:t>Methods that don’t need $This</a:t>
            </a:r>
          </a:p>
          <a:p>
            <a:pPr marL="1080968" lvl="1" indent="-457200"/>
            <a:r>
              <a:rPr lang="en-US" b="1" u="sng" dirty="0"/>
              <a:t>Instances need to use $Data::Property</a:t>
            </a:r>
            <a:r>
              <a:rPr lang="en-US" dirty="0"/>
              <a:t>, not $</a:t>
            </a:r>
            <a:r>
              <a:rPr lang="en-US" dirty="0" err="1"/>
              <a:t>Data.Property</a:t>
            </a:r>
            <a:endParaRPr lang="en-US" b="1" u="sng" dirty="0"/>
          </a:p>
          <a:p>
            <a:endParaRPr lang="en-US" dirty="0"/>
          </a:p>
        </p:txBody>
      </p:sp>
      <p:sp>
        <p:nvSpPr>
          <p:cNvPr id="18" name="TextBox 17">
            <a:extLst>
              <a:ext uri="{FF2B5EF4-FFF2-40B4-BE49-F238E27FC236}">
                <a16:creationId xmlns:a16="http://schemas.microsoft.com/office/drawing/2014/main" id="{5173B1B8-9398-463A-A853-6D4D5B2563BA}"/>
              </a:ext>
            </a:extLst>
          </p:cNvPr>
          <p:cNvSpPr txBox="1"/>
          <p:nvPr/>
        </p:nvSpPr>
        <p:spPr>
          <a:xfrm>
            <a:off x="655638" y="3088442"/>
            <a:ext cx="10880725" cy="3139321"/>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E0FFFF"/>
                </a:solidFill>
                <a:latin typeface="Lucida Console" panose="020B0609040504020204" pitchFamily="49" charset="0"/>
              </a:rPr>
              <a:t>class</a:t>
            </a:r>
            <a:r>
              <a:rPr lang="en-US" dirty="0">
                <a:solidFill>
                  <a:srgbClr val="F5F5F5"/>
                </a:solidFill>
                <a:latin typeface="Lucida Console" panose="020B0609040504020204" pitchFamily="49" charset="0"/>
              </a:rPr>
              <a:t> </a:t>
            </a:r>
            <a:r>
              <a:rPr lang="en-US" dirty="0">
                <a:solidFill>
                  <a:srgbClr val="8FBC8F"/>
                </a:solidFill>
                <a:latin typeface="Lucida Console" panose="020B0609040504020204" pitchFamily="49" charset="0"/>
              </a:rPr>
              <a:t>person</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a:t>
            </a:r>
          </a:p>
          <a:p>
            <a:r>
              <a:rPr lang="en-US" dirty="0">
                <a:solidFill>
                  <a:srgbClr val="E0FFFF"/>
                </a:solidFill>
                <a:latin typeface="Lucida Console" panose="020B0609040504020204" pitchFamily="49" charset="0"/>
              </a:rPr>
              <a: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98FB98"/>
                </a:solidFill>
                <a:latin typeface="Lucida Console" panose="020B0609040504020204" pitchFamily="49" charset="0"/>
              </a:rPr>
              <a:t># Static Properties</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static</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 </a:t>
            </a:r>
            <a:r>
              <a:rPr lang="en-US" dirty="0">
                <a:solidFill>
                  <a:srgbClr val="FF4500"/>
                </a:solidFill>
                <a:latin typeface="Lucida Console" panose="020B0609040504020204" pitchFamily="49" charset="0"/>
              </a:rPr>
              <a:t>$Species</a:t>
            </a:r>
            <a:r>
              <a:rPr lang="en-US" dirty="0">
                <a:solidFill>
                  <a:srgbClr val="F5F5F5"/>
                </a:solidFill>
                <a:latin typeface="Lucida Console" panose="020B0609040504020204" pitchFamily="49" charset="0"/>
              </a:rPr>
              <a:t> </a:t>
            </a:r>
            <a:r>
              <a:rPr lang="en-US" dirty="0">
                <a:solidFill>
                  <a:srgbClr val="EE82EE"/>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"Totally real human"</a:t>
            </a:r>
            <a:endParaRPr lang="en-US" dirty="0">
              <a:solidFill>
                <a:srgbClr val="F5F5F5"/>
              </a:solidFill>
              <a:latin typeface="Lucida Console" panose="020B0609040504020204" pitchFamily="49" charset="0"/>
            </a:endParaRPr>
          </a:p>
          <a:p>
            <a:r>
              <a:rPr lang="en-US" dirty="0">
                <a:solidFill>
                  <a:srgbClr val="E0FFFF"/>
                </a:solidFill>
                <a:latin typeface="Lucida Console" panose="020B0609040504020204" pitchFamily="49" charset="0"/>
              </a:rPr>
              <a: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endParaRPr lang="en-US" dirty="0">
              <a:solidFill>
                <a:srgbClr val="D3D3D3"/>
              </a:solidFill>
              <a:latin typeface="Lucida Console" panose="020B0609040504020204" pitchFamily="49" charset="0"/>
            </a:endParaRPr>
          </a:p>
          <a:p>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Species </a:t>
            </a:r>
          </a:p>
          <a:p>
            <a:endParaRPr lang="en-US" dirty="0">
              <a:solidFill>
                <a:srgbClr val="D3D3D3"/>
              </a:solidFill>
              <a:latin typeface="Lucida Console" panose="020B0609040504020204" pitchFamily="49" charset="0"/>
            </a:endParaRPr>
          </a:p>
          <a:p>
            <a:r>
              <a:rPr lang="en-US" dirty="0">
                <a:solidFill>
                  <a:srgbClr val="D3D3D3"/>
                </a:solidFill>
                <a:latin typeface="Lucida Console" panose="020B0609040504020204" pitchFamily="49" charset="0"/>
              </a:rPr>
              <a:t>&gt;</a:t>
            </a:r>
            <a:r>
              <a:rPr lang="en-US" dirty="0">
                <a:solidFill>
                  <a:srgbClr val="F5F5F5"/>
                </a:solidFill>
                <a:latin typeface="Lucida Console" panose="020B0609040504020204" pitchFamily="49" charset="0"/>
              </a:rPr>
              <a:t> Totally real human </a:t>
            </a:r>
          </a:p>
        </p:txBody>
      </p:sp>
      <p:pic>
        <p:nvPicPr>
          <p:cNvPr id="6" name="Picture 5">
            <a:extLst>
              <a:ext uri="{FF2B5EF4-FFF2-40B4-BE49-F238E27FC236}">
                <a16:creationId xmlns:a16="http://schemas.microsoft.com/office/drawing/2014/main" id="{8EA353E0-42EF-4E34-AEF0-AEF2CF21EC48}"/>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6183" y="762000"/>
            <a:ext cx="4982417" cy="1769023"/>
          </a:xfrm>
          <a:prstGeom prst="rect">
            <a:avLst/>
          </a:prstGeom>
          <a:solidFill>
            <a:srgbClr val="012456"/>
          </a:solidFill>
        </p:spPr>
      </p:pic>
      <p:pic>
        <p:nvPicPr>
          <p:cNvPr id="5" name="Picture 4">
            <a:extLst>
              <a:ext uri="{FF2B5EF4-FFF2-40B4-BE49-F238E27FC236}">
                <a16:creationId xmlns:a16="http://schemas.microsoft.com/office/drawing/2014/main" id="{8020D8DB-B61F-7DDC-752C-FDACD7F7C918}"/>
              </a:ext>
            </a:extLst>
          </p:cNvPr>
          <p:cNvPicPr>
            <a:picLocks noChangeAspect="1"/>
          </p:cNvPicPr>
          <p:nvPr/>
        </p:nvPicPr>
        <p:blipFill>
          <a:blip r:embed="rId4"/>
          <a:stretch>
            <a:fillRect/>
          </a:stretch>
        </p:blipFill>
        <p:spPr>
          <a:xfrm>
            <a:off x="10421937" y="4960938"/>
            <a:ext cx="1114425" cy="1266825"/>
          </a:xfrm>
          <a:prstGeom prst="rect">
            <a:avLst/>
          </a:prstGeom>
        </p:spPr>
      </p:pic>
    </p:spTree>
    <p:extLst>
      <p:ext uri="{BB962C8B-B14F-4D97-AF65-F5344CB8AC3E}">
        <p14:creationId xmlns:p14="http://schemas.microsoft.com/office/powerpoint/2010/main" val="24983433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75DF885-878E-40A8-B95B-A5F672982B33}"/>
              </a:ext>
            </a:extLst>
          </p:cNvPr>
          <p:cNvSpPr txBox="1"/>
          <p:nvPr/>
        </p:nvSpPr>
        <p:spPr>
          <a:xfrm>
            <a:off x="655638" y="3057665"/>
            <a:ext cx="10880724" cy="3170099"/>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latin typeface="Lucida Console" panose="020B0609040504020204" pitchFamily="49" charset="0"/>
              </a:rPr>
              <a:t> </a:t>
            </a:r>
            <a:r>
              <a:rPr lang="en-US" sz="2000" dirty="0">
                <a:solidFill>
                  <a:srgbClr val="E0FFFF"/>
                </a:solidFill>
                <a:latin typeface="Lucida Console" panose="020B0609040504020204" pitchFamily="49" charset="0"/>
              </a:rPr>
              <a:t>class</a:t>
            </a:r>
            <a:r>
              <a:rPr lang="en-US" sz="2000" dirty="0">
                <a:solidFill>
                  <a:srgbClr val="F5F5F5"/>
                </a:solidFill>
                <a:latin typeface="Lucida Console" panose="020B0609040504020204" pitchFamily="49" charset="0"/>
              </a:rPr>
              <a:t> </a:t>
            </a:r>
            <a:r>
              <a:rPr lang="en-US" sz="2000" dirty="0">
                <a:solidFill>
                  <a:srgbClr val="8FBC8F"/>
                </a:solidFill>
                <a:latin typeface="Lucida Console" panose="020B0609040504020204" pitchFamily="49" charset="0"/>
              </a:rPr>
              <a:t>person</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a:t>
            </a:r>
          </a:p>
          <a:p>
            <a:r>
              <a:rPr lang="en-US" sz="2000" dirty="0">
                <a:solidFill>
                  <a:srgbClr val="E0FFFF"/>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98FB98"/>
                </a:solidFill>
                <a:latin typeface="Lucida Console" panose="020B0609040504020204" pitchFamily="49" charset="0"/>
              </a:rPr>
              <a:t># Hidden Properties</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r>
              <a:rPr lang="en-US" sz="2000" dirty="0">
                <a:solidFill>
                  <a:srgbClr val="E0FFFF"/>
                </a:solidFill>
                <a:latin typeface="Lucida Console" panose="020B0609040504020204" pitchFamily="49" charset="0"/>
              </a:rPr>
              <a:t>hidden</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[String]</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RealSpecies</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B7093"/>
                </a:solidFill>
                <a:latin typeface="Lucida Console" panose="020B0609040504020204" pitchFamily="49" charset="0"/>
              </a:rPr>
              <a:t>"Cephalopod"</a:t>
            </a:r>
            <a:r>
              <a:rPr lang="en-US" sz="2000" dirty="0">
                <a:solidFill>
                  <a:srgbClr val="F5F5F5"/>
                </a:solidFill>
                <a:latin typeface="Lucida Console" panose="020B0609040504020204" pitchFamily="49" charset="0"/>
              </a:rPr>
              <a:t> </a:t>
            </a:r>
          </a:p>
          <a:p>
            <a:r>
              <a:rPr lang="en-US" sz="2000" dirty="0">
                <a:solidFill>
                  <a:srgbClr val="E0FFFF"/>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r>
              <a:rPr lang="en-US" sz="2000" dirty="0">
                <a:solidFill>
                  <a:srgbClr val="F5F5F5"/>
                </a:solidFill>
                <a:latin typeface="Lucida Console" panose="020B0609040504020204" pitchFamily="49" charset="0"/>
              </a:rPr>
              <a:t>} </a:t>
            </a: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person</a:t>
            </a:r>
            <a:r>
              <a:rPr lang="en-US" sz="2000" dirty="0" err="1">
                <a:solidFill>
                  <a:srgbClr val="D3D3D3"/>
                </a:solidFill>
                <a:latin typeface="Lucida Console" panose="020B0609040504020204" pitchFamily="49" charset="0"/>
              </a:rPr>
              <a:t>.</a:t>
            </a:r>
            <a:r>
              <a:rPr lang="en-US" sz="2000" dirty="0" err="1">
                <a:solidFill>
                  <a:srgbClr val="F5F5F5"/>
                </a:solidFill>
                <a:latin typeface="Lucida Console" panose="020B0609040504020204" pitchFamily="49" charset="0"/>
              </a:rPr>
              <a:t>RealSpecies</a:t>
            </a:r>
            <a:r>
              <a:rPr lang="en-US" sz="2000" dirty="0">
                <a:solidFill>
                  <a:srgbClr val="F5F5F5"/>
                </a:solidFill>
                <a:latin typeface="Lucida Console" panose="020B0609040504020204" pitchFamily="49" charset="0"/>
              </a:rPr>
              <a:t> </a:t>
            </a:r>
          </a:p>
          <a:p>
            <a:r>
              <a:rPr lang="en-US" sz="2000" dirty="0">
                <a:solidFill>
                  <a:srgbClr val="D3D3D3"/>
                </a:solidFill>
                <a:latin typeface="Lucida Console" panose="020B0609040504020204" pitchFamily="49" charset="0"/>
              </a:rPr>
              <a:t>&gt;</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Cephalopod</a:t>
            </a:r>
            <a:r>
              <a:rPr lang="en-US" sz="2000" dirty="0">
                <a:solidFill>
                  <a:srgbClr val="F5F5F5"/>
                </a:solidFill>
                <a:latin typeface="Lucida Console" panose="020B0609040504020204" pitchFamily="49" charset="0"/>
              </a:rPr>
              <a:t>  </a:t>
            </a:r>
          </a:p>
        </p:txBody>
      </p:sp>
      <p:sp>
        <p:nvSpPr>
          <p:cNvPr id="2" name="Title 1"/>
          <p:cNvSpPr>
            <a:spLocks noGrp="1"/>
          </p:cNvSpPr>
          <p:nvPr>
            <p:ph type="title"/>
          </p:nvPr>
        </p:nvSpPr>
        <p:spPr/>
        <p:txBody>
          <a:bodyPr/>
          <a:lstStyle/>
          <a:p>
            <a:r>
              <a:rPr lang="en-AU"/>
              <a:t>Hidden Members </a:t>
            </a:r>
            <a:endParaRPr lang="en-AU" dirty="0"/>
          </a:p>
        </p:txBody>
      </p:sp>
      <p:sp>
        <p:nvSpPr>
          <p:cNvPr id="6" name="Content Placeholder 5">
            <a:extLst>
              <a:ext uri="{FF2B5EF4-FFF2-40B4-BE49-F238E27FC236}">
                <a16:creationId xmlns:a16="http://schemas.microsoft.com/office/drawing/2014/main" id="{C850A880-90B9-4C50-B6F5-211C8A6BAE02}"/>
              </a:ext>
            </a:extLst>
          </p:cNvPr>
          <p:cNvSpPr>
            <a:spLocks noGrp="1"/>
          </p:cNvSpPr>
          <p:nvPr>
            <p:ph sz="quarter" idx="13"/>
          </p:nvPr>
        </p:nvSpPr>
        <p:spPr/>
        <p:txBody>
          <a:bodyPr/>
          <a:lstStyle/>
          <a:p>
            <a:pPr marL="457200" lvl="0" indent="-457200" defTabSz="914400">
              <a:spcBef>
                <a:spcPts val="300"/>
              </a:spcBef>
              <a:buSzTx/>
              <a:defRPr/>
            </a:pPr>
            <a:r>
              <a:rPr lang="en-US" u="sng" kern="0" dirty="0">
                <a:solidFill>
                  <a:schemeClr val="dk1"/>
                </a:solidFill>
                <a:latin typeface="Segoe UI Light" pitchFamily="34" charset="0"/>
                <a:cs typeface="Segoe UI Light" panose="020B0502040204020203" pitchFamily="34" charset="0"/>
              </a:rPr>
              <a:t>Hidden from get-member and auto complete</a:t>
            </a:r>
          </a:p>
          <a:p>
            <a:pPr marL="457200" lvl="0" indent="-457200" defTabSz="914400">
              <a:spcBef>
                <a:spcPts val="300"/>
              </a:spcBef>
              <a:buSzTx/>
              <a:defRPr/>
            </a:pPr>
            <a:r>
              <a:rPr lang="en-US" kern="0" dirty="0">
                <a:solidFill>
                  <a:schemeClr val="dk1"/>
                </a:solidFill>
                <a:latin typeface="Segoe UI Light" pitchFamily="34" charset="0"/>
                <a:cs typeface="Segoe UI Light" panose="020B0502040204020203" pitchFamily="34" charset="0"/>
              </a:rPr>
              <a:t>Accessible like any other member</a:t>
            </a:r>
          </a:p>
          <a:p>
            <a:pPr marL="457200" lvl="0" indent="-457200" defTabSz="914400">
              <a:spcBef>
                <a:spcPts val="300"/>
              </a:spcBef>
              <a:buSzTx/>
              <a:defRPr/>
            </a:pPr>
            <a:r>
              <a:rPr lang="en-US" kern="0" dirty="0">
                <a:solidFill>
                  <a:schemeClr val="dk1"/>
                </a:solidFill>
                <a:latin typeface="Segoe UI Light" pitchFamily="34" charset="0"/>
                <a:cs typeface="Segoe UI Light" panose="020B0502040204020203" pitchFamily="34" charset="0"/>
              </a:rPr>
              <a:t>-Force flag will show them on get-member</a:t>
            </a:r>
          </a:p>
        </p:txBody>
      </p:sp>
      <p:pic>
        <p:nvPicPr>
          <p:cNvPr id="4" name="Picture 3">
            <a:extLst>
              <a:ext uri="{FF2B5EF4-FFF2-40B4-BE49-F238E27FC236}">
                <a16:creationId xmlns:a16="http://schemas.microsoft.com/office/drawing/2014/main" id="{A0FFE285-26FF-40C3-A4B1-C80D77C4F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82342" y="1408113"/>
            <a:ext cx="3254022" cy="2575783"/>
          </a:xfrm>
          <a:prstGeom prst="rect">
            <a:avLst/>
          </a:prstGeom>
        </p:spPr>
      </p:pic>
    </p:spTree>
    <p:extLst>
      <p:ext uri="{BB962C8B-B14F-4D97-AF65-F5344CB8AC3E}">
        <p14:creationId xmlns:p14="http://schemas.microsoft.com/office/powerpoint/2010/main" val="221034698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Hidden Members (Continued) </a:t>
            </a:r>
          </a:p>
        </p:txBody>
      </p:sp>
      <p:sp>
        <p:nvSpPr>
          <p:cNvPr id="8" name="Text Placeholder 7">
            <a:extLst>
              <a:ext uri="{FF2B5EF4-FFF2-40B4-BE49-F238E27FC236}">
                <a16:creationId xmlns:a16="http://schemas.microsoft.com/office/drawing/2014/main" id="{A43949D6-CCE6-4C45-9806-A28B65B7CF9E}"/>
              </a:ext>
            </a:extLst>
          </p:cNvPr>
          <p:cNvSpPr>
            <a:spLocks noGrp="1"/>
          </p:cNvSpPr>
          <p:nvPr>
            <p:ph sz="quarter" idx="13"/>
          </p:nvPr>
        </p:nvSpPr>
        <p:spPr/>
        <p:txBody>
          <a:bodyPr/>
          <a:lstStyle/>
          <a:p>
            <a:pPr marL="0" indent="0">
              <a:buNone/>
            </a:pPr>
            <a:r>
              <a:rPr lang="en-US" dirty="0"/>
              <a:t>Default hidden PS members </a:t>
            </a:r>
          </a:p>
        </p:txBody>
      </p:sp>
      <p:sp>
        <p:nvSpPr>
          <p:cNvPr id="9" name="Rectangle 8">
            <a:extLst>
              <a:ext uri="{FF2B5EF4-FFF2-40B4-BE49-F238E27FC236}">
                <a16:creationId xmlns:a16="http://schemas.microsoft.com/office/drawing/2014/main" id="{86CE1D69-940A-4B5F-8072-D3ACD6B47258}"/>
              </a:ext>
            </a:extLst>
          </p:cNvPr>
          <p:cNvSpPr/>
          <p:nvPr/>
        </p:nvSpPr>
        <p:spPr>
          <a:xfrm>
            <a:off x="655638" y="2089942"/>
            <a:ext cx="3470857" cy="2862322"/>
          </a:xfrm>
          <a:prstGeom prst="rect">
            <a:avLst/>
          </a:prstGeom>
          <a:solidFill>
            <a:srgbClr val="012456"/>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7"/>
                </a:solidFill>
                <a:effectLst/>
                <a:uLnTx/>
                <a:uFillTx/>
                <a:latin typeface="Lucida Console" panose="020B0609040504020204" pitchFamily="49" charset="0"/>
                <a:ea typeface="+mn-ea"/>
                <a:cs typeface="+mn-cs"/>
              </a:rPr>
              <a:t>$person</a:t>
            </a:r>
            <a:r>
              <a:rPr kumimoji="0" lang="en-US" sz="1800" b="0" i="0" u="none" strike="noStrike" kern="1200" cap="none" spc="0" normalizeH="0" baseline="0" noProof="0" dirty="0">
                <a:ln>
                  <a:noFill/>
                </a:ln>
                <a:solidFill>
                  <a:schemeClr val="lt1"/>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sz="1800" b="0" i="0" u="none" strike="noStrike" kern="1200" cap="none" spc="0" normalizeH="0" baseline="0" noProof="0" dirty="0">
                <a:ln>
                  <a:noFill/>
                </a:ln>
                <a:solidFill>
                  <a:schemeClr val="lt1"/>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a:ln>
                  <a:noFill/>
                </a:ln>
                <a:solidFill>
                  <a:srgbClr val="98FB98"/>
                </a:solidFill>
                <a:effectLst/>
                <a:uLnTx/>
                <a:uFillTx/>
                <a:latin typeface="Lucida Console" panose="020B0609040504020204" pitchFamily="49" charset="0"/>
                <a:ea typeface="+mn-ea"/>
                <a:cs typeface="+mn-cs"/>
              </a:rPr>
              <a:t>GM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Name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MemberType</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Equals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GetHashCode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GetType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SaySomething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ToString</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Age          Property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Name         Property</a:t>
            </a:r>
          </a:p>
        </p:txBody>
      </p:sp>
      <p:sp>
        <p:nvSpPr>
          <p:cNvPr id="11" name="Rectangle 10">
            <a:extLst>
              <a:ext uri="{FF2B5EF4-FFF2-40B4-BE49-F238E27FC236}">
                <a16:creationId xmlns:a16="http://schemas.microsoft.com/office/drawing/2014/main" id="{0BC47AB3-340B-4E95-BBE6-48F3EC70B37D}"/>
              </a:ext>
            </a:extLst>
          </p:cNvPr>
          <p:cNvSpPr/>
          <p:nvPr/>
        </p:nvSpPr>
        <p:spPr>
          <a:xfrm>
            <a:off x="7220612" y="427949"/>
            <a:ext cx="4707228" cy="6186309"/>
          </a:xfrm>
          <a:prstGeom prst="rect">
            <a:avLst/>
          </a:prstGeom>
          <a:solidFill>
            <a:srgbClr val="012456"/>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7"/>
                </a:solidFill>
                <a:effectLst/>
                <a:uLnTx/>
                <a:uFillTx/>
                <a:latin typeface="Lucida Console" panose="020B0609040504020204" pitchFamily="49" charset="0"/>
                <a:ea typeface="+mn-ea"/>
                <a:cs typeface="+mn-cs"/>
              </a:rPr>
              <a:t>$person</a:t>
            </a:r>
            <a:r>
              <a:rPr kumimoji="0" lang="en-US" sz="1800" b="0" i="0" u="none" strike="noStrike" kern="1200" cap="none" spc="0" normalizeH="0" baseline="0" noProof="0" dirty="0">
                <a:ln>
                  <a:noFill/>
                </a:ln>
                <a:solidFill>
                  <a:schemeClr val="lt1"/>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a:ln>
                  <a:noFill/>
                </a:ln>
                <a:solidFill>
                  <a:srgbClr val="D3D3D3"/>
                </a:solidFill>
                <a:effectLst/>
                <a:uLnTx/>
                <a:uFillTx/>
                <a:latin typeface="Lucida Console" panose="020B0609040504020204" pitchFamily="49" charset="0"/>
                <a:ea typeface="+mn-ea"/>
                <a:cs typeface="+mn-cs"/>
              </a:rPr>
              <a:t>|</a:t>
            </a:r>
            <a:r>
              <a:rPr kumimoji="0" lang="en-US" sz="1800" b="0" i="0" u="none" strike="noStrike" kern="1200" cap="none" spc="0" normalizeH="0" baseline="0" noProof="0" dirty="0">
                <a:ln>
                  <a:noFill/>
                </a:ln>
                <a:solidFill>
                  <a:schemeClr val="lt1"/>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a:ln>
                  <a:noFill/>
                </a:ln>
                <a:solidFill>
                  <a:srgbClr val="98FB98"/>
                </a:solidFill>
                <a:effectLst/>
                <a:uLnTx/>
                <a:uFillTx/>
                <a:latin typeface="Lucida Console" panose="020B0609040504020204" pitchFamily="49" charset="0"/>
                <a:ea typeface="+mn-ea"/>
                <a:cs typeface="+mn-cs"/>
              </a:rPr>
              <a:t>GM</a:t>
            </a:r>
            <a:r>
              <a:rPr kumimoji="0" lang="en-US" sz="1800" b="0" i="0" u="none" strike="noStrike" kern="1200" cap="none" spc="0" normalizeH="0" baseline="0" noProof="0" dirty="0">
                <a:ln>
                  <a:noFill/>
                </a:ln>
                <a:solidFill>
                  <a:schemeClr val="lt1"/>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a:ln>
                  <a:noFill/>
                </a:ln>
                <a:solidFill>
                  <a:srgbClr val="FFF100"/>
                </a:solidFill>
                <a:effectLst/>
                <a:uLnTx/>
                <a:uFillTx/>
                <a:latin typeface="Lucida Console" panose="020B0609040504020204" pitchFamily="49" charset="0"/>
                <a:ea typeface="+mn-ea"/>
                <a:cs typeface="+mn-cs"/>
              </a:rPr>
              <a:t>-Force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Name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MemberType</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pstypenames</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CodeProperty</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psadapted</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MemberSet</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psbase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MemberSet</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psextended</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MemberSet</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psobject</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a:t>
            </a: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MemberSet</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Equals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GetHashCode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GetType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a:defRPr/>
            </a:pPr>
            <a:r>
              <a:rPr lang="en-US" dirty="0" err="1">
                <a:solidFill>
                  <a:srgbClr val="F5F5F5"/>
                </a:solidFill>
                <a:latin typeface="Lucida Console" panose="020B0609040504020204" pitchFamily="49" charset="0"/>
              </a:rPr>
              <a:t>SaySomething</a:t>
            </a:r>
            <a:r>
              <a:rPr lang="en-US" dirty="0">
                <a:solidFill>
                  <a:srgbClr val="F5F5F5"/>
                </a:solidFill>
                <a:latin typeface="Lucida Console" panose="020B0609040504020204" pitchFamily="49" charset="0"/>
              </a:rPr>
              <a:t>          Method</a:t>
            </a:r>
            <a:endPar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get_Age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get_Name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get_RealSpecies</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set_Age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set_Name</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set_RealSpecies</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ToString</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Method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Age                 Property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Name                Property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srgbClr val="F5F5F5"/>
                </a:solidFill>
                <a:effectLst/>
                <a:uLnTx/>
                <a:uFillTx/>
                <a:latin typeface="Lucida Console" panose="020B0609040504020204" pitchFamily="49" charset="0"/>
                <a:ea typeface="+mn-ea"/>
                <a:cs typeface="+mn-cs"/>
              </a:rPr>
              <a:t>RealSpecies</a:t>
            </a:r>
            <a:r>
              <a:rPr kumimoji="0" lang="en-US" sz="1800" b="0" i="0" u="none" strike="noStrike" kern="1200" cap="none" spc="0" normalizeH="0" baseline="0" noProof="0" dirty="0">
                <a:ln>
                  <a:noFill/>
                </a:ln>
                <a:solidFill>
                  <a:srgbClr val="F5F5F5"/>
                </a:solidFill>
                <a:effectLst/>
                <a:uLnTx/>
                <a:uFillTx/>
                <a:latin typeface="Lucida Console" panose="020B0609040504020204" pitchFamily="49" charset="0"/>
                <a:ea typeface="+mn-ea"/>
                <a:cs typeface="+mn-cs"/>
              </a:rPr>
              <a:t>         Property </a:t>
            </a:r>
          </a:p>
        </p:txBody>
      </p:sp>
      <p:sp>
        <p:nvSpPr>
          <p:cNvPr id="15" name="Left Brace 14">
            <a:extLst>
              <a:ext uri="{FF2B5EF4-FFF2-40B4-BE49-F238E27FC236}">
                <a16:creationId xmlns:a16="http://schemas.microsoft.com/office/drawing/2014/main" id="{DB11AE0D-8F04-4E6A-ADDB-87C9D237625C}"/>
              </a:ext>
              <a:ext uri="{C183D7F6-B498-43B3-948B-1728B52AA6E4}">
                <adec:decorative xmlns:adec="http://schemas.microsoft.com/office/drawing/2017/decorative" val="1"/>
              </a:ext>
            </a:extLst>
          </p:cNvPr>
          <p:cNvSpPr/>
          <p:nvPr/>
        </p:nvSpPr>
        <p:spPr>
          <a:xfrm>
            <a:off x="6811350" y="1318785"/>
            <a:ext cx="508000" cy="1367973"/>
          </a:xfrm>
          <a:prstGeom prst="leftBrace">
            <a:avLst/>
          </a:prstGeom>
          <a:ln w="76200" cap="flat" cmpd="sng" algn="ctr">
            <a:solidFill>
              <a:srgbClr val="E81123"/>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6" name="Left Brace 15">
            <a:extLst>
              <a:ext uri="{FF2B5EF4-FFF2-40B4-BE49-F238E27FC236}">
                <a16:creationId xmlns:a16="http://schemas.microsoft.com/office/drawing/2014/main" id="{CC8AEEA2-A36C-4267-9A06-AECA0A99B57A}"/>
              </a:ext>
              <a:ext uri="{C183D7F6-B498-43B3-948B-1728B52AA6E4}">
                <adec:decorative xmlns:adec="http://schemas.microsoft.com/office/drawing/2017/decorative" val="1"/>
              </a:ext>
            </a:extLst>
          </p:cNvPr>
          <p:cNvSpPr/>
          <p:nvPr/>
        </p:nvSpPr>
        <p:spPr>
          <a:xfrm>
            <a:off x="6811350" y="3886199"/>
            <a:ext cx="409262" cy="1547335"/>
          </a:xfrm>
          <a:prstGeom prst="leftBrace">
            <a:avLst/>
          </a:prstGeom>
          <a:ln w="76200" cap="flat" cmpd="sng" algn="ctr">
            <a:solidFill>
              <a:srgbClr val="E81123"/>
            </a:solidFill>
            <a:prstDash val="solid"/>
            <a:miter lim="800000"/>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7" name="Left Brace 16">
            <a:extLst>
              <a:ext uri="{FF2B5EF4-FFF2-40B4-BE49-F238E27FC236}">
                <a16:creationId xmlns:a16="http://schemas.microsoft.com/office/drawing/2014/main" id="{3DD81721-B1C4-4DCA-8A3C-5B80CDAF9739}"/>
              </a:ext>
              <a:ext uri="{C183D7F6-B498-43B3-948B-1728B52AA6E4}">
                <adec:decorative xmlns:adec="http://schemas.microsoft.com/office/drawing/2017/decorative" val="1"/>
              </a:ext>
            </a:extLst>
          </p:cNvPr>
          <p:cNvSpPr/>
          <p:nvPr/>
        </p:nvSpPr>
        <p:spPr>
          <a:xfrm>
            <a:off x="6857142" y="6220738"/>
            <a:ext cx="508000" cy="393520"/>
          </a:xfrm>
          <a:prstGeom prst="leftBrace">
            <a:avLst/>
          </a:prstGeom>
          <a:ln w="76200">
            <a:solidFill>
              <a:srgbClr val="00BCF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14" name="Text Placeholder 7">
            <a:extLst>
              <a:ext uri="{FF2B5EF4-FFF2-40B4-BE49-F238E27FC236}">
                <a16:creationId xmlns:a16="http://schemas.microsoft.com/office/drawing/2014/main" id="{76075791-6651-4CB7-B144-5B7F7E922D6C}"/>
              </a:ext>
            </a:extLst>
          </p:cNvPr>
          <p:cNvSpPr txBox="1">
            <a:spLocks/>
          </p:cNvSpPr>
          <p:nvPr/>
        </p:nvSpPr>
        <p:spPr>
          <a:xfrm>
            <a:off x="4452869" y="3581400"/>
            <a:ext cx="2549911" cy="1735860"/>
          </a:xfrm>
          <a:prstGeom prst="rect">
            <a:avLst/>
          </a:prstGeom>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Font typeface="Arial" pitchFamily="34" charset="0"/>
              <a:buNone/>
            </a:pPr>
            <a:r>
              <a:rPr lang="en-US" dirty="0"/>
              <a:t>Auto Generated hidden methods</a:t>
            </a:r>
          </a:p>
        </p:txBody>
      </p:sp>
      <p:sp>
        <p:nvSpPr>
          <p:cNvPr id="18" name="Text Placeholder 7">
            <a:extLst>
              <a:ext uri="{FF2B5EF4-FFF2-40B4-BE49-F238E27FC236}">
                <a16:creationId xmlns:a16="http://schemas.microsoft.com/office/drawing/2014/main" id="{976BD633-8365-4DB6-B073-A7BA4ABD663F}"/>
              </a:ext>
            </a:extLst>
          </p:cNvPr>
          <p:cNvSpPr txBox="1">
            <a:spLocks/>
          </p:cNvSpPr>
          <p:nvPr/>
        </p:nvSpPr>
        <p:spPr>
          <a:xfrm>
            <a:off x="4452869" y="5886845"/>
            <a:ext cx="2895600" cy="960263"/>
          </a:xfrm>
          <a:prstGeom prst="rect">
            <a:avLst/>
          </a:prstGeom>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Font typeface="Arial" pitchFamily="34" charset="0"/>
              <a:buNone/>
            </a:pPr>
            <a:r>
              <a:rPr lang="en-US" dirty="0"/>
              <a:t>Our hidden Property</a:t>
            </a:r>
          </a:p>
        </p:txBody>
      </p:sp>
      <p:sp>
        <p:nvSpPr>
          <p:cNvPr id="10" name="Arrow: Right 9">
            <a:extLst>
              <a:ext uri="{FF2B5EF4-FFF2-40B4-BE49-F238E27FC236}">
                <a16:creationId xmlns:a16="http://schemas.microsoft.com/office/drawing/2014/main" id="{D8E18287-EAB1-47C9-B63D-BF259E2BB233}"/>
              </a:ext>
              <a:ext uri="{C183D7F6-B498-43B3-948B-1728B52AA6E4}">
                <adec:decorative xmlns:adec="http://schemas.microsoft.com/office/drawing/2017/decorative" val="1"/>
              </a:ext>
            </a:extLst>
          </p:cNvPr>
          <p:cNvSpPr/>
          <p:nvPr/>
        </p:nvSpPr>
        <p:spPr bwMode="auto">
          <a:xfrm>
            <a:off x="4452870" y="2924248"/>
            <a:ext cx="2286000" cy="533400"/>
          </a:xfrm>
          <a:prstGeom prst="right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9" name="Arrow: Right 18">
            <a:extLst>
              <a:ext uri="{FF2B5EF4-FFF2-40B4-BE49-F238E27FC236}">
                <a16:creationId xmlns:a16="http://schemas.microsoft.com/office/drawing/2014/main" id="{FEE5BE65-2B0A-4375-9848-C8A933939960}"/>
              </a:ext>
              <a:ext uri="{C183D7F6-B498-43B3-948B-1728B52AA6E4}">
                <adec:decorative xmlns:adec="http://schemas.microsoft.com/office/drawing/2017/decorative" val="1"/>
              </a:ext>
            </a:extLst>
          </p:cNvPr>
          <p:cNvSpPr>
            <a:spLocks/>
          </p:cNvSpPr>
          <p:nvPr/>
        </p:nvSpPr>
        <p:spPr bwMode="auto">
          <a:xfrm>
            <a:off x="4452870" y="5248190"/>
            <a:ext cx="2286000" cy="533400"/>
          </a:xfrm>
          <a:prstGeom prst="rightArrow">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a:extLst>
              <a:ext uri="{FF2B5EF4-FFF2-40B4-BE49-F238E27FC236}">
                <a16:creationId xmlns:a16="http://schemas.microsoft.com/office/drawing/2014/main" id="{333DD7B5-D746-E356-F591-61B9C749565A}"/>
              </a:ext>
            </a:extLst>
          </p:cNvPr>
          <p:cNvPicPr>
            <a:picLocks noChangeAspect="1"/>
          </p:cNvPicPr>
          <p:nvPr/>
        </p:nvPicPr>
        <p:blipFill>
          <a:blip r:embed="rId3"/>
          <a:stretch>
            <a:fillRect/>
          </a:stretch>
        </p:blipFill>
        <p:spPr>
          <a:xfrm>
            <a:off x="655636" y="5347433"/>
            <a:ext cx="1114425" cy="1266825"/>
          </a:xfrm>
          <a:prstGeom prst="rect">
            <a:avLst/>
          </a:prstGeom>
        </p:spPr>
      </p:pic>
    </p:spTree>
    <p:extLst>
      <p:ext uri="{BB962C8B-B14F-4D97-AF65-F5344CB8AC3E}">
        <p14:creationId xmlns:p14="http://schemas.microsoft.com/office/powerpoint/2010/main" val="25485937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fltVal val="0"/>
                                          </p:val>
                                        </p:tav>
                                        <p:tav tm="100000">
                                          <p:val>
                                            <p:strVal val="#ppt_w"/>
                                          </p:val>
                                        </p:tav>
                                      </p:tavLst>
                                    </p:anim>
                                    <p:anim calcmode="lin" valueType="num">
                                      <p:cBhvr>
                                        <p:cTn id="21" dur="500" fill="hold"/>
                                        <p:tgtEl>
                                          <p:spTgt spid="15"/>
                                        </p:tgtEl>
                                        <p:attrNameLst>
                                          <p:attrName>ppt_h</p:attrName>
                                        </p:attrNameLst>
                                      </p:cBhvr>
                                      <p:tavLst>
                                        <p:tav tm="0">
                                          <p:val>
                                            <p:fltVal val="0"/>
                                          </p:val>
                                        </p:tav>
                                        <p:tav tm="100000">
                                          <p:val>
                                            <p:strVal val="#ppt_h"/>
                                          </p:val>
                                        </p:tav>
                                      </p:tavLst>
                                    </p:anim>
                                    <p:animEffect transition="in" filter="fade">
                                      <p:cBhvr>
                                        <p:cTn id="22" dur="500"/>
                                        <p:tgtEl>
                                          <p:spTgt spid="15"/>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 calcmode="lin" valueType="num">
                                      <p:cBhvr>
                                        <p:cTn id="25" dur="500" fill="hold"/>
                                        <p:tgtEl>
                                          <p:spTgt spid="8">
                                            <p:txEl>
                                              <p:pRg st="0" end="0"/>
                                            </p:txEl>
                                          </p:spTgt>
                                        </p:tgtEl>
                                        <p:attrNameLst>
                                          <p:attrName>ppt_w</p:attrName>
                                        </p:attrNameLst>
                                      </p:cBhvr>
                                      <p:tavLst>
                                        <p:tav tm="0">
                                          <p:val>
                                            <p:fltVal val="0"/>
                                          </p:val>
                                        </p:tav>
                                        <p:tav tm="100000">
                                          <p:val>
                                            <p:strVal val="#ppt_w"/>
                                          </p:val>
                                        </p:tav>
                                      </p:tavLst>
                                    </p:anim>
                                    <p:anim calcmode="lin" valueType="num">
                                      <p:cBhvr>
                                        <p:cTn id="26" dur="5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ppt_w</p:attrName>
                                        </p:attrNameLst>
                                      </p:cBhvr>
                                      <p:tavLst>
                                        <p:tav tm="0">
                                          <p:val>
                                            <p:fltVal val="0"/>
                                          </p:val>
                                        </p:tav>
                                        <p:tav tm="100000">
                                          <p:val>
                                            <p:strVal val="#ppt_w"/>
                                          </p:val>
                                        </p:tav>
                                      </p:tavLst>
                                    </p:anim>
                                    <p:anim calcmode="lin" valueType="num">
                                      <p:cBhvr>
                                        <p:cTn id="38" dur="500" fill="hold"/>
                                        <p:tgtEl>
                                          <p:spTgt spid="16"/>
                                        </p:tgtEl>
                                        <p:attrNameLst>
                                          <p:attrName>ppt_h</p:attrName>
                                        </p:attrNameLst>
                                      </p:cBhvr>
                                      <p:tavLst>
                                        <p:tav tm="0">
                                          <p:val>
                                            <p:fltVal val="0"/>
                                          </p:val>
                                        </p:tav>
                                        <p:tav tm="100000">
                                          <p:val>
                                            <p:strVal val="#ppt_h"/>
                                          </p:val>
                                        </p:tav>
                                      </p:tavLst>
                                    </p:anim>
                                    <p:animEffect transition="in" filter="fade">
                                      <p:cBhvr>
                                        <p:cTn id="39" dur="5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Effect transition="in" filter="fade">
                                      <p:cBhvr>
                                        <p:cTn id="46" dur="500"/>
                                        <p:tgtEl>
                                          <p:spTgt spid="18"/>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1" grpId="0" animBg="1"/>
      <p:bldP spid="15" grpId="0" animBg="1"/>
      <p:bldP spid="16" grpId="0" animBg="1"/>
      <p:bldP spid="17" grpId="0" animBg="1"/>
      <p:bldP spid="14" grpId="0"/>
      <p:bldP spid="18" grpId="0"/>
      <p:bldP spid="10"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Inheritance </a:t>
            </a:r>
            <a:endParaRPr lang="en-AU" dirty="0"/>
          </a:p>
        </p:txBody>
      </p:sp>
      <p:sp>
        <p:nvSpPr>
          <p:cNvPr id="4" name="Text Placeholder 3">
            <a:extLst>
              <a:ext uri="{FF2B5EF4-FFF2-40B4-BE49-F238E27FC236}">
                <a16:creationId xmlns:a16="http://schemas.microsoft.com/office/drawing/2014/main" id="{6CF088B5-D05B-459A-9736-D2E31932C694}"/>
              </a:ext>
            </a:extLst>
          </p:cNvPr>
          <p:cNvSpPr>
            <a:spLocks noGrp="1"/>
          </p:cNvSpPr>
          <p:nvPr>
            <p:ph type="body" sz="quarter" idx="10"/>
          </p:nvPr>
        </p:nvSpPr>
        <p:spPr/>
        <p:txBody>
          <a:bodyPr/>
          <a:lstStyle/>
          <a:p>
            <a:r>
              <a:rPr lang="en-US" sz="2400" dirty="0"/>
              <a:t>Create a modified version of an existing class</a:t>
            </a:r>
          </a:p>
          <a:p>
            <a:r>
              <a:rPr lang="en-US" sz="2400" dirty="0"/>
              <a:t>Gets </a:t>
            </a:r>
            <a:r>
              <a:rPr lang="en-US" sz="2400" b="1" u="sng" dirty="0"/>
              <a:t>most</a:t>
            </a:r>
            <a:r>
              <a:rPr lang="en-US" sz="2400" dirty="0"/>
              <a:t> existing members, which you can override</a:t>
            </a:r>
          </a:p>
          <a:p>
            <a:pPr marL="1080968" lvl="1" indent="-457200"/>
            <a:r>
              <a:rPr lang="en-US" sz="3000" u="sng" dirty="0"/>
              <a:t>Only default Constructor is inherited</a:t>
            </a:r>
          </a:p>
          <a:p>
            <a:r>
              <a:rPr lang="en-US" sz="2400" dirty="0"/>
              <a:t>Able to add new members</a:t>
            </a:r>
          </a:p>
        </p:txBody>
      </p:sp>
    </p:spTree>
    <p:extLst>
      <p:ext uri="{BB962C8B-B14F-4D97-AF65-F5344CB8AC3E}">
        <p14:creationId xmlns:p14="http://schemas.microsoft.com/office/powerpoint/2010/main" val="335155126"/>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Inheritance - Example</a:t>
            </a:r>
            <a:endParaRPr lang="en-AU" dirty="0"/>
          </a:p>
        </p:txBody>
      </p:sp>
      <p:sp>
        <p:nvSpPr>
          <p:cNvPr id="18" name="TextBox 17">
            <a:extLst>
              <a:ext uri="{FF2B5EF4-FFF2-40B4-BE49-F238E27FC236}">
                <a16:creationId xmlns:a16="http://schemas.microsoft.com/office/drawing/2014/main" id="{5173B1B8-9398-463A-A853-6D4D5B2563BA}"/>
              </a:ext>
            </a:extLst>
          </p:cNvPr>
          <p:cNvSpPr txBox="1"/>
          <p:nvPr/>
        </p:nvSpPr>
        <p:spPr>
          <a:xfrm>
            <a:off x="302871" y="1304865"/>
            <a:ext cx="5715000" cy="4801314"/>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latin typeface="Lucida Console" panose="020B0609040504020204" pitchFamily="49" charset="0"/>
              </a:rPr>
              <a:t> </a:t>
            </a:r>
            <a:r>
              <a:rPr lang="en-US" dirty="0">
                <a:solidFill>
                  <a:srgbClr val="E0FFFF"/>
                </a:solidFill>
                <a:latin typeface="Lucida Console" panose="020B0609040504020204" pitchFamily="49" charset="0"/>
              </a:rPr>
              <a:t>class</a:t>
            </a:r>
            <a:r>
              <a:rPr lang="en-US" dirty="0">
                <a:solidFill>
                  <a:srgbClr val="F5F5F5"/>
                </a:solidFill>
                <a:latin typeface="Lucida Console" panose="020B0609040504020204" pitchFamily="49" charset="0"/>
              </a:rPr>
              <a:t> </a:t>
            </a:r>
            <a:r>
              <a:rPr lang="en-US" dirty="0">
                <a:solidFill>
                  <a:srgbClr val="8FBC8F"/>
                </a:solidFill>
                <a:latin typeface="Lucida Console" panose="020B0609040504020204" pitchFamily="49" charset="0"/>
              </a:rPr>
              <a:t>person</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a:t>
            </a:r>
          </a:p>
          <a:p>
            <a:r>
              <a:rPr lang="en-US" dirty="0">
                <a:solidFill>
                  <a:srgbClr val="E0FFFF"/>
                </a:solidFill>
                <a:latin typeface="Lucida Console" panose="020B0609040504020204" pitchFamily="49" charset="0"/>
              </a:rPr>
              <a: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person</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$this</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name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"Temp Name"</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this</a:t>
            </a:r>
            <a:r>
              <a:rPr lang="en-US" dirty="0" err="1">
                <a:solidFill>
                  <a:srgbClr val="D3D3D3"/>
                </a:solidFill>
                <a:latin typeface="Lucida Console" panose="020B0609040504020204" pitchFamily="49" charset="0"/>
              </a:rPr>
              <a:t>.</a:t>
            </a:r>
            <a:r>
              <a:rPr lang="en-US" dirty="0" err="1">
                <a:solidFill>
                  <a:srgbClr val="F5F5F5"/>
                </a:solidFill>
                <a:latin typeface="Lucida Console" panose="020B0609040504020204" pitchFamily="49" charset="0"/>
              </a:rPr>
              <a:t>age</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FFE4C4"/>
                </a:solidFill>
                <a:latin typeface="Lucida Console" panose="020B0609040504020204" pitchFamily="49" charset="0"/>
              </a:rPr>
              <a:t>30</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r>
              <a:rPr lang="en-US" dirty="0">
                <a:solidFill>
                  <a:srgbClr val="E0FFFF"/>
                </a:solidFill>
                <a:latin typeface="Lucida Console" panose="020B0609040504020204" pitchFamily="49" charset="0"/>
              </a:rPr>
              <a: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endParaRPr lang="en-US" dirty="0">
              <a:solidFill>
                <a:srgbClr val="F5F5F5"/>
              </a:solidFill>
              <a:latin typeface="Lucida Console" panose="020B0609040504020204" pitchFamily="49" charset="0"/>
            </a:endParaRPr>
          </a:p>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person</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new() </a:t>
            </a:r>
          </a:p>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p>
          <a:p>
            <a:endParaRPr lang="en-US" dirty="0">
              <a:latin typeface="Lucida Console" panose="020B0609040504020204" pitchFamily="49" charset="0"/>
            </a:endParaRPr>
          </a:p>
          <a:p>
            <a:r>
              <a:rPr lang="en-US" dirty="0">
                <a:latin typeface="Lucida Console" panose="020B0609040504020204" pitchFamily="49" charset="0"/>
              </a:rPr>
              <a:t>&gt;  </a:t>
            </a:r>
            <a:r>
              <a:rPr lang="en-US" dirty="0">
                <a:solidFill>
                  <a:srgbClr val="F5F5F5"/>
                </a:solidFill>
                <a:latin typeface="Lucida Console" panose="020B0609040504020204" pitchFamily="49" charset="0"/>
              </a:rPr>
              <a:t>name      age</a:t>
            </a:r>
          </a:p>
          <a:p>
            <a:r>
              <a:rPr lang="en-US" dirty="0">
                <a:solidFill>
                  <a:srgbClr val="F5F5F5"/>
                </a:solidFill>
                <a:latin typeface="Lucida Console" panose="020B0609040504020204" pitchFamily="49" charset="0"/>
              </a:rPr>
              <a:t>&gt; ----      ---</a:t>
            </a:r>
          </a:p>
          <a:p>
            <a:r>
              <a:rPr lang="en-US" dirty="0">
                <a:solidFill>
                  <a:srgbClr val="F5F5F5"/>
                </a:solidFill>
                <a:latin typeface="Lucida Console" panose="020B0609040504020204" pitchFamily="49" charset="0"/>
              </a:rPr>
              <a:t>&gt; Temp Name  30 </a:t>
            </a:r>
          </a:p>
        </p:txBody>
      </p:sp>
      <p:sp>
        <p:nvSpPr>
          <p:cNvPr id="7" name="TextBox 6">
            <a:extLst>
              <a:ext uri="{FF2B5EF4-FFF2-40B4-BE49-F238E27FC236}">
                <a16:creationId xmlns:a16="http://schemas.microsoft.com/office/drawing/2014/main" id="{DF36AD38-F97F-4695-AE95-F4D887E63FB5}"/>
              </a:ext>
            </a:extLst>
          </p:cNvPr>
          <p:cNvSpPr txBox="1"/>
          <p:nvPr/>
        </p:nvSpPr>
        <p:spPr>
          <a:xfrm>
            <a:off x="6248400" y="1304865"/>
            <a:ext cx="5715000" cy="4524315"/>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dirty="0">
                <a:solidFill>
                  <a:srgbClr val="E0FFFF"/>
                </a:solidFill>
                <a:latin typeface="Lucida Console" panose="020B0609040504020204" pitchFamily="49" charset="0"/>
              </a:rPr>
              <a:t>class</a:t>
            </a:r>
            <a:r>
              <a:rPr lang="en-US" dirty="0">
                <a:solidFill>
                  <a:srgbClr val="F5F5F5"/>
                </a:solidFill>
                <a:latin typeface="Lucida Console" panose="020B0609040504020204" pitchFamily="49" charset="0"/>
              </a:rPr>
              <a:t> </a:t>
            </a:r>
            <a:r>
              <a:rPr lang="en-US" dirty="0">
                <a:solidFill>
                  <a:srgbClr val="8FBC8F"/>
                </a:solidFill>
                <a:latin typeface="Lucida Console" panose="020B0609040504020204" pitchFamily="49" charset="0"/>
              </a:rPr>
              <a:t>Cronenberg</a:t>
            </a:r>
            <a:r>
              <a:rPr lang="en-US" dirty="0">
                <a:solidFill>
                  <a:srgbClr val="F5F5F5"/>
                </a:solidFill>
                <a:latin typeface="Lucida Console" panose="020B0609040504020204" pitchFamily="49" charset="0"/>
              </a:rPr>
              <a:t> : </a:t>
            </a:r>
            <a:r>
              <a:rPr lang="en-US" dirty="0">
                <a:solidFill>
                  <a:srgbClr val="8FBC8F"/>
                </a:solidFill>
                <a:latin typeface="Lucida Console" panose="020B0609040504020204" pitchFamily="49" charset="0"/>
              </a:rPr>
              <a:t>person</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r>
              <a:rPr lang="en-US" dirty="0">
                <a:solidFill>
                  <a:srgbClr val="98FB98"/>
                </a:solidFill>
                <a:latin typeface="Lucida Console" panose="020B0609040504020204" pitchFamily="49" charset="0"/>
              </a:rPr>
              <a:t># Static Members</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static</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a:solidFill>
                  <a:srgbClr val="FF4500"/>
                </a:solidFill>
                <a:latin typeface="Lucida Console" panose="020B0609040504020204" pitchFamily="49" charset="0"/>
              </a:rPr>
              <a:t>$Species</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"Human"</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98FB98"/>
                </a:solidFill>
                <a:latin typeface="Lucida Console" panose="020B0609040504020204" pitchFamily="49" charset="0"/>
              </a:rPr>
              <a:t># Hidden Properties</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hidden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String</a:t>
            </a:r>
            <a:r>
              <a:rPr lang="en-US" dirty="0">
                <a:solidFill>
                  <a:srgbClr val="D3D3D3"/>
                </a:solidFill>
                <a:latin typeface="Lucida Console" panose="020B0609040504020204" pitchFamily="49" charset="0"/>
              </a:rPr>
              <a:t>]</a:t>
            </a:r>
            <a:r>
              <a:rPr lang="en-US" dirty="0">
                <a:solidFill>
                  <a:srgbClr val="FF4500"/>
                </a:solidFill>
                <a:latin typeface="Lucida Console" panose="020B0609040504020204" pitchFamily="49" charset="0"/>
              </a:rPr>
              <a:t>$</a:t>
            </a:r>
            <a:r>
              <a:rPr lang="en-US" dirty="0" err="1">
                <a:solidFill>
                  <a:srgbClr val="FF4500"/>
                </a:solidFill>
                <a:latin typeface="Lucida Console" panose="020B0609040504020204" pitchFamily="49" charset="0"/>
              </a:rPr>
              <a:t>RealSpecies</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"Cronenberg"</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p>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 </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Cronenberg</a:t>
            </a:r>
            <a:r>
              <a:rPr lang="en-US" dirty="0">
                <a:solidFill>
                  <a:srgbClr val="D3D3D3"/>
                </a:solidFill>
                <a:latin typeface="Lucida Console" panose="020B0609040504020204" pitchFamily="49" charset="0"/>
              </a:rPr>
              <a:t>]::</a:t>
            </a:r>
            <a:r>
              <a:rPr lang="en-US" dirty="0">
                <a:solidFill>
                  <a:srgbClr val="F5F5F5"/>
                </a:solidFill>
                <a:latin typeface="Lucida Console" panose="020B0609040504020204" pitchFamily="49" charset="0"/>
              </a:rPr>
              <a:t>new() </a:t>
            </a:r>
          </a:p>
          <a:p>
            <a:r>
              <a:rPr lang="en-US" dirty="0">
                <a:solidFill>
                  <a:srgbClr val="FF4500"/>
                </a:solidFill>
                <a:latin typeface="Lucida Console" panose="020B0609040504020204" pitchFamily="49" charset="0"/>
              </a:rPr>
              <a:t>$person</a:t>
            </a:r>
            <a:r>
              <a:rPr lang="en-US" dirty="0">
                <a:solidFill>
                  <a:srgbClr val="F5F5F5"/>
                </a:solidFill>
                <a:latin typeface="Lucida Console" panose="020B0609040504020204" pitchFamily="49" charset="0"/>
              </a:rPr>
              <a:t>  </a:t>
            </a:r>
          </a:p>
          <a:p>
            <a:endParaRPr lang="en-US" dirty="0">
              <a:solidFill>
                <a:srgbClr val="F5F5F5"/>
              </a:solidFill>
              <a:latin typeface="Lucida Console" panose="020B0609040504020204" pitchFamily="49" charset="0"/>
            </a:endParaRPr>
          </a:p>
          <a:p>
            <a:r>
              <a:rPr lang="en-US" dirty="0">
                <a:latin typeface="Lucida Console" panose="020B0609040504020204" pitchFamily="49" charset="0"/>
              </a:rPr>
              <a:t>&gt;  </a:t>
            </a:r>
            <a:r>
              <a:rPr lang="en-US" dirty="0">
                <a:solidFill>
                  <a:srgbClr val="F5F5F5"/>
                </a:solidFill>
                <a:latin typeface="Lucida Console" panose="020B0609040504020204" pitchFamily="49" charset="0"/>
              </a:rPr>
              <a:t>name      age</a:t>
            </a:r>
          </a:p>
          <a:p>
            <a:r>
              <a:rPr lang="en-US" dirty="0">
                <a:solidFill>
                  <a:srgbClr val="F5F5F5"/>
                </a:solidFill>
                <a:latin typeface="Lucida Console" panose="020B0609040504020204" pitchFamily="49" charset="0"/>
              </a:rPr>
              <a:t>&gt; ----      ---</a:t>
            </a:r>
          </a:p>
          <a:p>
            <a:r>
              <a:rPr lang="en-US" dirty="0">
                <a:solidFill>
                  <a:srgbClr val="F5F5F5"/>
                </a:solidFill>
                <a:latin typeface="Lucida Console" panose="020B0609040504020204" pitchFamily="49" charset="0"/>
              </a:rPr>
              <a:t>&gt; Temp Name  30</a:t>
            </a:r>
          </a:p>
          <a:p>
            <a:r>
              <a:rPr lang="en-US" dirty="0">
                <a:solidFill>
                  <a:srgbClr val="F5F5F5"/>
                </a:solidFill>
                <a:latin typeface="Lucida Console" panose="020B0609040504020204" pitchFamily="49" charset="0"/>
              </a:rPr>
              <a:t> </a:t>
            </a:r>
          </a:p>
        </p:txBody>
      </p:sp>
      <p:sp>
        <p:nvSpPr>
          <p:cNvPr id="6" name="TextBox 5">
            <a:extLst>
              <a:ext uri="{FF2B5EF4-FFF2-40B4-BE49-F238E27FC236}">
                <a16:creationId xmlns:a16="http://schemas.microsoft.com/office/drawing/2014/main" id="{503F0E69-6D4A-4EF4-848E-A5F3B22C458D}"/>
              </a:ext>
            </a:extLst>
          </p:cNvPr>
          <p:cNvSpPr txBox="1"/>
          <p:nvPr/>
        </p:nvSpPr>
        <p:spPr>
          <a:xfrm>
            <a:off x="302870" y="5675293"/>
            <a:ext cx="11655839" cy="954107"/>
          </a:xfrm>
          <a:prstGeom prst="rect">
            <a:avLst/>
          </a:prstGeom>
          <a:solidFill>
            <a:srgbClr val="00BCF2"/>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sng" strike="noStrike" kern="1200" cap="none" spc="0" normalizeH="0" baseline="0" noProof="0" dirty="0">
                <a:ln>
                  <a:noFill/>
                </a:ln>
                <a:solidFill>
                  <a:srgbClr val="000000"/>
                </a:solidFill>
                <a:effectLst/>
                <a:uLnTx/>
                <a:uFillTx/>
                <a:latin typeface="Segoe UI"/>
                <a:ea typeface="+mn-ea"/>
                <a:cs typeface="+mn-cs"/>
              </a:rPr>
              <a:t>Can call base class constructors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Segoe UI"/>
                <a:ea typeface="+mn-ea"/>
                <a:cs typeface="+mn-cs"/>
              </a:rPr>
              <a:t>Subclass (arguments) : base (</a:t>
            </a:r>
            <a:r>
              <a:rPr kumimoji="0" lang="en-US" sz="2800" b="0" i="0" u="none" strike="noStrike" kern="1200" cap="none" spc="0" normalizeH="0" baseline="0" noProof="0" dirty="0" err="1">
                <a:ln>
                  <a:noFill/>
                </a:ln>
                <a:solidFill>
                  <a:srgbClr val="000000"/>
                </a:solidFill>
                <a:effectLst/>
                <a:uLnTx/>
                <a:uFillTx/>
                <a:latin typeface="Segoe UI"/>
                <a:ea typeface="+mn-ea"/>
                <a:cs typeface="+mn-cs"/>
              </a:rPr>
              <a:t>argumentsToBaseClassConstructor</a:t>
            </a:r>
            <a:r>
              <a:rPr kumimoji="0" lang="en-US" sz="2800" b="0" i="0" u="none" strike="noStrike" kern="1200" cap="none" spc="0" normalizeH="0" baseline="0" noProof="0" dirty="0">
                <a:ln>
                  <a:noFill/>
                </a:ln>
                <a:solidFill>
                  <a:srgbClr val="000000"/>
                </a:solidFill>
                <a:effectLst/>
                <a:uLnTx/>
                <a:uFillTx/>
                <a:latin typeface="Segoe UI"/>
                <a:ea typeface="+mn-ea"/>
                <a:cs typeface="+mn-cs"/>
              </a:rPr>
              <a:t>) { ... }</a:t>
            </a:r>
          </a:p>
        </p:txBody>
      </p:sp>
      <p:pic>
        <p:nvPicPr>
          <p:cNvPr id="4" name="Picture 3">
            <a:extLst>
              <a:ext uri="{FF2B5EF4-FFF2-40B4-BE49-F238E27FC236}">
                <a16:creationId xmlns:a16="http://schemas.microsoft.com/office/drawing/2014/main" id="{129A017B-38D0-EB05-F57E-28319162111B}"/>
              </a:ext>
            </a:extLst>
          </p:cNvPr>
          <p:cNvPicPr>
            <a:picLocks noChangeAspect="1"/>
          </p:cNvPicPr>
          <p:nvPr/>
        </p:nvPicPr>
        <p:blipFill>
          <a:blip r:embed="rId3"/>
          <a:stretch>
            <a:fillRect/>
          </a:stretch>
        </p:blipFill>
        <p:spPr>
          <a:xfrm>
            <a:off x="10823502" y="0"/>
            <a:ext cx="1114425" cy="1266825"/>
          </a:xfrm>
          <a:prstGeom prst="rect">
            <a:avLst/>
          </a:prstGeom>
        </p:spPr>
      </p:pic>
    </p:spTree>
    <p:extLst>
      <p:ext uri="{BB962C8B-B14F-4D97-AF65-F5344CB8AC3E}">
        <p14:creationId xmlns:p14="http://schemas.microsoft.com/office/powerpoint/2010/main" val="312610876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Enums </a:t>
            </a:r>
            <a:endParaRPr lang="en-AU" dirty="0"/>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sz="quarter" idx="13"/>
          </p:nvPr>
        </p:nvSpPr>
        <p:spPr/>
        <p:txBody>
          <a:bodyPr/>
          <a:lstStyle/>
          <a:p>
            <a:r>
              <a:rPr lang="en-US" dirty="0"/>
              <a:t>Basic sub types for pre-defined values</a:t>
            </a:r>
          </a:p>
          <a:p>
            <a:r>
              <a:rPr lang="en-US" dirty="0"/>
              <a:t>Can be created within a class or separately </a:t>
            </a:r>
          </a:p>
        </p:txBody>
      </p:sp>
      <p:sp>
        <p:nvSpPr>
          <p:cNvPr id="18" name="TextBox 17">
            <a:extLst>
              <a:ext uri="{FF2B5EF4-FFF2-40B4-BE49-F238E27FC236}">
                <a16:creationId xmlns:a16="http://schemas.microsoft.com/office/drawing/2014/main" id="{5173B1B8-9398-463A-A853-6D4D5B2563BA}"/>
              </a:ext>
            </a:extLst>
          </p:cNvPr>
          <p:cNvSpPr txBox="1"/>
          <p:nvPr/>
        </p:nvSpPr>
        <p:spPr>
          <a:xfrm>
            <a:off x="915674" y="2438400"/>
            <a:ext cx="4191362" cy="2246769"/>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err="1">
                <a:solidFill>
                  <a:srgbClr val="8FBC8F"/>
                </a:solidFill>
                <a:latin typeface="Lucida Console" panose="020B0609040504020204" pitchFamily="49" charset="0"/>
              </a:rPr>
              <a:t>Enum</a:t>
            </a:r>
            <a:r>
              <a:rPr lang="en-US" sz="2000" dirty="0">
                <a:solidFill>
                  <a:srgbClr val="F5F5F5"/>
                </a:solidFill>
                <a:latin typeface="Lucida Console" panose="020B0609040504020204" pitchFamily="49" charset="0"/>
              </a:rPr>
              <a:t> Turtle</a:t>
            </a:r>
          </a:p>
          <a:p>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Donatello</a:t>
            </a:r>
          </a:p>
          <a:p>
            <a:r>
              <a:rPr lang="en-US" sz="2000" dirty="0">
                <a:solidFill>
                  <a:srgbClr val="F5F5F5"/>
                </a:solidFill>
                <a:latin typeface="Lucida Console" panose="020B0609040504020204" pitchFamily="49" charset="0"/>
              </a:rPr>
              <a:t>    Leonardo</a:t>
            </a:r>
          </a:p>
          <a:p>
            <a:r>
              <a:rPr lang="en-US" sz="2000" dirty="0">
                <a:solidFill>
                  <a:srgbClr val="F5F5F5"/>
                </a:solidFill>
                <a:latin typeface="Lucida Console" panose="020B0609040504020204" pitchFamily="49" charset="0"/>
              </a:rPr>
              <a:t>    Michelangelo</a:t>
            </a:r>
          </a:p>
          <a:p>
            <a:r>
              <a:rPr lang="en-US" sz="2000" dirty="0">
                <a:solidFill>
                  <a:srgbClr val="F5F5F5"/>
                </a:solidFill>
                <a:latin typeface="Lucida Console" panose="020B0609040504020204" pitchFamily="49" charset="0"/>
              </a:rPr>
              <a:t>    Raphael</a:t>
            </a:r>
          </a:p>
          <a:p>
            <a:r>
              <a:rPr lang="en-US" sz="2000" dirty="0">
                <a:solidFill>
                  <a:srgbClr val="F5F5F5"/>
                </a:solidFill>
                <a:latin typeface="Lucida Console" panose="020B0609040504020204" pitchFamily="49" charset="0"/>
              </a:rPr>
              <a:t>}</a:t>
            </a:r>
          </a:p>
        </p:txBody>
      </p:sp>
      <p:pic>
        <p:nvPicPr>
          <p:cNvPr id="3" name="Picture 2">
            <a:extLst>
              <a:ext uri="{FF2B5EF4-FFF2-40B4-BE49-F238E27FC236}">
                <a16:creationId xmlns:a16="http://schemas.microsoft.com/office/drawing/2014/main" id="{14559F20-29C1-4D41-8782-E2FA2D1CE77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53200" y="2349957"/>
            <a:ext cx="4983162" cy="3877807"/>
          </a:xfrm>
          <a:prstGeom prst="rect">
            <a:avLst/>
          </a:prstGeom>
        </p:spPr>
      </p:pic>
      <p:pic>
        <p:nvPicPr>
          <p:cNvPr id="6" name="Picture 5">
            <a:extLst>
              <a:ext uri="{FF2B5EF4-FFF2-40B4-BE49-F238E27FC236}">
                <a16:creationId xmlns:a16="http://schemas.microsoft.com/office/drawing/2014/main" id="{EDBF16D4-3FAC-679F-F79A-081AD082E039}"/>
              </a:ext>
            </a:extLst>
          </p:cNvPr>
          <p:cNvPicPr>
            <a:picLocks noChangeAspect="1"/>
          </p:cNvPicPr>
          <p:nvPr/>
        </p:nvPicPr>
        <p:blipFill>
          <a:blip r:embed="rId4"/>
          <a:stretch>
            <a:fillRect/>
          </a:stretch>
        </p:blipFill>
        <p:spPr>
          <a:xfrm>
            <a:off x="10394228" y="285404"/>
            <a:ext cx="1114425" cy="1266825"/>
          </a:xfrm>
          <a:prstGeom prst="rect">
            <a:avLst/>
          </a:prstGeom>
        </p:spPr>
      </p:pic>
    </p:spTree>
    <p:extLst>
      <p:ext uri="{BB962C8B-B14F-4D97-AF65-F5344CB8AC3E}">
        <p14:creationId xmlns:p14="http://schemas.microsoft.com/office/powerpoint/2010/main" val="4294873526"/>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0" tIns="0" rIns="0" bIns="0" anchor="t"/>
          <a:lstStyle/>
          <a:p>
            <a:r>
              <a:rPr lang="en-AU" dirty="0" err="1">
                <a:solidFill>
                  <a:srgbClr val="000000"/>
                </a:solidFill>
                <a:latin typeface="Segoe UI Semibold" panose="020B0702040204020203" pitchFamily="34" charset="0"/>
              </a:rPr>
              <a:t>Enums</a:t>
            </a:r>
            <a:r>
              <a:rPr lang="en-AU" dirty="0">
                <a:solidFill>
                  <a:srgbClr val="000000"/>
                </a:solidFill>
                <a:latin typeface="Segoe UI Semibold" panose="020B0702040204020203" pitchFamily="34" charset="0"/>
              </a:rPr>
              <a:t> (Continued) </a:t>
            </a:r>
          </a:p>
        </p:txBody>
      </p:sp>
      <p:sp>
        <p:nvSpPr>
          <p:cNvPr id="7" name="Rectangle 6">
            <a:extLst>
              <a:ext uri="{FF2B5EF4-FFF2-40B4-BE49-F238E27FC236}">
                <a16:creationId xmlns:a16="http://schemas.microsoft.com/office/drawing/2014/main" id="{2C2651B0-222D-4D41-B1D6-E26D7BBA2E16}"/>
              </a:ext>
            </a:extLst>
          </p:cNvPr>
          <p:cNvSpPr/>
          <p:nvPr/>
        </p:nvSpPr>
        <p:spPr>
          <a:xfrm>
            <a:off x="655638" y="4473436"/>
            <a:ext cx="10880724" cy="1754326"/>
          </a:xfrm>
          <a:prstGeom prst="rect">
            <a:avLst/>
          </a:prstGeom>
          <a:solidFill>
            <a:srgbClr val="012456"/>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E81123"/>
                </a:solidFill>
                <a:effectLst/>
                <a:uLnTx/>
                <a:uFillTx/>
                <a:latin typeface="Lucida Console" panose="020B0609040504020204" pitchFamily="49" charset="0"/>
                <a:ea typeface="+mn-ea"/>
                <a:cs typeface="+mn-cs"/>
              </a:rPr>
              <a:t>Cannot process argument transformation on parameter 'Turtle'. Cannot convert value "Shredder"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E81123"/>
                </a:solidFill>
                <a:effectLst/>
                <a:uLnTx/>
                <a:uFillTx/>
                <a:latin typeface="Lucida Console" panose="020B0609040504020204" pitchFamily="49" charset="0"/>
                <a:ea typeface="+mn-ea"/>
                <a:cs typeface="+mn-cs"/>
              </a:rPr>
              <a:t>to type "Turtle". Error: "Unable to match the identifier name Shredder to a valid enumerator name. Specify one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E81123"/>
                </a:solidFill>
                <a:effectLst/>
                <a:uLnTx/>
                <a:uFillTx/>
                <a:latin typeface="Lucida Console" panose="020B0609040504020204" pitchFamily="49" charset="0"/>
                <a:ea typeface="+mn-ea"/>
                <a:cs typeface="+mn-cs"/>
              </a:rPr>
              <a:t>of the following enumerator names and try again: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sng" strike="noStrike" kern="1200" cap="none" spc="0" normalizeH="0" baseline="0" noProof="0" dirty="0">
                <a:ln>
                  <a:noFill/>
                </a:ln>
                <a:solidFill>
                  <a:srgbClr val="E81123"/>
                </a:solidFill>
                <a:effectLst/>
                <a:uLnTx/>
                <a:uFillTx/>
                <a:latin typeface="Lucida Console" panose="020B0609040504020204" pitchFamily="49" charset="0"/>
                <a:ea typeface="+mn-ea"/>
                <a:cs typeface="+mn-cs"/>
              </a:rPr>
              <a:t>Donatello, Leonardo, Michelangelo, Raphael</a:t>
            </a:r>
            <a:r>
              <a:rPr kumimoji="0" lang="en-US" b="0" i="0" u="none" strike="noStrike" kern="1200" cap="none" spc="0" normalizeH="0" baseline="0" noProof="0" dirty="0">
                <a:ln>
                  <a:noFill/>
                </a:ln>
                <a:solidFill>
                  <a:srgbClr val="E81123"/>
                </a:solidFill>
                <a:effectLst/>
                <a:uLnTx/>
                <a:uFillTx/>
                <a:latin typeface="Lucida Console" panose="020B0609040504020204" pitchFamily="49" charset="0"/>
                <a:ea typeface="+mn-ea"/>
                <a:cs typeface="+mn-cs"/>
              </a:rPr>
              <a:t>" </a:t>
            </a:r>
          </a:p>
        </p:txBody>
      </p:sp>
      <p:sp>
        <p:nvSpPr>
          <p:cNvPr id="8" name="TextBox 7">
            <a:extLst>
              <a:ext uri="{FF2B5EF4-FFF2-40B4-BE49-F238E27FC236}">
                <a16:creationId xmlns:a16="http://schemas.microsoft.com/office/drawing/2014/main" id="{87AE5E19-87BC-4D24-897B-A8556BEF9520}"/>
              </a:ext>
            </a:extLst>
          </p:cNvPr>
          <p:cNvSpPr txBox="1"/>
          <p:nvPr/>
        </p:nvSpPr>
        <p:spPr>
          <a:xfrm>
            <a:off x="6172200" y="1408113"/>
            <a:ext cx="5364163" cy="2564982"/>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noAutofit/>
          </a:bodyPr>
          <a:lstStyle/>
          <a:p>
            <a:r>
              <a:rPr lang="en-US" dirty="0">
                <a:latin typeface="Lucida Console" panose="020B0609040504020204" pitchFamily="49" charset="0"/>
              </a:rPr>
              <a:t> </a:t>
            </a:r>
            <a:r>
              <a:rPr lang="en-US" dirty="0">
                <a:solidFill>
                  <a:srgbClr val="E0FFFF"/>
                </a:solidFill>
                <a:latin typeface="Lucida Console" panose="020B0609040504020204" pitchFamily="49" charset="0"/>
              </a:rPr>
              <a:t>function</a:t>
            </a:r>
            <a:r>
              <a:rPr lang="en-US" dirty="0">
                <a:solidFill>
                  <a:srgbClr val="F5F5F5"/>
                </a:solidFill>
                <a:latin typeface="Lucida Console" panose="020B0609040504020204" pitchFamily="49" charset="0"/>
              </a:rPr>
              <a:t> </a:t>
            </a:r>
            <a:r>
              <a:rPr lang="en-US" dirty="0" err="1">
                <a:solidFill>
                  <a:srgbClr val="EE82EE"/>
                </a:solidFill>
                <a:latin typeface="Lucida Console" panose="020B0609040504020204" pitchFamily="49" charset="0"/>
              </a:rPr>
              <a:t>TurtlesInTest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param</a:t>
            </a:r>
            <a:r>
              <a:rPr lang="en-US" dirty="0">
                <a:solidFill>
                  <a:srgbClr val="F5F5F5"/>
                </a:solidFill>
                <a:latin typeface="Lucida Console" panose="020B0609040504020204" pitchFamily="49" charset="0"/>
              </a:rPr>
              <a:t>(</a:t>
            </a:r>
            <a:r>
              <a:rPr lang="en-US" dirty="0">
                <a:solidFill>
                  <a:srgbClr val="D3D3D3"/>
                </a:solidFill>
                <a:latin typeface="Lucida Console" panose="020B0609040504020204" pitchFamily="49" charset="0"/>
              </a:rPr>
              <a:t>[</a:t>
            </a:r>
            <a:r>
              <a:rPr lang="en-US" dirty="0">
                <a:solidFill>
                  <a:srgbClr val="8FBC8F"/>
                </a:solidFill>
                <a:latin typeface="Lucida Console" panose="020B0609040504020204" pitchFamily="49" charset="0"/>
              </a:rPr>
              <a:t>turtle</a:t>
            </a:r>
            <a:r>
              <a:rPr lang="en-US" dirty="0">
                <a:solidFill>
                  <a:srgbClr val="D3D3D3"/>
                </a:solidFill>
                <a:latin typeface="Lucida Console" panose="020B0609040504020204" pitchFamily="49" charset="0"/>
              </a:rPr>
              <a:t>]</a:t>
            </a:r>
            <a:r>
              <a:rPr lang="en-US" dirty="0">
                <a:solidFill>
                  <a:srgbClr val="FF4500"/>
                </a:solidFill>
                <a:latin typeface="Lucida Console" panose="020B0609040504020204" pitchFamily="49" charset="0"/>
              </a:rPr>
              <a:t>$Turtle</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r>
              <a:rPr lang="en-US" dirty="0">
                <a:solidFill>
                  <a:srgbClr val="E0FFFF"/>
                </a:solidFill>
                <a:latin typeface="Lucida Console" panose="020B0609040504020204" pitchFamily="49" charset="0"/>
              </a:rPr>
              <a:t>Switch</a:t>
            </a:r>
            <a:r>
              <a:rPr lang="en-US" dirty="0">
                <a:solidFill>
                  <a:srgbClr val="F5F5F5"/>
                </a:solidFill>
                <a:latin typeface="Lucida Console" panose="020B0609040504020204" pitchFamily="49" charset="0"/>
              </a:rPr>
              <a:t>(</a:t>
            </a:r>
            <a:r>
              <a:rPr lang="en-US" dirty="0">
                <a:solidFill>
                  <a:srgbClr val="FF4500"/>
                </a:solidFill>
                <a:latin typeface="Lucida Console" panose="020B0609040504020204" pitchFamily="49" charset="0"/>
              </a:rPr>
              <a:t>$Turtle</a:t>
            </a:r>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a:t>
            </a:r>
          </a:p>
          <a:p>
            <a:r>
              <a:rPr lang="en-US" dirty="0">
                <a:solidFill>
                  <a:srgbClr val="EE82EE"/>
                </a:solidFill>
                <a:latin typeface="Lucida Console" panose="020B0609040504020204" pitchFamily="49" charset="0"/>
              </a:rPr>
              <a:t>…</a:t>
            </a:r>
            <a:endParaRPr lang="en-US" dirty="0">
              <a:solidFill>
                <a:srgbClr val="F5F5F5"/>
              </a:solidFill>
              <a:latin typeface="Lucida Console" panose="020B0609040504020204" pitchFamily="49" charset="0"/>
            </a:endParaRPr>
          </a:p>
          <a:p>
            <a:r>
              <a:rPr lang="en-US" dirty="0">
                <a:solidFill>
                  <a:srgbClr val="F5F5F5"/>
                </a:solidFill>
                <a:latin typeface="Lucida Console" panose="020B0609040504020204" pitchFamily="49" charset="0"/>
              </a:rPr>
              <a:t>    }</a:t>
            </a:r>
          </a:p>
          <a:p>
            <a:r>
              <a:rPr lang="en-US" dirty="0">
                <a:solidFill>
                  <a:srgbClr val="F5F5F5"/>
                </a:solidFill>
                <a:latin typeface="Lucida Console" panose="020B0609040504020204" pitchFamily="49" charset="0"/>
              </a:rPr>
              <a:t>}  </a:t>
            </a:r>
          </a:p>
        </p:txBody>
      </p:sp>
      <p:sp>
        <p:nvSpPr>
          <p:cNvPr id="9" name="Rectangle 8">
            <a:extLst>
              <a:ext uri="{FF2B5EF4-FFF2-40B4-BE49-F238E27FC236}">
                <a16:creationId xmlns:a16="http://schemas.microsoft.com/office/drawing/2014/main" id="{62B0A666-81CB-4E23-BF46-C12A816DAFE9}"/>
              </a:ext>
            </a:extLst>
          </p:cNvPr>
          <p:cNvSpPr/>
          <p:nvPr/>
        </p:nvSpPr>
        <p:spPr>
          <a:xfrm>
            <a:off x="655638" y="4038600"/>
            <a:ext cx="10880723" cy="369332"/>
          </a:xfrm>
          <a:prstGeom prst="rect">
            <a:avLst/>
          </a:prstGeom>
          <a:solidFill>
            <a:srgbClr val="012456"/>
          </a:solidFill>
        </p:spPr>
        <p:txBody>
          <a:bodyPr wrap="square">
            <a:spAutoFit/>
          </a:bodyPr>
          <a:lstStyle/>
          <a:p>
            <a:r>
              <a:rPr lang="en-US" dirty="0" err="1">
                <a:solidFill>
                  <a:srgbClr val="E0FFFF"/>
                </a:solidFill>
                <a:latin typeface="Lucida Console" panose="020B0609040504020204" pitchFamily="49" charset="0"/>
              </a:rPr>
              <a:t>TurtlesInTest</a:t>
            </a:r>
            <a:r>
              <a:rPr lang="en-US" dirty="0">
                <a:solidFill>
                  <a:srgbClr val="F5F5F5"/>
                </a:solidFill>
                <a:latin typeface="Lucida Console" panose="020B0609040504020204" pitchFamily="49" charset="0"/>
              </a:rPr>
              <a:t> </a:t>
            </a:r>
            <a:r>
              <a:rPr lang="en-US" dirty="0">
                <a:solidFill>
                  <a:srgbClr val="FFE4B5"/>
                </a:solidFill>
                <a:latin typeface="Lucida Console" panose="020B0609040504020204" pitchFamily="49" charset="0"/>
              </a:rPr>
              <a:t>-Turtle</a:t>
            </a:r>
            <a:r>
              <a:rPr lang="en-US" dirty="0">
                <a:solidFill>
                  <a:srgbClr val="F5F5F5"/>
                </a:solidFill>
                <a:latin typeface="Lucida Console" panose="020B0609040504020204" pitchFamily="49" charset="0"/>
              </a:rPr>
              <a:t> </a:t>
            </a:r>
            <a:r>
              <a:rPr lang="en-US" dirty="0">
                <a:solidFill>
                  <a:srgbClr val="DB7093"/>
                </a:solidFill>
                <a:latin typeface="Lucida Console" panose="020B0609040504020204" pitchFamily="49" charset="0"/>
              </a:rPr>
              <a:t>'Shredder' </a:t>
            </a:r>
          </a:p>
        </p:txBody>
      </p:sp>
      <p:sp>
        <p:nvSpPr>
          <p:cNvPr id="10" name="TextBox 9">
            <a:extLst>
              <a:ext uri="{FF2B5EF4-FFF2-40B4-BE49-F238E27FC236}">
                <a16:creationId xmlns:a16="http://schemas.microsoft.com/office/drawing/2014/main" id="{9DE3DCDB-F05E-4025-AE9C-B14F4257EF69}"/>
              </a:ext>
            </a:extLst>
          </p:cNvPr>
          <p:cNvSpPr txBox="1"/>
          <p:nvPr/>
        </p:nvSpPr>
        <p:spPr>
          <a:xfrm>
            <a:off x="655638" y="1408113"/>
            <a:ext cx="5364162" cy="2564983"/>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noAutofit/>
          </a:bodyPr>
          <a:lstStyle/>
          <a:p>
            <a:r>
              <a:rPr lang="en-US" dirty="0" err="1">
                <a:solidFill>
                  <a:srgbClr val="8FBC8F"/>
                </a:solidFill>
                <a:latin typeface="Lucida Console" panose="020B0609040504020204" pitchFamily="49" charset="0"/>
              </a:rPr>
              <a:t>Enum</a:t>
            </a:r>
            <a:r>
              <a:rPr lang="en-US" dirty="0">
                <a:solidFill>
                  <a:srgbClr val="F5F5F5"/>
                </a:solidFill>
                <a:latin typeface="Lucida Console" panose="020B0609040504020204" pitchFamily="49" charset="0"/>
              </a:rPr>
              <a:t> Turtle</a:t>
            </a:r>
          </a:p>
          <a:p>
            <a:r>
              <a:rPr lang="en-US" dirty="0">
                <a:solidFill>
                  <a:srgbClr val="F5F5F5"/>
                </a:solidFill>
                <a:latin typeface="Lucida Console" panose="020B0609040504020204" pitchFamily="49" charset="0"/>
              </a:rPr>
              <a:t>{</a:t>
            </a:r>
          </a:p>
          <a:p>
            <a:r>
              <a:rPr lang="en-US" dirty="0">
                <a:solidFill>
                  <a:srgbClr val="F5F5F5"/>
                </a:solidFill>
                <a:latin typeface="Lucida Console" panose="020B0609040504020204" pitchFamily="49" charset="0"/>
              </a:rPr>
              <a:t>    Donatello</a:t>
            </a:r>
          </a:p>
          <a:p>
            <a:r>
              <a:rPr lang="en-US" dirty="0">
                <a:solidFill>
                  <a:srgbClr val="F5F5F5"/>
                </a:solidFill>
                <a:latin typeface="Lucida Console" panose="020B0609040504020204" pitchFamily="49" charset="0"/>
              </a:rPr>
              <a:t>    Leonardo</a:t>
            </a:r>
          </a:p>
          <a:p>
            <a:r>
              <a:rPr lang="en-US" dirty="0">
                <a:solidFill>
                  <a:srgbClr val="F5F5F5"/>
                </a:solidFill>
                <a:latin typeface="Lucida Console" panose="020B0609040504020204" pitchFamily="49" charset="0"/>
              </a:rPr>
              <a:t>    Michelangelo</a:t>
            </a:r>
          </a:p>
          <a:p>
            <a:r>
              <a:rPr lang="en-US" dirty="0">
                <a:solidFill>
                  <a:srgbClr val="F5F5F5"/>
                </a:solidFill>
                <a:latin typeface="Lucida Console" panose="020B0609040504020204" pitchFamily="49" charset="0"/>
              </a:rPr>
              <a:t>    Raphael</a:t>
            </a:r>
          </a:p>
          <a:p>
            <a:r>
              <a:rPr lang="en-US" dirty="0">
                <a:solidFill>
                  <a:srgbClr val="F5F5F5"/>
                </a:solidFill>
                <a:latin typeface="Lucida Console" panose="020B0609040504020204" pitchFamily="49" charset="0"/>
              </a:rPr>
              <a:t>}</a:t>
            </a:r>
          </a:p>
        </p:txBody>
      </p:sp>
    </p:spTree>
    <p:extLst>
      <p:ext uri="{BB962C8B-B14F-4D97-AF65-F5344CB8AC3E}">
        <p14:creationId xmlns:p14="http://schemas.microsoft.com/office/powerpoint/2010/main" val="275927824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Load into Scripts</a:t>
            </a:r>
            <a:endParaRPr lang="en-AU" dirty="0"/>
          </a:p>
        </p:txBody>
      </p:sp>
      <p:sp>
        <p:nvSpPr>
          <p:cNvPr id="5" name="Content Placeholder 4">
            <a:extLst>
              <a:ext uri="{FF2B5EF4-FFF2-40B4-BE49-F238E27FC236}">
                <a16:creationId xmlns:a16="http://schemas.microsoft.com/office/drawing/2014/main" id="{2E60CEFD-950D-4B06-BDF9-68394971D037}"/>
              </a:ext>
            </a:extLst>
          </p:cNvPr>
          <p:cNvSpPr>
            <a:spLocks noGrp="1"/>
          </p:cNvSpPr>
          <p:nvPr>
            <p:ph sz="quarter" idx="13"/>
          </p:nvPr>
        </p:nvSpPr>
        <p:spPr/>
        <p:txBody>
          <a:bodyPr/>
          <a:lstStyle/>
          <a:p>
            <a:endParaRPr lang="en-US" dirty="0"/>
          </a:p>
          <a:p>
            <a:r>
              <a:rPr lang="en-US" dirty="0"/>
              <a:t>To reuse custom class, can keep it in its own file and “Dot-Source” it from scripts</a:t>
            </a:r>
          </a:p>
        </p:txBody>
      </p:sp>
      <p:sp>
        <p:nvSpPr>
          <p:cNvPr id="18" name="TextBox 17">
            <a:extLst>
              <a:ext uri="{FF2B5EF4-FFF2-40B4-BE49-F238E27FC236}">
                <a16:creationId xmlns:a16="http://schemas.microsoft.com/office/drawing/2014/main" id="{5173B1B8-9398-463A-A853-6D4D5B2563BA}"/>
              </a:ext>
            </a:extLst>
          </p:cNvPr>
          <p:cNvSpPr txBox="1"/>
          <p:nvPr/>
        </p:nvSpPr>
        <p:spPr>
          <a:xfrm>
            <a:off x="655636" y="3356272"/>
            <a:ext cx="10880727" cy="1015663"/>
          </a:xfrm>
          <a:prstGeom prst="rect">
            <a:avLst/>
          </a:prstGeom>
          <a:solidFill>
            <a:srgbClr val="012456"/>
          </a:solidFill>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a:t>
            </a:r>
            <a:r>
              <a:rPr lang="en-US" sz="2000" dirty="0" err="1">
                <a:solidFill>
                  <a:srgbClr val="FF4500"/>
                </a:solidFill>
                <a:latin typeface="Lucida Console" panose="020B0609040504020204" pitchFamily="49" charset="0"/>
              </a:rPr>
              <a:t>PSScriptRoot</a:t>
            </a:r>
            <a:r>
              <a:rPr lang="en-US" sz="2000" dirty="0">
                <a:solidFill>
                  <a:srgbClr val="E0FFFF"/>
                </a:solidFill>
                <a:latin typeface="Lucida Console" panose="020B0609040504020204" pitchFamily="49" charset="0"/>
              </a:rPr>
              <a:t>\Myperson.PS1</a:t>
            </a:r>
            <a:endParaRPr lang="en-US" sz="2000" dirty="0">
              <a:solidFill>
                <a:srgbClr val="F5F5F5"/>
              </a:solidFill>
              <a:latin typeface="Lucida Console" panose="020B0609040504020204" pitchFamily="49" charset="0"/>
            </a:endParaRPr>
          </a:p>
          <a:p>
            <a:endParaRPr lang="en-US" sz="2000" dirty="0">
              <a:solidFill>
                <a:srgbClr val="F5F5F5"/>
              </a:solidFill>
              <a:latin typeface="Lucida Console" panose="020B0609040504020204" pitchFamily="49" charset="0"/>
            </a:endParaRPr>
          </a:p>
          <a:p>
            <a:r>
              <a:rPr lang="en-US" sz="2000" dirty="0">
                <a:solidFill>
                  <a:srgbClr val="FF4500"/>
                </a:solidFill>
                <a:latin typeface="Lucida Console" panose="020B0609040504020204" pitchFamily="49" charset="0"/>
              </a:rPr>
              <a:t>$person</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 </a:t>
            </a:r>
            <a:r>
              <a:rPr lang="en-US" sz="2000" dirty="0">
                <a:solidFill>
                  <a:srgbClr val="D3D3D3"/>
                </a:solidFill>
                <a:latin typeface="Lucida Console" panose="020B0609040504020204" pitchFamily="49" charset="0"/>
              </a:rPr>
              <a:t>[</a:t>
            </a:r>
            <a:r>
              <a:rPr lang="en-US" sz="2000" dirty="0">
                <a:solidFill>
                  <a:srgbClr val="8FBC8F"/>
                </a:solidFill>
                <a:latin typeface="Lucida Console" panose="020B0609040504020204" pitchFamily="49" charset="0"/>
              </a:rPr>
              <a:t>person</a:t>
            </a:r>
            <a:r>
              <a:rPr lang="en-US" sz="2000" dirty="0">
                <a:solidFill>
                  <a:srgbClr val="D3D3D3"/>
                </a:solidFill>
                <a:latin typeface="Lucida Console" panose="020B0609040504020204" pitchFamily="49" charset="0"/>
              </a:rPr>
              <a:t>]::</a:t>
            </a:r>
            <a:r>
              <a:rPr lang="en-US" sz="2000" dirty="0">
                <a:solidFill>
                  <a:srgbClr val="F5F5F5"/>
                </a:solidFill>
                <a:latin typeface="Lucida Console" panose="020B0609040504020204" pitchFamily="49" charset="0"/>
              </a:rPr>
              <a:t>new(</a:t>
            </a:r>
            <a:r>
              <a:rPr lang="en-US" sz="2000" dirty="0">
                <a:solidFill>
                  <a:srgbClr val="DB7093"/>
                </a:solidFill>
                <a:latin typeface="Lucida Console" panose="020B0609040504020204" pitchFamily="49" charset="0"/>
              </a:rPr>
              <a:t>"Kory"</a:t>
            </a:r>
            <a:r>
              <a:rPr lang="en-US" sz="2000" dirty="0">
                <a:solidFill>
                  <a:srgbClr val="D3D3D3"/>
                </a:solidFill>
                <a:latin typeface="Lucida Console" panose="020B0609040504020204" pitchFamily="49" charset="0"/>
              </a:rPr>
              <a:t>,</a:t>
            </a:r>
            <a:r>
              <a:rPr lang="en-US" sz="2000" dirty="0">
                <a:solidFill>
                  <a:srgbClr val="FFE4C4"/>
                </a:solidFill>
                <a:latin typeface="Lucida Console" panose="020B0609040504020204" pitchFamily="49" charset="0"/>
              </a:rPr>
              <a:t>29</a:t>
            </a:r>
            <a:r>
              <a:rPr lang="en-US" sz="2000" dirty="0">
                <a:solidFill>
                  <a:srgbClr val="F5F5F5"/>
                </a:solidFill>
                <a:latin typeface="Lucida Console" panose="020B0609040504020204" pitchFamily="49" charset="0"/>
              </a:rPr>
              <a:t>)  </a:t>
            </a:r>
          </a:p>
        </p:txBody>
      </p:sp>
      <p:pic>
        <p:nvPicPr>
          <p:cNvPr id="4" name="Picture 3">
            <a:extLst>
              <a:ext uri="{FF2B5EF4-FFF2-40B4-BE49-F238E27FC236}">
                <a16:creationId xmlns:a16="http://schemas.microsoft.com/office/drawing/2014/main" id="{B6C464DF-4455-F5D2-8F6C-DC5D0CE6686E}"/>
              </a:ext>
            </a:extLst>
          </p:cNvPr>
          <p:cNvPicPr>
            <a:picLocks noChangeAspect="1"/>
          </p:cNvPicPr>
          <p:nvPr/>
        </p:nvPicPr>
        <p:blipFill>
          <a:blip r:embed="rId3"/>
          <a:stretch>
            <a:fillRect/>
          </a:stretch>
        </p:blipFill>
        <p:spPr>
          <a:xfrm>
            <a:off x="10421937" y="320040"/>
            <a:ext cx="1114425" cy="1266825"/>
          </a:xfrm>
          <a:prstGeom prst="rect">
            <a:avLst/>
          </a:prstGeom>
        </p:spPr>
      </p:pic>
    </p:spTree>
    <p:extLst>
      <p:ext uri="{BB962C8B-B14F-4D97-AF65-F5344CB8AC3E}">
        <p14:creationId xmlns:p14="http://schemas.microsoft.com/office/powerpoint/2010/main" val="2316577594"/>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p:txBody>
          <a:bodyPr/>
          <a:lstStyle/>
          <a:p>
            <a:r>
              <a:rPr lang="en-US" dirty="0"/>
              <a:t>PowerShell Classes</a:t>
            </a:r>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p:txBody>
          <a:bodyPr/>
          <a:lstStyle/>
          <a:p>
            <a:endParaRPr lang="en-US" dirty="0"/>
          </a:p>
        </p:txBody>
      </p:sp>
      <p:sp>
        <p:nvSpPr>
          <p:cNvPr id="4" name="Picture Placeholder 3">
            <a:extLst>
              <a:ext uri="{FF2B5EF4-FFF2-40B4-BE49-F238E27FC236}">
                <a16:creationId xmlns:a16="http://schemas.microsoft.com/office/drawing/2014/main" id="{688E0F76-248A-45EA-81A0-6E6C546B8835}"/>
              </a:ext>
              <a:ext uri="{C183D7F6-B498-43B3-948B-1728B52AA6E4}">
                <adec:decorative xmlns:adec="http://schemas.microsoft.com/office/drawing/2017/decorative" val="1"/>
              </a:ext>
            </a:extLst>
          </p:cNvPr>
          <p:cNvSpPr>
            <a:spLocks noGrp="1"/>
          </p:cNvSpPr>
          <p:nvPr>
            <p:ph type="pic" sz="quarter" idx="15"/>
          </p:nvPr>
        </p:nvSpPr>
        <p:spPr/>
        <p:txBody>
          <a:bodyPr/>
          <a:lstStyle/>
          <a:p>
            <a:endParaRPr lang="en-IL"/>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2521531175"/>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name="HIDDEN - Slid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B5B00-DC84-4AB5-82AF-5C975E540C0B}"/>
              </a:ext>
            </a:extLst>
          </p:cNvPr>
          <p:cNvSpPr>
            <a:spLocks noGrp="1"/>
          </p:cNvSpPr>
          <p:nvPr>
            <p:ph type="title" idx="4294967295"/>
          </p:nvPr>
        </p:nvSpPr>
        <p:spPr>
          <a:xfrm>
            <a:off x="536575" y="288925"/>
            <a:ext cx="11655425" cy="900113"/>
          </a:xfrm>
        </p:spPr>
        <p:txBody>
          <a:bodyPr/>
          <a:lstStyle/>
          <a:p>
            <a:r>
              <a:rPr lang="en-US" dirty="0">
                <a:noFill/>
              </a:rPr>
              <a:t>Microsoft</a:t>
            </a:r>
          </a:p>
        </p:txBody>
      </p:sp>
    </p:spTree>
    <p:extLst>
      <p:ext uri="{BB962C8B-B14F-4D97-AF65-F5344CB8AC3E}">
        <p14:creationId xmlns:p14="http://schemas.microsoft.com/office/powerpoint/2010/main" val="263094943"/>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7.02.2020 19:31:39"/>
  <p:tag name="MIO_OBJECTNAME" val="Light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60a15c4d-6c73-4fd5-9d04-768e92fa2484"/>
  <p:tag name="MIO_UPDATE" val="True"/>
  <p:tag name="MIO_VERSION" val="29.10.2019 20:50:59"/>
  <p:tag name="MIO_DBID" val="12B0C59E-2253-4124-A5E9-470ADF4CB168"/>
  <p:tag name="MIO_LASTDOWNLOADED" val="09.12.2019 18:34:31"/>
  <p:tag name="MIO_OBJECTNAME" val="Objectives"/>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EKGUID" val="23f54910-c258-4bbf-8f80-3a067a627ed1"/>
  <p:tag name="MIO_GUID" val="72fd98cd-4885-46c5-9895-22cd95aa8a11"/>
  <p:tag name="MIO_UPDATE" val="True"/>
  <p:tag name="MIO_DBID" val="12B0C59E-2253-4124-A5E9-470ADF4CB168"/>
  <p:tag name="MIO_LASTDOWNLOADED" val="18.09.2019 16:58:35"/>
  <p:tag name="MIO_OBJECTNAME" val="Business (13)"/>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1:57:30"/>
  <p:tag name="MIO_DBID" val="12B0C59E-2253-4124-A5E9-470ADF4CB168"/>
  <p:tag name="MIO_LASTDOWNLOADED" val="14.01.2020 14:30:09"/>
  <p:tag name="MIO_OBJECTNAME" val="Code Box"/>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1:57:30"/>
  <p:tag name="MIO_DBID" val="12B0C59E-2253-4124-A5E9-470ADF4CB168"/>
  <p:tag name="MIO_LASTDOWNLOADED" val="14.01.2020 14:31:07"/>
  <p:tag name="MIO_OBJECTNAME" val="Code Box"/>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b5b0ab38-3bed-4fed-9536-dd90dc8a0576"/>
  <p:tag name="MIO_UPDATE" val="True"/>
  <p:tag name="MIO_VERSION" val="25.09.2019 21:57:26"/>
  <p:tag name="MIO_DBID" val="12B0C59E-2253-4124-A5E9-470ADF4CB168"/>
  <p:tag name="MIO_LASTDOWNLOADED" val="09.12.2019 18:50:22"/>
  <p:tag name="MIO_OBJECTNAME" val="Lab"/>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item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944fd981-3167-462e-9bbb-e193bf7f30d0" variableListUniqueId="d6c5d8a6-45b5-4a0e-b0e7-cf1e0e53bdd5"/>
  </pd:DataReferenceList>
  <pd:VariableReplacementDescriptor name="" desc="" uid="">
    <pd:DataReferenceList>
      <pd:DataReference datasourceID="feebff45-792f-402d-b0b2-aef9b0ece030" dataFieldID="944fd981-3167-462e-9bbb-e193bf7f30d0"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 xsi:nil="true"/>
      <Description xsi:nil="true"/>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 xsi:nil="true"/>
  </documentManagement>
</p:properties>
</file>

<file path=customXml/item9.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15CFF206-CD3B-4578-9840-0FBEA3AA8A33}">
  <ds:schemaRefs>
    <ds:schemaRef ds:uri="Strauss.PersonalizationDefinition"/>
  </ds:schemaRefs>
</ds:datastoreItem>
</file>

<file path=customXml/itemProps2.xml><?xml version="1.0" encoding="utf-8"?>
<ds:datastoreItem xmlns:ds="http://schemas.openxmlformats.org/officeDocument/2006/customXml" ds:itemID="{D90DEB8C-C00E-4B1C-B45B-737A9292CE09}">
  <ds:schemaRefs>
    <ds:schemaRef ds:uri="Strauss.PersonalizationDefinition"/>
  </ds:schemaRefs>
</ds:datastoreItem>
</file>

<file path=customXml/itemProps3.xml><?xml version="1.0" encoding="utf-8"?>
<ds:datastoreItem xmlns:ds="http://schemas.openxmlformats.org/officeDocument/2006/customXml" ds:itemID="{DAF5AE9C-B8B2-4E01-A7C1-B46DBAD8C266}">
  <ds:schemaRefs>
    <ds:schemaRef ds:uri="Strauss.PersonalizationDefinition"/>
  </ds:schemaRefs>
</ds:datastoreItem>
</file>

<file path=customXml/itemProps4.xml><?xml version="1.0" encoding="utf-8"?>
<ds:datastoreItem xmlns:ds="http://schemas.openxmlformats.org/officeDocument/2006/customXml" ds:itemID="{391512A6-D362-468E-8DDC-EFB4EB469F7C}">
  <ds:schemaRefs>
    <ds:schemaRef ds:uri="http://schemas.microsoft.com/sharepoint/v3/contenttype/forms"/>
  </ds:schemaRefs>
</ds:datastoreItem>
</file>

<file path=customXml/itemProps5.xml><?xml version="1.0" encoding="utf-8"?>
<ds:datastoreItem xmlns:ds="http://schemas.openxmlformats.org/officeDocument/2006/customXml" ds:itemID="{83E03CBB-AEFA-4C14-BA46-67B7624404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6.xml><?xml version="1.0" encoding="utf-8"?>
<ds:datastoreItem xmlns:ds="http://schemas.openxmlformats.org/officeDocument/2006/customXml" ds:itemID="{882866F1-D0BF-4111-BE3C-A17A9672851E}">
  <ds:schemaRefs>
    <ds:schemaRef ds:uri="Strauss.PersonalizationDefinition"/>
  </ds:schemaRefs>
</ds:datastoreItem>
</file>

<file path=customXml/itemProps7.xml><?xml version="1.0" encoding="utf-8"?>
<ds:datastoreItem xmlns:ds="http://schemas.openxmlformats.org/officeDocument/2006/customXml" ds:itemID="{CD086AF5-CCD3-41C8-B98A-2B159789D38E}">
  <ds:schemaRefs>
    <ds:schemaRef ds:uri="Strauss.PersonalizationDefinition"/>
  </ds:schemaRefs>
</ds:datastoreItem>
</file>

<file path=customXml/itemProps8.xml><?xml version="1.0" encoding="utf-8"?>
<ds:datastoreItem xmlns:ds="http://schemas.openxmlformats.org/officeDocument/2006/customXml" ds:itemID="{E5E40EFC-3CC6-4F79-8FC9-C8BE072E52BF}">
  <ds:schemaRefs>
    <ds:schemaRef ds:uri="http://schemas.microsoft.com/office/2006/metadata/properties"/>
    <ds:schemaRef ds:uri="http://schemas.microsoft.com/office/infopath/2007/PartnerControls"/>
    <ds:schemaRef ds:uri="http://schemas.microsoft.com/sharepoint/v3"/>
    <ds:schemaRef ds:uri="cea7764e-6bf9-427d-be15-e74097e0a61c"/>
  </ds:schemaRefs>
</ds:datastoreItem>
</file>

<file path=customXml/itemProps9.xml><?xml version="1.0" encoding="utf-8"?>
<ds:datastoreItem xmlns:ds="http://schemas.openxmlformats.org/officeDocument/2006/customXml" ds:itemID="{EBCC33FC-94BB-4B1D-A4C6-D2E6A3A4B1FD}">
  <ds:schemaRefs>
    <ds:schemaRef ds:uri="Strauss.PersonalizationDefinition"/>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1616</TotalTime>
  <Words>2134</Words>
  <Application>Microsoft Office PowerPoint</Application>
  <PresentationFormat>Widescreen</PresentationFormat>
  <Paragraphs>493</Paragraphs>
  <Slides>32</Slides>
  <Notes>31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Calibri</vt:lpstr>
      <vt:lpstr>Comic Sans MS</vt:lpstr>
      <vt:lpstr>Consolas</vt:lpstr>
      <vt:lpstr>Lucida Console</vt:lpstr>
      <vt:lpstr>Segoe UI</vt:lpstr>
      <vt:lpstr>Segoe UI Light</vt:lpstr>
      <vt:lpstr>Segoe UI Semibold</vt:lpstr>
      <vt:lpstr>Wingdings</vt:lpstr>
      <vt:lpstr>Light Grey</vt:lpstr>
      <vt:lpstr>Classes</vt:lpstr>
      <vt:lpstr>Objectives</vt:lpstr>
      <vt:lpstr>Classes Overview</vt:lpstr>
      <vt:lpstr>Simplification and Standardization </vt:lpstr>
      <vt:lpstr>Simplification and Standardization (Continued) </vt:lpstr>
      <vt:lpstr>Class Basics</vt:lpstr>
      <vt:lpstr>Class Syntax</vt:lpstr>
      <vt:lpstr>Class Syntax cont.</vt:lpstr>
      <vt:lpstr>Class Syntax cont. (Continued)</vt:lpstr>
      <vt:lpstr>Creating an Instance of your Class</vt:lpstr>
      <vt:lpstr>Doing More With Methods</vt:lpstr>
      <vt:lpstr>Class and their methods</vt:lpstr>
      <vt:lpstr>Methods with Parameters</vt:lpstr>
      <vt:lpstr>Overloading a Method</vt:lpstr>
      <vt:lpstr>$This</vt:lpstr>
      <vt:lpstr>$This – example with Methods</vt:lpstr>
      <vt:lpstr>$This – example with Methods cont.</vt:lpstr>
      <vt:lpstr>$This - Example  with Properties</vt:lpstr>
      <vt:lpstr>Advanced Object Features</vt:lpstr>
      <vt:lpstr>Classes – Advanced features </vt:lpstr>
      <vt:lpstr>Basic Constructors</vt:lpstr>
      <vt:lpstr>Constructor Overloads</vt:lpstr>
      <vt:lpstr>Static members</vt:lpstr>
      <vt:lpstr>Hidden Members </vt:lpstr>
      <vt:lpstr>Hidden Members (Continued) </vt:lpstr>
      <vt:lpstr>Inheritance </vt:lpstr>
      <vt:lpstr>Inheritance - Example</vt:lpstr>
      <vt:lpstr>Enums </vt:lpstr>
      <vt:lpstr>Enums (Continued) </vt:lpstr>
      <vt:lpstr>Load into Scripts</vt:lpstr>
      <vt:lpstr>PowerShell Classes</vt:lpstr>
      <vt:lpstr>Microsoft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creator>Advanced Services Delivery</dc:creator>
  <cp:keywords>2002</cp:keywords>
  <cp:lastModifiedBy>Gadi Lev-Ari</cp:lastModifiedBy>
  <cp:revision>21</cp:revision>
  <dcterms:created xsi:type="dcterms:W3CDTF">2019-12-16T15:53:12Z</dcterms:created>
  <dcterms:modified xsi:type="dcterms:W3CDTF">2025-07-05T15:01:41Z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
  </property>
  <property fmtid="{D5CDD505-2E9C-101B-9397-08002B2CF9AE}" pid="5" name="MSIP_Label_f42aa342-8706-4288-bd11-ebb85995028c_SetDate">
    <vt:lpwstr>2019-12-16T15:53:55.0302740Z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a1fdc773-7bd3-4fa9-8526-68a0786e65aa</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ContentTypeId">
    <vt:lpwstr>0x01010039A62E282DDA434E979CD3E03185182E</vt:lpwstr>
  </property>
</Properties>
</file>